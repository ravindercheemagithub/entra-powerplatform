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2.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bf208f43-2fbb-74d0-99b1-5341702706d6}">
          <p14:sldIdLst>
            <p14:sldId id="256"/>
            <p14:sldId id="257"/>
          </p14:sldIdLst>
        </p14:section>
        <p14:section name="Why" id="{3e937e37-b116-b439-2319-db140fc86224}">
          <p14:sldIdLst>
            <p14:sldId id="258"/>
          </p14:sldIdLst>
        </p14:section>
        <p14:section name="How" id="{e233a9ca-f577-0f08-a8a9-22794c23080f}">
          <p14:sldIdLst>
            <p14:sldId id="259"/>
            <p14:sldId id="260"/>
            <p14:sldId id="261"/>
            <p14:sldId id="262"/>
          </p14:sldIdLst>
        </p14:section>
        <p14:section name="What" id="{bc038689-0500-f8bd-4c0a-fc72dcb909f5}">
          <p14:sldIdLst>
            <p14:sldId id="263"/>
            <p14:sldId id="264"/>
            <p14:sldId id="265"/>
            <p14:sldId id="266"/>
          </p14:sldIdLst>
        </p14:section>
        <p14:section name="Benefits" id="{fc7ab084-409c-0515-08c7-38d96e905833}">
          <p14:sldIdLst>
            <p14:sldId id="267"/>
            <p14:sldId id="268"/>
            <p14:sldId id="269"/>
          </p14:sldIdLst>
        </p14:section>
        <p14:section name="Next" id="{193eeb44-9d2c-2f2b-c7db-ccab0c9b6fd7}">
          <p14:sldIdLst>
            <p14:sldId id="270"/>
            <p14:sldId id="271"/>
          </p14:sldIdLst>
        </p14:section>
        <p14:section name="Together" id="{5d038cf9-26cb-d038-9345-1c3d3589ee87}">
          <p14:sldIdLst>
            <p14:sldId id="272"/>
            <p14:sldId id="273"/>
            <p14:sldId id="274"/>
          </p14:sldIdLst>
        </p14:section>
        <p14:section name="Appendix" id="{26fb47a4-0aa3-0014-b951-130729e940b1}">
          <p14:sldIdLst>
            <p14:sldId id="275"/>
            <p14:sldId id="276"/>
            <p14:sldId id="277"/>
            <p14:sldId id="278"/>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03A70"/>
                </a:solidFill>
                <a:latin typeface="+mn-lt"/>
              </a:defRPr>
            </a:pPr>
            <a:r>
              <a:rPr sz="1400" b="0" i="0" u="none" strike="noStrike">
                <a:solidFill>
                  <a:srgbClr val="003A70"/>
                </a:solidFill>
                <a:latin typeface="+mn-lt"/>
              </a:rPr>
              <a:t>Entra ID team effort saved per year (person-days)</a:t>
            </a:r>
          </a:p>
        </c:rich>
      </c:tx>
      <c:layout/>
      <c:overlay val="0"/>
    </c:title>
    <c:autoTitleDeleted val="0"/>
    <c:plotArea>
      <c:layout/>
      <c:barChart>
        <c:barDir val="col"/>
        <c:grouping val="clustered"/>
        <c:varyColors val="0"/>
        <c:ser>
          <c:idx val="0"/>
          <c:order val="0"/>
          <c:tx>
            <c:strRef>
              <c:f>Sheet1!$B$1</c:f>
              <c:strCache>
                <c:ptCount val="1"/>
                <c:pt idx="0">
                  <c:v>Person-days saved</c:v>
                </c:pt>
              </c:strCache>
            </c:strRef>
          </c:tx>
          <c:spPr>
            <a:solidFill>
              <a:srgbClr val="0079C1"/>
            </a:solidFill>
            <a:effectLst/>
          </c:spPr>
          <c:invertIfNegative val="0"/>
          <c:dLbls>
            <c:numFmt formatCode="#,##0" sourceLinked="0"/>
            <c:txPr>
              <a:bodyPr/>
              <a:lstStyle/>
              <a:p>
                <a:pPr>
                  <a:defRPr b="0" i="0" strike="noStrike" sz="1400" u="none">
                    <a:solidFill>
                      <a:srgbClr val="003A70"/>
                    </a:solidFill>
                    <a:latin typeface="+mn-lt"/>
                  </a:defRPr>
                </a:pPr>
              </a:p>
            </c:txPr>
            <c:showLegendKey val="0"/>
            <c:showVal val="1"/>
            <c:showCatName val="0"/>
            <c:showSerName val="0"/>
            <c:showPercent val="0"/>
            <c:showBubbleSize val="0"/>
            <c:showLeaderLines val="0"/>
          </c:dLbls>
          <c:cat>
            <c:multiLvlStrRef>
              <c:f>Sheet1!$A$2:$A$4</c:f>
              <c:multiLvlStrCache>
                <c:ptCount val="3"/>
                <c:lvl>
                  <c:pt idx="0">
                    <c:v>50 apps / year</c:v>
                  </c:pt>
                  <c:pt idx="1">
                    <c:v>100 apps / year</c:v>
                  </c:pt>
                  <c:pt idx="2">
                    <c:v>200 apps / year</c:v>
                  </c:pt>
                </c:lvl>
              </c:multiLvlStrCache>
            </c:multiLvlStrRef>
          </c:cat>
          <c:val>
            <c:numRef>
              <c:f>Sheet1!$B$2:$B$4</c:f>
              <c:numCache>
                <c:formatCode>General</c:formatCode>
                <c:ptCount val="3"/>
                <c:pt idx="0">
                  <c:v>49</c:v>
                </c:pt>
                <c:pt idx="1">
                  <c:v>99</c:v>
                </c:pt>
                <c:pt idx="2">
                  <c:v>198</c:v>
                </c:pt>
              </c:numCache>
            </c:numRef>
          </c:val>
        </c:ser>
        <c:dLbls>
          <c:numFmt formatCode="#,##0" sourceLinked="0"/>
          <c:txPr>
            <a:bodyPr/>
            <a:lstStyle/>
            <a:p>
              <a:pPr>
                <a:defRPr b="0" i="0" strike="noStrike" sz="1400" u="none">
                  <a:solidFill>
                    <a:srgbClr val="003A70"/>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770"/>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Credit</c:v>
                </c:pt>
              </c:strCache>
            </c:strRef>
          </c:tx>
          <c:spPr>
            <a:solidFill>
              <a:schemeClr val="accent1"/>
            </a:solidFill>
            <a:ln w="9525" cap="flat">
              <a:solidFill>
                <a:srgbClr val="F9F9F9"/>
              </a:solidFill>
              <a:prstDash val="solid"/>
              <a:round/>
            </a:ln>
            <a:effectLst/>
          </c:spPr>
          <c:dPt>
            <c:idx val="0"/>
            <c:bubble3D val="0"/>
            <c:spPr>
              <a:solidFill>
                <a:srgbClr val="0079C1"/>
              </a:solidFill>
              <a:ln w="25400" cap="flat">
                <a:solidFill>
                  <a:srgbClr val="FFFFFF"/>
                </a:solidFill>
                <a:prstDash val="solid"/>
                <a:round/>
              </a:ln>
              <a:effectLst/>
            </c:spPr>
          </c:dPt>
          <c:dPt>
            <c:idx val="1"/>
            <c:bubble3D val="0"/>
            <c:spPr>
              <a:solidFill>
                <a:srgbClr val="D5E3EF"/>
              </a:solidFill>
              <a:ln w="25400"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Your team</c:v>
                </c:pt>
                <c:pt idx="1">
                  <c:v>Our team</c:v>
                </c:pt>
              </c:strCache>
            </c:strRef>
          </c:cat>
          <c:val>
            <c:numRef>
              <c:f>Sheet1!$B$2:$B$3</c:f>
              <c:numCache>
                <c:ptCount val="2"/>
                <c:pt idx="0">
                  <c:v>51</c:v>
                </c:pt>
                <c:pt idx="1">
                  <c:v>49</c:v>
                </c:pt>
              </c:numCache>
            </c:numRef>
          </c:val>
        </c:ser>
        <c:firstSliceAng val="0"/>
        <c:holeSize val="62"/>
      </c:doughnutChart>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outcome: a team asks for an app registration in a form, two people approve, and a flow creates it in Entra ID in minutes. Everything runs on Microsoft 365 services we already license. See the speaker notes document for the full talk track.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 short sections. The first half explains why and how; the second half covers the benefits, the ownership model, what comes next, and how we want to work with your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four cards left to right (one per click). Use real examples of a project that waited, an app reused for several purposes, or a misconfigured redirect URI. The last line is the consequence: delay plus inconsistency.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that this is a partnership with the M365 team: we enable Power Apps, Power Automate and SharePoint capabilities that are already licensed, and keep the footprint small. Four concrete 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the three options against the six criteria. Pipelines and a Function App are both viable, but they need developer skills to extend, they keep data outside M365 or need custom storage, and approvals have to be built. Click to reveal the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click per step. Emphasise that nothing happens in Entra ID until two people approve, and that the request is locked first so what is approved is exactly what gets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separation: people never get Entra ID rights; the only identity that can change Entra ID is the platform app, and only the execution flow uses it. A site owner editing the list by hand cannot trigger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five wizard steps (one per click). Only Basics is required; the display name prefix is built from appCatID, environment and BoR short name and cannot be edited. Swap the frames for real screenshots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Manually these are eight separate tasks in the Entra admin center, each a chance for a mistake. Here they come from one form, validated, and created in the right order with retries while Entra replicates.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People on the left, the Power Platform environment in the middle (app, SharePoint lists, flows), Entra ID on the right. Point out that only the platform app registration holds Graph permissions. Editable source: diagrams/entra-powerplatform.drawio, page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groups (one per click): the core pipeline (approvals, execution, catalog), the self-service helpers that need no approval (add group, find app, owning group), and operations (requeue, change requests).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row per click. Each row is a pain point from slide 3 and how the platform answers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numbers use 8 hours manual effort vs about 5 minutes of review per request. Even at the lowest volume, one Premium licence costs a small fraction of the effort saved. Change requests (scopes, roles, assignments) add to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 implied ownership (a name) with explicit tags the platform enforces. The team tag decides who can change the app (a person or a group); appCatID links it to the business application; the rest gives the audit trail and supports reporting and chargeback.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phase per click. Phase 1 completes the identity lifecycle; phase 2 extends AppCatID ownership to every identity the automation manages; phase 3 connects ServiceNow; phase 4 makes non-production approvals one tap in Teams.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built yet. After both approvals the flow raises a normal change; in gated mode the app registration is created only when the change reaches Implement, then the change is closed with the result. A record-only mode suits non-production. Editable source: diagrams/entra-powerplatform-future.drawio.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make the difference: knowledge of how your environment works, and the willingness to unblock us quickly. Ask for both explicitly.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51:49 model: we bring the build effort; your team brings knowledge and fast unblocking; in return your team takes the larger share of the credit. Reveal the four points one by one and end on the credit.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 questions. Have the appendix ready: request sequence, ER-02 flowchart, request lifecycle and the security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Editable source: diagrams/entra-powerplatform.drawio, page 4. Open it in draw.io (desktop, web or the VS Code extension), edit, and export again as 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Editable source: diagrams/entra-powerplatform.drawio, page 5. Open it in draw.io (desktop, web or the VS Code extension), edit, and export again as 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Editable source: diagrams/entra-powerplatform.drawio, page 7. Open it in draw.io (desktop, web or the VS Code extension), edit, and export again as 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Editable source: diagrams/entra-powerplatform.drawio, page 10. Open it in draw.io (desktop, web or the VS Code extension), edit, and export again as 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Editable source: diagrams/entra-powerplatform.drawio, page 12. Open it in draw.io (desktop, web or the VS Code extension), edit, and export again as 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5852160" cy="1737360"/>
          </a:xfrm>
          <a:prstGeom prst="rect">
            <a:avLst/>
          </a:prstGeom>
          <a:noFill/>
          <a:ln/>
        </p:spPr>
        <p:txBody>
          <a:bodyPr wrap="square" rtlCol="0"/>
          <a:lstStyle>
            <a:lvl1pPr algn="l" indent="0" marL="0">
              <a:buNone/>
              <a:defRPr lang="en-US" sz="4000" b="1" dirty="0">
                <a:solidFill>
                  <a:schemeClr val="tx2"/>
                </a:solidFill>
              </a:defRPr>
            </a:lvl1pPr>
          </a:lstStyle>
          <a:p>
            <a:pPr algn="l" indent="0" marL="0">
              <a:buNone/>
            </a:pPr>
            <a:endParaRPr lang="en-US" sz="4000" dirty="0"/>
          </a:p>
        </p:txBody>
      </p:sp>
      <p:sp>
        <p:nvSpPr>
          <p:cNvPr id="3" name="Text 0"/>
          <p:cNvSpPr/>
          <p:nvPr>
            <p:ph idx="101" type="body" hasCustomPrompt="1"/>
          </p:nvPr>
        </p:nvSpPr>
        <p:spPr>
          <a:xfrm>
            <a:off x="548640" y="3703320"/>
            <a:ext cx="5669280" cy="1097280"/>
          </a:xfrm>
          <a:prstGeom prst="rect">
            <a:avLst/>
          </a:prstGeom>
          <a:noFill/>
          <a:ln/>
        </p:spPr>
        <p:txBody>
          <a:bodyPr wrap="square" rtlCol="0"/>
          <a:lstStyle>
            <a:lvl1pPr algn="l" indent="0" marL="0">
              <a:buNone/>
              <a:defRPr lang="en-US" sz="1800" dirty="0">
                <a:solidFill>
                  <a:schemeClr val="accent6"/>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3" name="Text 0"/>
          <p:cNvSpPr/>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chemeClr val="accent6"/>
                </a:solidFill>
              </a:rPr>
              <a:t>Entra ID Self-Service  |  Power Apps · Power Automate · SharePoint</a:t>
            </a:r>
            <a:endParaRPr lang="en-US" sz="10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377440"/>
            <a:ext cx="11094415" cy="1188720"/>
          </a:xfrm>
          <a:prstGeom prst="rect">
            <a:avLst/>
          </a:prstGeom>
          <a:noFill/>
          <a:ln/>
        </p:spPr>
        <p:txBody>
          <a:bodyPr wrap="square" rtlCol="0"/>
          <a:lstStyle>
            <a:lvl1pPr algn="ctr" indent="0" marL="0">
              <a:buNone/>
              <a:defRPr lang="en-US" sz="4800" b="1" dirty="0">
                <a:solidFill>
                  <a:schemeClr val="tx2"/>
                </a:solidFill>
              </a:defRPr>
            </a:lvl1pPr>
          </a:lstStyle>
          <a:p>
            <a:pPr algn="ctr" indent="0" marL="0">
              <a:buNone/>
            </a:pPr>
            <a:endParaRPr lang="en-US" sz="4800" dirty="0"/>
          </a:p>
        </p:txBody>
      </p:sp>
      <p:sp>
        <p:nvSpPr>
          <p:cNvPr id="3" name="Text 0"/>
          <p:cNvSpPr/>
          <p:nvPr>
            <p:ph idx="101" type="body" hasCustomPrompt="1"/>
          </p:nvPr>
        </p:nvSpPr>
        <p:spPr>
          <a:xfrm>
            <a:off x="548640" y="3611880"/>
            <a:ext cx="11094415" cy="731520"/>
          </a:xfrm>
          <a:prstGeom prst="rect">
            <a:avLst/>
          </a:prstGeom>
          <a:noFill/>
          <a:ln/>
        </p:spPr>
        <p:txBody>
          <a:bodyPr wrap="square" rtlCol="0"/>
          <a:lstStyle>
            <a:lvl1pPr algn="ctr" indent="0" marL="0">
              <a:buNone/>
              <a:defRPr lang="en-US" sz="1800" dirty="0">
                <a:solidFill>
                  <a:schemeClr val="accent6"/>
                </a:solidFill>
              </a:defRPr>
            </a:lvl1pPr>
          </a:lstStyle>
          <a:p>
            <a:pPr algn="ctr" indent="0" marL="0">
              <a:buNone/>
            </a:pPr>
            <a:endParaRPr lang="en-US" sz="1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2.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slideLayout" Target="../slideLayouts/slideLayout3.xml"/><Relationship Id="rId1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3.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3.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slideLayout" Target="../slideLayouts/slideLayout3.xml"/><Relationship Id="rId11"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slideLayout" Target="../slideLayouts/slideLayout3.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slideLayout" Target="../slideLayouts/slideLayout3.xml"/><Relationship Id="rId10"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image" Target="../media/image-12-10.png"/><Relationship Id="rId11" Type="http://schemas.openxmlformats.org/officeDocument/2006/relationships/slideLayout" Target="../slideLayouts/slideLayout3.xml"/><Relationship Id="rId1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3.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3.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3.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18-1.png"/><Relationship Id="rId3" Type="http://schemas.openxmlformats.org/officeDocument/2006/relationships/image" Target="../media/image-18-2.png"/><Relationship Id="rId4" Type="http://schemas.openxmlformats.org/officeDocument/2006/relationships/image" Target="../media/image-18-3.png"/><Relationship Id="rId5" Type="http://schemas.openxmlformats.org/officeDocument/2006/relationships/image" Target="../media/image-18-4.png"/><Relationship Id="rId6" Type="http://schemas.openxmlformats.org/officeDocument/2006/relationships/slideLayout" Target="../slideLayouts/slideLayout3.xml"/><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3.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3.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325880"/>
            <a:ext cx="5486400" cy="365760"/>
          </a:xfrm>
          <a:prstGeom prst="rect">
            <a:avLst/>
          </a:prstGeom>
          <a:noFill/>
          <a:ln/>
        </p:spPr>
        <p:txBody>
          <a:bodyPr wrap="square" lIns="0" tIns="0" rIns="0" bIns="0" rtlCol="0" anchor="t"/>
          <a:lstStyle/>
          <a:p>
            <a:pPr indent="0" marL="0">
              <a:buNone/>
            </a:pPr>
            <a:r>
              <a:rPr lang="en-US" sz="1400" b="1" spc="300" kern="0" dirty="0">
                <a:solidFill>
                  <a:schemeClr val="accent1"/>
                </a:solidFill>
              </a:rPr>
              <a:t>ENTRA ID AUTOMATION</a:t>
            </a:r>
            <a:endParaRPr lang="en-US" sz="1400" dirty="0"/>
          </a:p>
        </p:txBody>
      </p:sp>
      <p:sp>
        <p:nvSpPr>
          <p:cNvPr id="3" name="Text 0"/>
          <p:cNvSpPr/>
          <p:nvPr>
            <p:ph idx="100" type="title" hasCustomPrompt="1"/>
          </p:nvPr>
        </p:nvSpPr>
        <p:spPr>
          <a:xfrm>
            <a:off x="548640" y="1828800"/>
            <a:ext cx="5852160" cy="1737360"/>
          </a:xfrm>
          <a:prstGeom prst="rect">
            <a:avLst/>
          </a:prstGeom>
          <a:noFill/>
          <a:ln/>
        </p:spPr>
        <p:txBody>
          <a:bodyPr wrap="square" lIns="0" tIns="0" rIns="0" bIns="0" rtlCol="0" anchor="b"/>
          <a:lstStyle/>
          <a:p>
            <a:pPr algn="l" indent="0" marL="0">
              <a:buNone/>
            </a:pPr>
            <a:r>
              <a:rPr lang="en-US" sz="4000" b="1" dirty="0">
                <a:solidFill>
                  <a:schemeClr val="tx2"/>
                </a:solidFill>
              </a:rPr>
              <a:t>App registrations in minutes, not days</a:t>
            </a:r>
            <a:endParaRPr lang="en-US" sz="4000" dirty="0"/>
          </a:p>
        </p:txBody>
      </p:sp>
      <p:sp>
        <p:nvSpPr>
          <p:cNvPr id="4" name="Text 0"/>
          <p:cNvSpPr/>
          <p:nvPr>
            <p:ph idx="101" type="body" hasCustomPrompt="1"/>
          </p:nvPr>
        </p:nvSpPr>
        <p:spPr>
          <a:xfrm>
            <a:off x="548640" y="3703320"/>
            <a:ext cx="5669280" cy="1097280"/>
          </a:xfrm>
          <a:prstGeom prst="rect">
            <a:avLst/>
          </a:prstGeom>
          <a:noFill/>
          <a:ln/>
        </p:spPr>
        <p:txBody>
          <a:bodyPr wrap="square" lIns="0" tIns="0" rIns="0" bIns="0" rtlCol="0" anchor="t"/>
          <a:lstStyle/>
          <a:p>
            <a:pPr algn="l" indent="0" marL="0">
              <a:buNone/>
            </a:pPr>
            <a:r>
              <a:rPr lang="en-US" sz="1800" dirty="0">
                <a:solidFill>
                  <a:schemeClr val="accent6"/>
                </a:solidFill>
              </a:rPr>
              <a:t>Self-service Entra ID app registrations built on Power Apps, Power Automate and SharePoint</a:t>
            </a:r>
            <a:endParaRPr lang="en-US" sz="1800" dirty="0"/>
          </a:p>
        </p:txBody>
      </p:sp>
      <p:sp>
        <p:nvSpPr>
          <p:cNvPr id="5" name="Text 3"/>
          <p:cNvSpPr txBox="1"/>
          <p:nvPr/>
        </p:nvSpPr>
        <p:spPr>
          <a:xfrm>
            <a:off x="548640" y="5806440"/>
            <a:ext cx="5486400" cy="320040"/>
          </a:xfrm>
          <a:prstGeom prst="rect">
            <a:avLst/>
          </a:prstGeom>
          <a:noFill/>
          <a:ln/>
        </p:spPr>
        <p:txBody>
          <a:bodyPr wrap="square" lIns="0" tIns="0" rIns="0" bIns="0" rtlCol="0" anchor="t"/>
          <a:lstStyle/>
          <a:p>
            <a:pPr indent="0" marL="0">
              <a:buNone/>
            </a:pPr>
            <a:r>
              <a:rPr lang="en-US" sz="1400" dirty="0">
                <a:solidFill>
                  <a:schemeClr val="accent6"/>
                </a:solidFill>
              </a:rPr>
              <a:t>Presenter name  ·  Team  ·  Date</a:t>
            </a:r>
            <a:endParaRPr lang="en-US" sz="1400" dirty="0"/>
          </a:p>
        </p:txBody>
      </p:sp>
      <p:sp>
        <p:nvSpPr>
          <p:cNvPr id="6" name="title_panel"/>
          <p:cNvSpPr/>
          <p:nvPr/>
        </p:nvSpPr>
        <p:spPr>
          <a:xfrm>
            <a:off x="6720840" y="822960"/>
            <a:ext cx="4937760" cy="5212080"/>
          </a:xfrm>
          <a:prstGeom prst="roundRect">
            <a:avLst>
              <a:gd name="adj" fmla="val 2222"/>
            </a:avLst>
          </a:prstGeom>
          <a:solidFill>
            <a:schemeClr val="bg2"/>
          </a:solidFill>
          <a:ln w="12700">
            <a:solidFill>
              <a:schemeClr val="bg2"/>
            </a:solidFill>
            <a:prstDash val="solid"/>
          </a:ln>
          <a:effectLst>
            <a:outerShdw sx="100000" sy="100000" kx="0" ky="0" algn="bl" rotWithShape="0" blurRad="76200" dist="25400" dir="5400000">
              <a:srgbClr val="7F9DB9">
                <a:alpha val="25000"/>
              </a:srgbClr>
            </a:outerShdw>
          </a:effectLst>
        </p:spPr>
      </p:sp>
      <p:sp>
        <p:nvSpPr>
          <p:cNvPr id="7" name="glance0_circle"/>
          <p:cNvSpPr/>
          <p:nvPr/>
        </p:nvSpPr>
        <p:spPr>
          <a:xfrm>
            <a:off x="7086600" y="1097280"/>
            <a:ext cx="640080" cy="640080"/>
          </a:xfrm>
          <a:prstGeom prst="ellipse">
            <a:avLst/>
          </a:prstGeom>
          <a:solidFill>
            <a:schemeClr val="accent1"/>
          </a:solidFill>
          <a:ln w="12700">
            <a:solidFill>
              <a:schemeClr val="accent1"/>
            </a:solidFill>
            <a:prstDash val="solid"/>
          </a:ln>
        </p:spPr>
      </p:sp>
      <p:pic>
        <p:nvPicPr>
          <p:cNvPr id="8" name="glance0_icon" descr="preencoded.png">    </p:cNvPr>
          <p:cNvPicPr>
            <a:picLocks noChangeAspect="1"/>
          </p:cNvPicPr>
          <p:nvPr/>
        </p:nvPicPr>
        <p:blipFill>
          <a:blip r:embed="rId1"/>
          <a:stretch>
            <a:fillRect/>
          </a:stretch>
        </p:blipFill>
        <p:spPr>
          <a:xfrm>
            <a:off x="7240219" y="1250899"/>
            <a:ext cx="332842" cy="332842"/>
          </a:xfrm>
          <a:prstGeom prst="rect">
            <a:avLst/>
          </a:prstGeom>
        </p:spPr>
      </p:pic>
      <p:sp>
        <p:nvSpPr>
          <p:cNvPr id="9" name="Text 6"/>
          <p:cNvSpPr txBox="1"/>
          <p:nvPr/>
        </p:nvSpPr>
        <p:spPr>
          <a:xfrm>
            <a:off x="7955280" y="1115568"/>
            <a:ext cx="3474720" cy="320040"/>
          </a:xfrm>
          <a:prstGeom prst="rect">
            <a:avLst/>
          </a:prstGeom>
          <a:noFill/>
          <a:ln/>
        </p:spPr>
        <p:txBody>
          <a:bodyPr wrap="square" lIns="0" tIns="0" rIns="0" bIns="0" rtlCol="0" anchor="t"/>
          <a:lstStyle/>
          <a:p>
            <a:pPr indent="0" marL="0">
              <a:buNone/>
            </a:pPr>
            <a:r>
              <a:rPr lang="en-US" sz="1700" b="1" dirty="0">
                <a:solidFill>
                  <a:schemeClr val="tx2"/>
                </a:solidFill>
              </a:rPr>
              <a:t>Ask</a:t>
            </a:r>
            <a:endParaRPr lang="en-US" sz="1700" dirty="0"/>
          </a:p>
        </p:txBody>
      </p:sp>
      <p:sp>
        <p:nvSpPr>
          <p:cNvPr id="10" name="Text 7"/>
          <p:cNvSpPr txBox="1"/>
          <p:nvPr/>
        </p:nvSpPr>
        <p:spPr>
          <a:xfrm>
            <a:off x="7955280" y="1435608"/>
            <a:ext cx="3474720" cy="320040"/>
          </a:xfrm>
          <a:prstGeom prst="rect">
            <a:avLst/>
          </a:prstGeom>
          <a:noFill/>
          <a:ln/>
        </p:spPr>
        <p:txBody>
          <a:bodyPr wrap="square" lIns="0" tIns="0" rIns="0" bIns="0" rtlCol="0" anchor="t"/>
          <a:lstStyle/>
          <a:p>
            <a:pPr indent="0" marL="0">
              <a:buNone/>
            </a:pPr>
            <a:r>
              <a:rPr lang="en-US" sz="1300" dirty="0">
                <a:solidFill>
                  <a:schemeClr val="tx1"/>
                </a:solidFill>
              </a:rPr>
              <a:t>The team fills in a form in the Power App</a:t>
            </a:r>
            <a:endParaRPr lang="en-US" sz="1300" dirty="0"/>
          </a:p>
        </p:txBody>
      </p:sp>
      <p:sp>
        <p:nvSpPr>
          <p:cNvPr id="11" name="glance_line0"/>
          <p:cNvSpPr/>
          <p:nvPr/>
        </p:nvSpPr>
        <p:spPr>
          <a:xfrm>
            <a:off x="7406640" y="1755648"/>
            <a:ext cx="0" cy="283464"/>
          </a:xfrm>
          <a:prstGeom prst="line">
            <a:avLst/>
          </a:prstGeom>
          <a:noFill/>
          <a:ln w="19050">
            <a:solidFill>
              <a:schemeClr val="accent2"/>
            </a:solidFill>
            <a:prstDash val="solid"/>
          </a:ln>
        </p:spPr>
      </p:sp>
      <p:sp>
        <p:nvSpPr>
          <p:cNvPr id="12" name="glance1_circle"/>
          <p:cNvSpPr/>
          <p:nvPr/>
        </p:nvSpPr>
        <p:spPr>
          <a:xfrm>
            <a:off x="7086600" y="2057400"/>
            <a:ext cx="640080" cy="640080"/>
          </a:xfrm>
          <a:prstGeom prst="ellipse">
            <a:avLst/>
          </a:prstGeom>
          <a:solidFill>
            <a:schemeClr val="accent1"/>
          </a:solidFill>
          <a:ln w="12700">
            <a:solidFill>
              <a:schemeClr val="accent1"/>
            </a:solidFill>
            <a:prstDash val="solid"/>
          </a:ln>
        </p:spPr>
      </p:sp>
      <p:pic>
        <p:nvPicPr>
          <p:cNvPr id="13" name="glance1_icon" descr="preencoded.png">    </p:cNvPr>
          <p:cNvPicPr>
            <a:picLocks noChangeAspect="1"/>
          </p:cNvPicPr>
          <p:nvPr/>
        </p:nvPicPr>
        <p:blipFill>
          <a:blip r:embed="rId2"/>
          <a:stretch>
            <a:fillRect/>
          </a:stretch>
        </p:blipFill>
        <p:spPr>
          <a:xfrm>
            <a:off x="7240219" y="2211019"/>
            <a:ext cx="332842" cy="332842"/>
          </a:xfrm>
          <a:prstGeom prst="rect">
            <a:avLst/>
          </a:prstGeom>
        </p:spPr>
      </p:pic>
      <p:sp>
        <p:nvSpPr>
          <p:cNvPr id="14" name="Text 10"/>
          <p:cNvSpPr txBox="1"/>
          <p:nvPr/>
        </p:nvSpPr>
        <p:spPr>
          <a:xfrm>
            <a:off x="7955280" y="2075688"/>
            <a:ext cx="3474720" cy="320040"/>
          </a:xfrm>
          <a:prstGeom prst="rect">
            <a:avLst/>
          </a:prstGeom>
          <a:noFill/>
          <a:ln/>
        </p:spPr>
        <p:txBody>
          <a:bodyPr wrap="square" lIns="0" tIns="0" rIns="0" bIns="0" rtlCol="0" anchor="t"/>
          <a:lstStyle/>
          <a:p>
            <a:pPr indent="0" marL="0">
              <a:buNone/>
            </a:pPr>
            <a:r>
              <a:rPr lang="en-US" sz="1700" b="1" dirty="0">
                <a:solidFill>
                  <a:schemeClr val="tx2"/>
                </a:solidFill>
              </a:rPr>
              <a:t>Lock</a:t>
            </a:r>
            <a:endParaRPr lang="en-US" sz="1700" dirty="0"/>
          </a:p>
        </p:txBody>
      </p:sp>
      <p:sp>
        <p:nvSpPr>
          <p:cNvPr id="15" name="Text 11"/>
          <p:cNvSpPr txBox="1"/>
          <p:nvPr/>
        </p:nvSpPr>
        <p:spPr>
          <a:xfrm>
            <a:off x="7955280" y="2395728"/>
            <a:ext cx="3474720" cy="320040"/>
          </a:xfrm>
          <a:prstGeom prst="rect">
            <a:avLst/>
          </a:prstGeom>
          <a:noFill/>
          <a:ln/>
        </p:spPr>
        <p:txBody>
          <a:bodyPr wrap="square" lIns="0" tIns="0" rIns="0" bIns="0" rtlCol="0" anchor="t"/>
          <a:lstStyle/>
          <a:p>
            <a:pPr indent="0" marL="0">
              <a:buNone/>
            </a:pPr>
            <a:r>
              <a:rPr lang="en-US" sz="1300" dirty="0">
                <a:solidFill>
                  <a:schemeClr val="tx1"/>
                </a:solidFill>
              </a:rPr>
              <a:t>The request is saved and locked</a:t>
            </a:r>
            <a:endParaRPr lang="en-US" sz="1300" dirty="0"/>
          </a:p>
        </p:txBody>
      </p:sp>
      <p:sp>
        <p:nvSpPr>
          <p:cNvPr id="16" name="glance_line1"/>
          <p:cNvSpPr/>
          <p:nvPr/>
        </p:nvSpPr>
        <p:spPr>
          <a:xfrm>
            <a:off x="7406640" y="2715768"/>
            <a:ext cx="0" cy="283464"/>
          </a:xfrm>
          <a:prstGeom prst="line">
            <a:avLst/>
          </a:prstGeom>
          <a:noFill/>
          <a:ln w="19050">
            <a:solidFill>
              <a:schemeClr val="accent2"/>
            </a:solidFill>
            <a:prstDash val="solid"/>
          </a:ln>
        </p:spPr>
      </p:sp>
      <p:sp>
        <p:nvSpPr>
          <p:cNvPr id="17" name="glance2_circle"/>
          <p:cNvSpPr/>
          <p:nvPr/>
        </p:nvSpPr>
        <p:spPr>
          <a:xfrm>
            <a:off x="7086600" y="3017520"/>
            <a:ext cx="640080" cy="640080"/>
          </a:xfrm>
          <a:prstGeom prst="ellipse">
            <a:avLst/>
          </a:prstGeom>
          <a:solidFill>
            <a:schemeClr val="accent1"/>
          </a:solidFill>
          <a:ln w="12700">
            <a:solidFill>
              <a:schemeClr val="accent1"/>
            </a:solidFill>
            <a:prstDash val="solid"/>
          </a:ln>
        </p:spPr>
      </p:sp>
      <p:pic>
        <p:nvPicPr>
          <p:cNvPr id="18" name="glance2_icon" descr="preencoded.png">    </p:cNvPr>
          <p:cNvPicPr>
            <a:picLocks noChangeAspect="1"/>
          </p:cNvPicPr>
          <p:nvPr/>
        </p:nvPicPr>
        <p:blipFill>
          <a:blip r:embed="rId3"/>
          <a:stretch>
            <a:fillRect/>
          </a:stretch>
        </p:blipFill>
        <p:spPr>
          <a:xfrm>
            <a:off x="7240219" y="3171139"/>
            <a:ext cx="332842" cy="332842"/>
          </a:xfrm>
          <a:prstGeom prst="rect">
            <a:avLst/>
          </a:prstGeom>
        </p:spPr>
      </p:pic>
      <p:sp>
        <p:nvSpPr>
          <p:cNvPr id="19" name="Text 14"/>
          <p:cNvSpPr txBox="1"/>
          <p:nvPr/>
        </p:nvSpPr>
        <p:spPr>
          <a:xfrm>
            <a:off x="7955280" y="3035808"/>
            <a:ext cx="3474720" cy="320040"/>
          </a:xfrm>
          <a:prstGeom prst="rect">
            <a:avLst/>
          </a:prstGeom>
          <a:noFill/>
          <a:ln/>
        </p:spPr>
        <p:txBody>
          <a:bodyPr wrap="square" lIns="0" tIns="0" rIns="0" bIns="0" rtlCol="0" anchor="t"/>
          <a:lstStyle/>
          <a:p>
            <a:pPr indent="0" marL="0">
              <a:buNone/>
            </a:pPr>
            <a:r>
              <a:rPr lang="en-US" sz="1700" b="1" dirty="0">
                <a:solidFill>
                  <a:schemeClr val="tx2"/>
                </a:solidFill>
              </a:rPr>
              <a:t>Approve</a:t>
            </a:r>
            <a:endParaRPr lang="en-US" sz="1700" dirty="0"/>
          </a:p>
        </p:txBody>
      </p:sp>
      <p:sp>
        <p:nvSpPr>
          <p:cNvPr id="20" name="Text 15"/>
          <p:cNvSpPr txBox="1"/>
          <p:nvPr/>
        </p:nvSpPr>
        <p:spPr>
          <a:xfrm>
            <a:off x="7955280" y="3355848"/>
            <a:ext cx="3474720" cy="320040"/>
          </a:xfrm>
          <a:prstGeom prst="rect">
            <a:avLst/>
          </a:prstGeom>
          <a:noFill/>
          <a:ln/>
        </p:spPr>
        <p:txBody>
          <a:bodyPr wrap="square" lIns="0" tIns="0" rIns="0" bIns="0" rtlCol="0" anchor="t"/>
          <a:lstStyle/>
          <a:p>
            <a:pPr indent="0" marL="0">
              <a:buNone/>
            </a:pPr>
            <a:r>
              <a:rPr lang="en-US" sz="1300" dirty="0">
                <a:solidFill>
                  <a:schemeClr val="tx1"/>
                </a:solidFill>
              </a:rPr>
              <a:t>Manager, then the Entra ID team</a:t>
            </a:r>
            <a:endParaRPr lang="en-US" sz="1300" dirty="0"/>
          </a:p>
        </p:txBody>
      </p:sp>
      <p:sp>
        <p:nvSpPr>
          <p:cNvPr id="21" name="glance_line2"/>
          <p:cNvSpPr/>
          <p:nvPr/>
        </p:nvSpPr>
        <p:spPr>
          <a:xfrm>
            <a:off x="7406640" y="3675888"/>
            <a:ext cx="0" cy="283464"/>
          </a:xfrm>
          <a:prstGeom prst="line">
            <a:avLst/>
          </a:prstGeom>
          <a:noFill/>
          <a:ln w="19050">
            <a:solidFill>
              <a:schemeClr val="accent2"/>
            </a:solidFill>
            <a:prstDash val="solid"/>
          </a:ln>
        </p:spPr>
      </p:sp>
      <p:sp>
        <p:nvSpPr>
          <p:cNvPr id="22" name="glance3_circle"/>
          <p:cNvSpPr/>
          <p:nvPr/>
        </p:nvSpPr>
        <p:spPr>
          <a:xfrm>
            <a:off x="7086600" y="3977640"/>
            <a:ext cx="640080" cy="640080"/>
          </a:xfrm>
          <a:prstGeom prst="ellipse">
            <a:avLst/>
          </a:prstGeom>
          <a:solidFill>
            <a:schemeClr val="accent1"/>
          </a:solidFill>
          <a:ln w="12700">
            <a:solidFill>
              <a:schemeClr val="accent1"/>
            </a:solidFill>
            <a:prstDash val="solid"/>
          </a:ln>
        </p:spPr>
      </p:sp>
      <p:pic>
        <p:nvPicPr>
          <p:cNvPr id="23" name="glance3_icon" descr="preencoded.png">    </p:cNvPr>
          <p:cNvPicPr>
            <a:picLocks noChangeAspect="1"/>
          </p:cNvPicPr>
          <p:nvPr/>
        </p:nvPicPr>
        <p:blipFill>
          <a:blip r:embed="rId4"/>
          <a:stretch>
            <a:fillRect/>
          </a:stretch>
        </p:blipFill>
        <p:spPr>
          <a:xfrm>
            <a:off x="7240219" y="4131259"/>
            <a:ext cx="332842" cy="332842"/>
          </a:xfrm>
          <a:prstGeom prst="rect">
            <a:avLst/>
          </a:prstGeom>
        </p:spPr>
      </p:pic>
      <p:sp>
        <p:nvSpPr>
          <p:cNvPr id="24" name="Text 18"/>
          <p:cNvSpPr txBox="1"/>
          <p:nvPr/>
        </p:nvSpPr>
        <p:spPr>
          <a:xfrm>
            <a:off x="7955280" y="3995928"/>
            <a:ext cx="3474720" cy="320040"/>
          </a:xfrm>
          <a:prstGeom prst="rect">
            <a:avLst/>
          </a:prstGeom>
          <a:noFill/>
          <a:ln/>
        </p:spPr>
        <p:txBody>
          <a:bodyPr wrap="square" lIns="0" tIns="0" rIns="0" bIns="0" rtlCol="0" anchor="t"/>
          <a:lstStyle/>
          <a:p>
            <a:pPr indent="0" marL="0">
              <a:buNone/>
            </a:pPr>
            <a:r>
              <a:rPr lang="en-US" sz="1700" b="1" dirty="0">
                <a:solidFill>
                  <a:schemeClr val="tx2"/>
                </a:solidFill>
              </a:rPr>
              <a:t>Create</a:t>
            </a:r>
            <a:endParaRPr lang="en-US" sz="1700" dirty="0"/>
          </a:p>
        </p:txBody>
      </p:sp>
      <p:sp>
        <p:nvSpPr>
          <p:cNvPr id="25" name="Text 19"/>
          <p:cNvSpPr txBox="1"/>
          <p:nvPr/>
        </p:nvSpPr>
        <p:spPr>
          <a:xfrm>
            <a:off x="7955280" y="4315968"/>
            <a:ext cx="3474720" cy="320040"/>
          </a:xfrm>
          <a:prstGeom prst="rect">
            <a:avLst/>
          </a:prstGeom>
          <a:noFill/>
          <a:ln/>
        </p:spPr>
        <p:txBody>
          <a:bodyPr wrap="square" lIns="0" tIns="0" rIns="0" bIns="0" rtlCol="0" anchor="t"/>
          <a:lstStyle/>
          <a:p>
            <a:pPr indent="0" marL="0">
              <a:buNone/>
            </a:pPr>
            <a:r>
              <a:rPr lang="en-US" sz="1300" dirty="0">
                <a:solidFill>
                  <a:schemeClr val="tx1"/>
                </a:solidFill>
              </a:rPr>
              <a:t>A flow builds it in Entra ID through Graph</a:t>
            </a:r>
            <a:endParaRPr lang="en-US" sz="1300" dirty="0"/>
          </a:p>
        </p:txBody>
      </p:sp>
      <p:sp>
        <p:nvSpPr>
          <p:cNvPr id="26" name="glance_line3"/>
          <p:cNvSpPr/>
          <p:nvPr/>
        </p:nvSpPr>
        <p:spPr>
          <a:xfrm>
            <a:off x="7406640" y="4636008"/>
            <a:ext cx="0" cy="283464"/>
          </a:xfrm>
          <a:prstGeom prst="line">
            <a:avLst/>
          </a:prstGeom>
          <a:noFill/>
          <a:ln w="19050">
            <a:solidFill>
              <a:schemeClr val="accent2"/>
            </a:solidFill>
            <a:prstDash val="solid"/>
          </a:ln>
        </p:spPr>
      </p:sp>
      <p:sp>
        <p:nvSpPr>
          <p:cNvPr id="27" name="glance4_circle"/>
          <p:cNvSpPr/>
          <p:nvPr/>
        </p:nvSpPr>
        <p:spPr>
          <a:xfrm>
            <a:off x="7086600" y="4937760"/>
            <a:ext cx="640080" cy="640080"/>
          </a:xfrm>
          <a:prstGeom prst="ellipse">
            <a:avLst/>
          </a:prstGeom>
          <a:solidFill>
            <a:schemeClr val="accent1"/>
          </a:solidFill>
          <a:ln w="12700">
            <a:solidFill>
              <a:schemeClr val="accent1"/>
            </a:solidFill>
            <a:prstDash val="solid"/>
          </a:ln>
        </p:spPr>
      </p:sp>
      <p:pic>
        <p:nvPicPr>
          <p:cNvPr id="28" name="glance4_icon" descr="preencoded.png">    </p:cNvPr>
          <p:cNvPicPr>
            <a:picLocks noChangeAspect="1"/>
          </p:cNvPicPr>
          <p:nvPr/>
        </p:nvPicPr>
        <p:blipFill>
          <a:blip r:embed="rId5"/>
          <a:stretch>
            <a:fillRect/>
          </a:stretch>
        </p:blipFill>
        <p:spPr>
          <a:xfrm>
            <a:off x="7240219" y="5091379"/>
            <a:ext cx="332842" cy="332842"/>
          </a:xfrm>
          <a:prstGeom prst="rect">
            <a:avLst/>
          </a:prstGeom>
        </p:spPr>
      </p:pic>
      <p:sp>
        <p:nvSpPr>
          <p:cNvPr id="29" name="Text 22"/>
          <p:cNvSpPr txBox="1"/>
          <p:nvPr/>
        </p:nvSpPr>
        <p:spPr>
          <a:xfrm>
            <a:off x="7955280" y="4956048"/>
            <a:ext cx="3474720" cy="320040"/>
          </a:xfrm>
          <a:prstGeom prst="rect">
            <a:avLst/>
          </a:prstGeom>
          <a:noFill/>
          <a:ln/>
        </p:spPr>
        <p:txBody>
          <a:bodyPr wrap="square" lIns="0" tIns="0" rIns="0" bIns="0" rtlCol="0" anchor="t"/>
          <a:lstStyle/>
          <a:p>
            <a:pPr indent="0" marL="0">
              <a:buNone/>
            </a:pPr>
            <a:r>
              <a:rPr lang="en-US" sz="1700" b="1" dirty="0">
                <a:solidFill>
                  <a:schemeClr val="tx2"/>
                </a:solidFill>
              </a:rPr>
              <a:t>Stamp</a:t>
            </a:r>
            <a:endParaRPr lang="en-US" sz="1700" dirty="0"/>
          </a:p>
        </p:txBody>
      </p:sp>
      <p:sp>
        <p:nvSpPr>
          <p:cNvPr id="30" name="Text 23"/>
          <p:cNvSpPr txBox="1"/>
          <p:nvPr/>
        </p:nvSpPr>
        <p:spPr>
          <a:xfrm>
            <a:off x="7955280" y="5276088"/>
            <a:ext cx="3474720" cy="320040"/>
          </a:xfrm>
          <a:prstGeom prst="rect">
            <a:avLst/>
          </a:prstGeom>
          <a:noFill/>
          <a:ln/>
        </p:spPr>
        <p:txBody>
          <a:bodyPr wrap="square" lIns="0" tIns="0" rIns="0" bIns="0" rtlCol="0" anchor="t"/>
          <a:lstStyle/>
          <a:p>
            <a:pPr indent="0" marL="0">
              <a:buNone/>
            </a:pPr>
            <a:r>
              <a:rPr lang="en-US" sz="1300" dirty="0">
                <a:solidFill>
                  <a:schemeClr val="tx1"/>
                </a:solidFill>
              </a:rPr>
              <a:t>Owner, appCatID and request ID as tags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2"/>
                </a:solidFill>
              </a:rPr>
              <a:t>What we'll cover</a:t>
            </a:r>
            <a:endParaRPr lang="en-US" sz="3000" dirty="0"/>
          </a:p>
        </p:txBody>
      </p:sp>
      <p:sp>
        <p:nvSpPr>
          <p:cNvPr id="3" name="agenda0_card"/>
          <p:cNvSpPr/>
          <p:nvPr/>
        </p:nvSpPr>
        <p:spPr>
          <a:xfrm>
            <a:off x="548640" y="1417320"/>
            <a:ext cx="3474720" cy="1234440"/>
          </a:xfrm>
          <a:prstGeom prst="roundRect">
            <a:avLst>
              <a:gd name="adj" fmla="val 8889"/>
            </a:avLst>
          </a:prstGeom>
          <a:solidFill>
            <a:schemeClr val="bg2"/>
          </a:solidFill>
          <a:ln w="12700">
            <a:solidFill>
              <a:schemeClr val="bg2"/>
            </a:solidFill>
            <a:prstDash val="solid"/>
          </a:ln>
          <a:effectLst>
            <a:outerShdw sx="100000" sy="100000" kx="0" ky="0" algn="bl" rotWithShape="0" blurRad="76200" dist="25400" dir="5400000">
              <a:srgbClr val="7F9DB9">
                <a:alpha val="25000"/>
              </a:srgbClr>
            </a:outerShdw>
          </a:effectLst>
        </p:spPr>
      </p:sp>
      <p:sp>
        <p:nvSpPr>
          <p:cNvPr id="4" name="agenda0_circle"/>
          <p:cNvSpPr/>
          <p:nvPr/>
        </p:nvSpPr>
        <p:spPr>
          <a:xfrm>
            <a:off x="777240" y="1691640"/>
            <a:ext cx="685800" cy="685800"/>
          </a:xfrm>
          <a:prstGeom prst="ellipse">
            <a:avLst/>
          </a:prstGeom>
          <a:solidFill>
            <a:schemeClr val="accent1"/>
          </a:solidFill>
          <a:ln w="12700">
            <a:solidFill>
              <a:schemeClr val="accent1"/>
            </a:solidFill>
            <a:prstDash val="solid"/>
          </a:ln>
        </p:spPr>
      </p:sp>
      <p:pic>
        <p:nvPicPr>
          <p:cNvPr id="5" name="agenda0_icon" descr="preencoded.png">    </p:cNvPr>
          <p:cNvPicPr>
            <a:picLocks noChangeAspect="1"/>
          </p:cNvPicPr>
          <p:nvPr/>
        </p:nvPicPr>
        <p:blipFill>
          <a:blip r:embed="rId1"/>
          <a:stretch>
            <a:fillRect/>
          </a:stretch>
        </p:blipFill>
        <p:spPr>
          <a:xfrm>
            <a:off x="941832" y="1856232"/>
            <a:ext cx="356616" cy="356616"/>
          </a:xfrm>
          <a:prstGeom prst="rect">
            <a:avLst/>
          </a:prstGeom>
        </p:spPr>
      </p:pic>
      <p:sp>
        <p:nvSpPr>
          <p:cNvPr id="6" name="Text 3"/>
          <p:cNvSpPr txBox="1"/>
          <p:nvPr/>
        </p:nvSpPr>
        <p:spPr>
          <a:xfrm>
            <a:off x="1645920" y="1645920"/>
            <a:ext cx="731520" cy="320040"/>
          </a:xfrm>
          <a:prstGeom prst="rect">
            <a:avLst/>
          </a:prstGeom>
          <a:noFill/>
          <a:ln/>
        </p:spPr>
        <p:txBody>
          <a:bodyPr wrap="square" lIns="0" tIns="0" rIns="0" bIns="0" rtlCol="0" anchor="t"/>
          <a:lstStyle/>
          <a:p>
            <a:pPr indent="0" marL="0">
              <a:buNone/>
            </a:pPr>
            <a:r>
              <a:rPr lang="en-US" sz="1400" b="1" dirty="0">
                <a:solidFill>
                  <a:schemeClr val="accent1"/>
                </a:solidFill>
              </a:rPr>
              <a:t>01</a:t>
            </a:r>
            <a:endParaRPr lang="en-US" sz="1400" dirty="0"/>
          </a:p>
        </p:txBody>
      </p:sp>
      <p:sp>
        <p:nvSpPr>
          <p:cNvPr id="7" name="Text 4"/>
          <p:cNvSpPr txBox="1"/>
          <p:nvPr/>
        </p:nvSpPr>
        <p:spPr>
          <a:xfrm>
            <a:off x="1645920" y="1947672"/>
            <a:ext cx="2240280" cy="548640"/>
          </a:xfrm>
          <a:prstGeom prst="rect">
            <a:avLst/>
          </a:prstGeom>
          <a:noFill/>
          <a:ln/>
        </p:spPr>
        <p:txBody>
          <a:bodyPr wrap="square" lIns="0" tIns="0" rIns="0" bIns="0" rtlCol="0" anchor="t"/>
          <a:lstStyle/>
          <a:p>
            <a:pPr indent="0" marL="0">
              <a:buNone/>
            </a:pPr>
            <a:r>
              <a:rPr lang="en-US" sz="1600" b="1" dirty="0">
                <a:solidFill>
                  <a:schemeClr val="tx2"/>
                </a:solidFill>
              </a:rPr>
              <a:t>The problem today</a:t>
            </a:r>
            <a:endParaRPr lang="en-US" sz="1600" dirty="0"/>
          </a:p>
        </p:txBody>
      </p:sp>
      <p:sp>
        <p:nvSpPr>
          <p:cNvPr id="8" name="agenda1_card"/>
          <p:cNvSpPr/>
          <p:nvPr/>
        </p:nvSpPr>
        <p:spPr>
          <a:xfrm>
            <a:off x="548640" y="2926080"/>
            <a:ext cx="3474720" cy="1234440"/>
          </a:xfrm>
          <a:prstGeom prst="roundRect">
            <a:avLst>
              <a:gd name="adj" fmla="val 8889"/>
            </a:avLst>
          </a:prstGeom>
          <a:solidFill>
            <a:schemeClr val="bg2"/>
          </a:solidFill>
          <a:ln w="12700">
            <a:solidFill>
              <a:schemeClr val="bg2"/>
            </a:solidFill>
            <a:prstDash val="solid"/>
          </a:ln>
          <a:effectLst>
            <a:outerShdw sx="100000" sy="100000" kx="0" ky="0" algn="bl" rotWithShape="0" blurRad="76200" dist="25400" dir="5400000">
              <a:srgbClr val="7F9DB9">
                <a:alpha val="25000"/>
              </a:srgbClr>
            </a:outerShdw>
          </a:effectLst>
        </p:spPr>
      </p:sp>
      <p:sp>
        <p:nvSpPr>
          <p:cNvPr id="9" name="agenda1_circle"/>
          <p:cNvSpPr/>
          <p:nvPr/>
        </p:nvSpPr>
        <p:spPr>
          <a:xfrm>
            <a:off x="777240" y="3200400"/>
            <a:ext cx="685800" cy="685800"/>
          </a:xfrm>
          <a:prstGeom prst="ellipse">
            <a:avLst/>
          </a:prstGeom>
          <a:solidFill>
            <a:schemeClr val="accent1"/>
          </a:solidFill>
          <a:ln w="12700">
            <a:solidFill>
              <a:schemeClr val="accent1"/>
            </a:solidFill>
            <a:prstDash val="solid"/>
          </a:ln>
        </p:spPr>
      </p:sp>
      <p:pic>
        <p:nvPicPr>
          <p:cNvPr id="10" name="agenda1_icon" descr="preencoded.png">    </p:cNvPr>
          <p:cNvPicPr>
            <a:picLocks noChangeAspect="1"/>
          </p:cNvPicPr>
          <p:nvPr/>
        </p:nvPicPr>
        <p:blipFill>
          <a:blip r:embed="rId2"/>
          <a:stretch>
            <a:fillRect/>
          </a:stretch>
        </p:blipFill>
        <p:spPr>
          <a:xfrm>
            <a:off x="941832" y="3364992"/>
            <a:ext cx="356616" cy="356616"/>
          </a:xfrm>
          <a:prstGeom prst="rect">
            <a:avLst/>
          </a:prstGeom>
        </p:spPr>
      </p:pic>
      <p:sp>
        <p:nvSpPr>
          <p:cNvPr id="11" name="Text 7"/>
          <p:cNvSpPr txBox="1"/>
          <p:nvPr/>
        </p:nvSpPr>
        <p:spPr>
          <a:xfrm>
            <a:off x="1645920" y="3154680"/>
            <a:ext cx="731520" cy="320040"/>
          </a:xfrm>
          <a:prstGeom prst="rect">
            <a:avLst/>
          </a:prstGeom>
          <a:noFill/>
          <a:ln/>
        </p:spPr>
        <p:txBody>
          <a:bodyPr wrap="square" lIns="0" tIns="0" rIns="0" bIns="0" rtlCol="0" anchor="t"/>
          <a:lstStyle/>
          <a:p>
            <a:pPr indent="0" marL="0">
              <a:buNone/>
            </a:pPr>
            <a:r>
              <a:rPr lang="en-US" sz="1400" b="1" dirty="0">
                <a:solidFill>
                  <a:schemeClr val="accent1"/>
                </a:solidFill>
              </a:rPr>
              <a:t>02</a:t>
            </a:r>
            <a:endParaRPr lang="en-US" sz="1400" dirty="0"/>
          </a:p>
        </p:txBody>
      </p:sp>
      <p:sp>
        <p:nvSpPr>
          <p:cNvPr id="12" name="Text 8"/>
          <p:cNvSpPr txBox="1"/>
          <p:nvPr/>
        </p:nvSpPr>
        <p:spPr>
          <a:xfrm>
            <a:off x="1645920" y="3456432"/>
            <a:ext cx="2240280" cy="548640"/>
          </a:xfrm>
          <a:prstGeom prst="rect">
            <a:avLst/>
          </a:prstGeom>
          <a:noFill/>
          <a:ln/>
        </p:spPr>
        <p:txBody>
          <a:bodyPr wrap="square" lIns="0" tIns="0" rIns="0" bIns="0" rtlCol="0" anchor="t"/>
          <a:lstStyle/>
          <a:p>
            <a:pPr indent="0" marL="0">
              <a:buNone/>
            </a:pPr>
            <a:r>
              <a:rPr lang="en-US" sz="1600" b="1" dirty="0">
                <a:solidFill>
                  <a:schemeClr val="tx2"/>
                </a:solidFill>
              </a:rPr>
              <a:t>Working with the M365 team</a:t>
            </a:r>
            <a:endParaRPr lang="en-US" sz="1600" dirty="0"/>
          </a:p>
        </p:txBody>
      </p:sp>
      <p:sp>
        <p:nvSpPr>
          <p:cNvPr id="13" name="agenda2_card"/>
          <p:cNvSpPr/>
          <p:nvPr/>
        </p:nvSpPr>
        <p:spPr>
          <a:xfrm>
            <a:off x="548640" y="4434840"/>
            <a:ext cx="3474720" cy="1234440"/>
          </a:xfrm>
          <a:prstGeom prst="roundRect">
            <a:avLst>
              <a:gd name="adj" fmla="val 8889"/>
            </a:avLst>
          </a:prstGeom>
          <a:solidFill>
            <a:schemeClr val="bg2"/>
          </a:solidFill>
          <a:ln w="12700">
            <a:solidFill>
              <a:schemeClr val="bg2"/>
            </a:solidFill>
            <a:prstDash val="solid"/>
          </a:ln>
          <a:effectLst>
            <a:outerShdw sx="100000" sy="100000" kx="0" ky="0" algn="bl" rotWithShape="0" blurRad="76200" dist="25400" dir="5400000">
              <a:srgbClr val="7F9DB9">
                <a:alpha val="25000"/>
              </a:srgbClr>
            </a:outerShdw>
          </a:effectLst>
        </p:spPr>
      </p:sp>
      <p:sp>
        <p:nvSpPr>
          <p:cNvPr id="14" name="agenda2_circle"/>
          <p:cNvSpPr/>
          <p:nvPr/>
        </p:nvSpPr>
        <p:spPr>
          <a:xfrm>
            <a:off x="777240" y="4709160"/>
            <a:ext cx="685800" cy="685800"/>
          </a:xfrm>
          <a:prstGeom prst="ellipse">
            <a:avLst/>
          </a:prstGeom>
          <a:solidFill>
            <a:schemeClr val="accent1"/>
          </a:solidFill>
          <a:ln w="12700">
            <a:solidFill>
              <a:schemeClr val="accent1"/>
            </a:solidFill>
            <a:prstDash val="solid"/>
          </a:ln>
        </p:spPr>
      </p:sp>
      <p:pic>
        <p:nvPicPr>
          <p:cNvPr id="15" name="agenda2_icon" descr="preencoded.png">    </p:cNvPr>
          <p:cNvPicPr>
            <a:picLocks noChangeAspect="1"/>
          </p:cNvPicPr>
          <p:nvPr/>
        </p:nvPicPr>
        <p:blipFill>
          <a:blip r:embed="rId3"/>
          <a:stretch>
            <a:fillRect/>
          </a:stretch>
        </p:blipFill>
        <p:spPr>
          <a:xfrm>
            <a:off x="941832" y="4873752"/>
            <a:ext cx="356616" cy="356616"/>
          </a:xfrm>
          <a:prstGeom prst="rect">
            <a:avLst/>
          </a:prstGeom>
        </p:spPr>
      </p:pic>
      <p:sp>
        <p:nvSpPr>
          <p:cNvPr id="16" name="Text 11"/>
          <p:cNvSpPr txBox="1"/>
          <p:nvPr/>
        </p:nvSpPr>
        <p:spPr>
          <a:xfrm>
            <a:off x="1645920" y="4663440"/>
            <a:ext cx="731520" cy="320040"/>
          </a:xfrm>
          <a:prstGeom prst="rect">
            <a:avLst/>
          </a:prstGeom>
          <a:noFill/>
          <a:ln/>
        </p:spPr>
        <p:txBody>
          <a:bodyPr wrap="square" lIns="0" tIns="0" rIns="0" bIns="0" rtlCol="0" anchor="t"/>
          <a:lstStyle/>
          <a:p>
            <a:pPr indent="0" marL="0">
              <a:buNone/>
            </a:pPr>
            <a:r>
              <a:rPr lang="en-US" sz="1400" b="1" dirty="0">
                <a:solidFill>
                  <a:schemeClr val="accent1"/>
                </a:solidFill>
              </a:rPr>
              <a:t>03</a:t>
            </a:r>
            <a:endParaRPr lang="en-US" sz="1400" dirty="0"/>
          </a:p>
        </p:txBody>
      </p:sp>
      <p:sp>
        <p:nvSpPr>
          <p:cNvPr id="17" name="Text 12"/>
          <p:cNvSpPr txBox="1"/>
          <p:nvPr/>
        </p:nvSpPr>
        <p:spPr>
          <a:xfrm>
            <a:off x="1645920" y="4965192"/>
            <a:ext cx="2240280" cy="548640"/>
          </a:xfrm>
          <a:prstGeom prst="rect">
            <a:avLst/>
          </a:prstGeom>
          <a:noFill/>
          <a:ln/>
        </p:spPr>
        <p:txBody>
          <a:bodyPr wrap="square" lIns="0" tIns="0" rIns="0" bIns="0" rtlCol="0" anchor="t"/>
          <a:lstStyle/>
          <a:p>
            <a:pPr indent="0" marL="0">
              <a:buNone/>
            </a:pPr>
            <a:r>
              <a:rPr lang="en-US" sz="1600" b="1" dirty="0">
                <a:solidFill>
                  <a:schemeClr val="tx2"/>
                </a:solidFill>
              </a:rPr>
              <a:t>Options and why the Power stack</a:t>
            </a:r>
            <a:endParaRPr lang="en-US" sz="1600" dirty="0"/>
          </a:p>
        </p:txBody>
      </p:sp>
      <p:sp>
        <p:nvSpPr>
          <p:cNvPr id="18" name="agenda3_card"/>
          <p:cNvSpPr/>
          <p:nvPr/>
        </p:nvSpPr>
        <p:spPr>
          <a:xfrm>
            <a:off x="4297680" y="1417320"/>
            <a:ext cx="3474720" cy="1234440"/>
          </a:xfrm>
          <a:prstGeom prst="roundRect">
            <a:avLst>
              <a:gd name="adj" fmla="val 8889"/>
            </a:avLst>
          </a:prstGeom>
          <a:solidFill>
            <a:schemeClr val="bg2"/>
          </a:solidFill>
          <a:ln w="12700">
            <a:solidFill>
              <a:schemeClr val="bg2"/>
            </a:solidFill>
            <a:prstDash val="solid"/>
          </a:ln>
          <a:effectLst>
            <a:outerShdw sx="100000" sy="100000" kx="0" ky="0" algn="bl" rotWithShape="0" blurRad="76200" dist="25400" dir="5400000">
              <a:srgbClr val="7F9DB9">
                <a:alpha val="25000"/>
              </a:srgbClr>
            </a:outerShdw>
          </a:effectLst>
        </p:spPr>
      </p:sp>
      <p:sp>
        <p:nvSpPr>
          <p:cNvPr id="19" name="agenda3_circle"/>
          <p:cNvSpPr/>
          <p:nvPr/>
        </p:nvSpPr>
        <p:spPr>
          <a:xfrm>
            <a:off x="4526280" y="1691640"/>
            <a:ext cx="685800" cy="685800"/>
          </a:xfrm>
          <a:prstGeom prst="ellipse">
            <a:avLst/>
          </a:prstGeom>
          <a:solidFill>
            <a:schemeClr val="accent1"/>
          </a:solidFill>
          <a:ln w="12700">
            <a:solidFill>
              <a:schemeClr val="accent1"/>
            </a:solidFill>
            <a:prstDash val="solid"/>
          </a:ln>
        </p:spPr>
      </p:sp>
      <p:pic>
        <p:nvPicPr>
          <p:cNvPr id="20" name="agenda3_icon" descr="preencoded.png">    </p:cNvPr>
          <p:cNvPicPr>
            <a:picLocks noChangeAspect="1"/>
          </p:cNvPicPr>
          <p:nvPr/>
        </p:nvPicPr>
        <p:blipFill>
          <a:blip r:embed="rId4"/>
          <a:stretch>
            <a:fillRect/>
          </a:stretch>
        </p:blipFill>
        <p:spPr>
          <a:xfrm>
            <a:off x="4690872" y="1856232"/>
            <a:ext cx="356616" cy="356616"/>
          </a:xfrm>
          <a:prstGeom prst="rect">
            <a:avLst/>
          </a:prstGeom>
        </p:spPr>
      </p:pic>
      <p:sp>
        <p:nvSpPr>
          <p:cNvPr id="21" name="Text 15"/>
          <p:cNvSpPr txBox="1"/>
          <p:nvPr/>
        </p:nvSpPr>
        <p:spPr>
          <a:xfrm>
            <a:off x="5394960" y="1645920"/>
            <a:ext cx="731520" cy="320040"/>
          </a:xfrm>
          <a:prstGeom prst="rect">
            <a:avLst/>
          </a:prstGeom>
          <a:noFill/>
          <a:ln/>
        </p:spPr>
        <p:txBody>
          <a:bodyPr wrap="square" lIns="0" tIns="0" rIns="0" bIns="0" rtlCol="0" anchor="t"/>
          <a:lstStyle/>
          <a:p>
            <a:pPr indent="0" marL="0">
              <a:buNone/>
            </a:pPr>
            <a:r>
              <a:rPr lang="en-US" sz="1400" b="1" dirty="0">
                <a:solidFill>
                  <a:schemeClr val="accent1"/>
                </a:solidFill>
              </a:rPr>
              <a:t>04</a:t>
            </a:r>
            <a:endParaRPr lang="en-US" sz="1400" dirty="0"/>
          </a:p>
        </p:txBody>
      </p:sp>
      <p:sp>
        <p:nvSpPr>
          <p:cNvPr id="22" name="Text 16"/>
          <p:cNvSpPr txBox="1"/>
          <p:nvPr/>
        </p:nvSpPr>
        <p:spPr>
          <a:xfrm>
            <a:off x="5394960" y="1947672"/>
            <a:ext cx="2240280" cy="548640"/>
          </a:xfrm>
          <a:prstGeom prst="rect">
            <a:avLst/>
          </a:prstGeom>
          <a:noFill/>
          <a:ln/>
        </p:spPr>
        <p:txBody>
          <a:bodyPr wrap="square" lIns="0" tIns="0" rIns="0" bIns="0" rtlCol="0" anchor="t"/>
          <a:lstStyle/>
          <a:p>
            <a:pPr indent="0" marL="0">
              <a:buNone/>
            </a:pPr>
            <a:r>
              <a:rPr lang="en-US" sz="1600" b="1" dirty="0">
                <a:solidFill>
                  <a:schemeClr val="tx2"/>
                </a:solidFill>
              </a:rPr>
              <a:t>How the solution works</a:t>
            </a:r>
            <a:endParaRPr lang="en-US" sz="1600" dirty="0"/>
          </a:p>
        </p:txBody>
      </p:sp>
      <p:sp>
        <p:nvSpPr>
          <p:cNvPr id="23" name="agenda4_card"/>
          <p:cNvSpPr/>
          <p:nvPr/>
        </p:nvSpPr>
        <p:spPr>
          <a:xfrm>
            <a:off x="4297680" y="2926080"/>
            <a:ext cx="3474720" cy="1234440"/>
          </a:xfrm>
          <a:prstGeom prst="roundRect">
            <a:avLst>
              <a:gd name="adj" fmla="val 8889"/>
            </a:avLst>
          </a:prstGeom>
          <a:solidFill>
            <a:schemeClr val="bg2"/>
          </a:solidFill>
          <a:ln w="12700">
            <a:solidFill>
              <a:schemeClr val="bg2"/>
            </a:solidFill>
            <a:prstDash val="solid"/>
          </a:ln>
          <a:effectLst>
            <a:outerShdw sx="100000" sy="100000" kx="0" ky="0" algn="bl" rotWithShape="0" blurRad="76200" dist="25400" dir="5400000">
              <a:srgbClr val="7F9DB9">
                <a:alpha val="25000"/>
              </a:srgbClr>
            </a:outerShdw>
          </a:effectLst>
        </p:spPr>
      </p:sp>
      <p:sp>
        <p:nvSpPr>
          <p:cNvPr id="24" name="agenda4_circle"/>
          <p:cNvSpPr/>
          <p:nvPr/>
        </p:nvSpPr>
        <p:spPr>
          <a:xfrm>
            <a:off x="4526280" y="3200400"/>
            <a:ext cx="685800" cy="685800"/>
          </a:xfrm>
          <a:prstGeom prst="ellipse">
            <a:avLst/>
          </a:prstGeom>
          <a:solidFill>
            <a:schemeClr val="accent1"/>
          </a:solidFill>
          <a:ln w="12700">
            <a:solidFill>
              <a:schemeClr val="accent1"/>
            </a:solidFill>
            <a:prstDash val="solid"/>
          </a:ln>
        </p:spPr>
      </p:sp>
      <p:pic>
        <p:nvPicPr>
          <p:cNvPr id="25" name="agenda4_icon" descr="preencoded.png">    </p:cNvPr>
          <p:cNvPicPr>
            <a:picLocks noChangeAspect="1"/>
          </p:cNvPicPr>
          <p:nvPr/>
        </p:nvPicPr>
        <p:blipFill>
          <a:blip r:embed="rId5"/>
          <a:stretch>
            <a:fillRect/>
          </a:stretch>
        </p:blipFill>
        <p:spPr>
          <a:xfrm>
            <a:off x="4690872" y="3364992"/>
            <a:ext cx="356616" cy="356616"/>
          </a:xfrm>
          <a:prstGeom prst="rect">
            <a:avLst/>
          </a:prstGeom>
        </p:spPr>
      </p:pic>
      <p:sp>
        <p:nvSpPr>
          <p:cNvPr id="26" name="Text 19"/>
          <p:cNvSpPr txBox="1"/>
          <p:nvPr/>
        </p:nvSpPr>
        <p:spPr>
          <a:xfrm>
            <a:off x="5394960" y="3154680"/>
            <a:ext cx="731520" cy="320040"/>
          </a:xfrm>
          <a:prstGeom prst="rect">
            <a:avLst/>
          </a:prstGeom>
          <a:noFill/>
          <a:ln/>
        </p:spPr>
        <p:txBody>
          <a:bodyPr wrap="square" lIns="0" tIns="0" rIns="0" bIns="0" rtlCol="0" anchor="t"/>
          <a:lstStyle/>
          <a:p>
            <a:pPr indent="0" marL="0">
              <a:buNone/>
            </a:pPr>
            <a:r>
              <a:rPr lang="en-US" sz="1400" b="1" dirty="0">
                <a:solidFill>
                  <a:schemeClr val="accent1"/>
                </a:solidFill>
              </a:rPr>
              <a:t>05</a:t>
            </a:r>
            <a:endParaRPr lang="en-US" sz="1400" dirty="0"/>
          </a:p>
        </p:txBody>
      </p:sp>
      <p:sp>
        <p:nvSpPr>
          <p:cNvPr id="27" name="Text 20"/>
          <p:cNvSpPr txBox="1"/>
          <p:nvPr/>
        </p:nvSpPr>
        <p:spPr>
          <a:xfrm>
            <a:off x="5394960" y="3456432"/>
            <a:ext cx="2240280" cy="548640"/>
          </a:xfrm>
          <a:prstGeom prst="rect">
            <a:avLst/>
          </a:prstGeom>
          <a:noFill/>
          <a:ln/>
        </p:spPr>
        <p:txBody>
          <a:bodyPr wrap="square" lIns="0" tIns="0" rIns="0" bIns="0" rtlCol="0" anchor="t"/>
          <a:lstStyle/>
          <a:p>
            <a:pPr indent="0" marL="0">
              <a:buNone/>
            </a:pPr>
            <a:r>
              <a:rPr lang="en-US" sz="1600" b="1" dirty="0">
                <a:solidFill>
                  <a:schemeClr val="tx2"/>
                </a:solidFill>
              </a:rPr>
              <a:t>What it delivers</a:t>
            </a:r>
            <a:endParaRPr lang="en-US" sz="1600" dirty="0"/>
          </a:p>
        </p:txBody>
      </p:sp>
      <p:sp>
        <p:nvSpPr>
          <p:cNvPr id="28" name="agenda5_card"/>
          <p:cNvSpPr/>
          <p:nvPr/>
        </p:nvSpPr>
        <p:spPr>
          <a:xfrm>
            <a:off x="4297680" y="4434840"/>
            <a:ext cx="3474720" cy="1234440"/>
          </a:xfrm>
          <a:prstGeom prst="roundRect">
            <a:avLst>
              <a:gd name="adj" fmla="val 8889"/>
            </a:avLst>
          </a:prstGeom>
          <a:solidFill>
            <a:schemeClr val="bg2"/>
          </a:solidFill>
          <a:ln w="12700">
            <a:solidFill>
              <a:schemeClr val="bg2"/>
            </a:solidFill>
            <a:prstDash val="solid"/>
          </a:ln>
          <a:effectLst>
            <a:outerShdw sx="100000" sy="100000" kx="0" ky="0" algn="bl" rotWithShape="0" blurRad="76200" dist="25400" dir="5400000">
              <a:srgbClr val="7F9DB9">
                <a:alpha val="25000"/>
              </a:srgbClr>
            </a:outerShdw>
          </a:effectLst>
        </p:spPr>
      </p:sp>
      <p:sp>
        <p:nvSpPr>
          <p:cNvPr id="29" name="agenda5_circle"/>
          <p:cNvSpPr/>
          <p:nvPr/>
        </p:nvSpPr>
        <p:spPr>
          <a:xfrm>
            <a:off x="4526280" y="4709160"/>
            <a:ext cx="685800" cy="685800"/>
          </a:xfrm>
          <a:prstGeom prst="ellipse">
            <a:avLst/>
          </a:prstGeom>
          <a:solidFill>
            <a:schemeClr val="accent1"/>
          </a:solidFill>
          <a:ln w="12700">
            <a:solidFill>
              <a:schemeClr val="accent1"/>
            </a:solidFill>
            <a:prstDash val="solid"/>
          </a:ln>
        </p:spPr>
      </p:sp>
      <p:pic>
        <p:nvPicPr>
          <p:cNvPr id="30" name="agenda5_icon" descr="preencoded.png">    </p:cNvPr>
          <p:cNvPicPr>
            <a:picLocks noChangeAspect="1"/>
          </p:cNvPicPr>
          <p:nvPr/>
        </p:nvPicPr>
        <p:blipFill>
          <a:blip r:embed="rId6"/>
          <a:stretch>
            <a:fillRect/>
          </a:stretch>
        </p:blipFill>
        <p:spPr>
          <a:xfrm>
            <a:off x="4690872" y="4873752"/>
            <a:ext cx="356616" cy="356616"/>
          </a:xfrm>
          <a:prstGeom prst="rect">
            <a:avLst/>
          </a:prstGeom>
        </p:spPr>
      </p:pic>
      <p:sp>
        <p:nvSpPr>
          <p:cNvPr id="31" name="Text 23"/>
          <p:cNvSpPr txBox="1"/>
          <p:nvPr/>
        </p:nvSpPr>
        <p:spPr>
          <a:xfrm>
            <a:off x="5394960" y="4663440"/>
            <a:ext cx="731520" cy="320040"/>
          </a:xfrm>
          <a:prstGeom prst="rect">
            <a:avLst/>
          </a:prstGeom>
          <a:noFill/>
          <a:ln/>
        </p:spPr>
        <p:txBody>
          <a:bodyPr wrap="square" lIns="0" tIns="0" rIns="0" bIns="0" rtlCol="0" anchor="t"/>
          <a:lstStyle/>
          <a:p>
            <a:pPr indent="0" marL="0">
              <a:buNone/>
            </a:pPr>
            <a:r>
              <a:rPr lang="en-US" sz="1400" b="1" dirty="0">
                <a:solidFill>
                  <a:schemeClr val="accent1"/>
                </a:solidFill>
              </a:rPr>
              <a:t>06</a:t>
            </a:r>
            <a:endParaRPr lang="en-US" sz="1400" dirty="0"/>
          </a:p>
        </p:txBody>
      </p:sp>
      <p:sp>
        <p:nvSpPr>
          <p:cNvPr id="32" name="Text 24"/>
          <p:cNvSpPr txBox="1"/>
          <p:nvPr/>
        </p:nvSpPr>
        <p:spPr>
          <a:xfrm>
            <a:off x="5394960" y="4965192"/>
            <a:ext cx="2240280" cy="548640"/>
          </a:xfrm>
          <a:prstGeom prst="rect">
            <a:avLst/>
          </a:prstGeom>
          <a:noFill/>
          <a:ln/>
        </p:spPr>
        <p:txBody>
          <a:bodyPr wrap="square" lIns="0" tIns="0" rIns="0" bIns="0" rtlCol="0" anchor="t"/>
          <a:lstStyle/>
          <a:p>
            <a:pPr indent="0" marL="0">
              <a:buNone/>
            </a:pPr>
            <a:r>
              <a:rPr lang="en-US" sz="1600" b="1" dirty="0">
                <a:solidFill>
                  <a:schemeClr val="tx2"/>
                </a:solidFill>
              </a:rPr>
              <a:t>Benefits and savings</a:t>
            </a:r>
            <a:endParaRPr lang="en-US" sz="1600" dirty="0"/>
          </a:p>
        </p:txBody>
      </p:sp>
      <p:sp>
        <p:nvSpPr>
          <p:cNvPr id="33" name="agenda6_card"/>
          <p:cNvSpPr/>
          <p:nvPr/>
        </p:nvSpPr>
        <p:spPr>
          <a:xfrm>
            <a:off x="8046720" y="1417320"/>
            <a:ext cx="3474720" cy="1234440"/>
          </a:xfrm>
          <a:prstGeom prst="roundRect">
            <a:avLst>
              <a:gd name="adj" fmla="val 8889"/>
            </a:avLst>
          </a:prstGeom>
          <a:solidFill>
            <a:schemeClr val="bg2"/>
          </a:solidFill>
          <a:ln w="12700">
            <a:solidFill>
              <a:schemeClr val="bg2"/>
            </a:solidFill>
            <a:prstDash val="solid"/>
          </a:ln>
          <a:effectLst>
            <a:outerShdw sx="100000" sy="100000" kx="0" ky="0" algn="bl" rotWithShape="0" blurRad="76200" dist="25400" dir="5400000">
              <a:srgbClr val="7F9DB9">
                <a:alpha val="25000"/>
              </a:srgbClr>
            </a:outerShdw>
          </a:effectLst>
        </p:spPr>
      </p:sp>
      <p:sp>
        <p:nvSpPr>
          <p:cNvPr id="34" name="agenda6_circle"/>
          <p:cNvSpPr/>
          <p:nvPr/>
        </p:nvSpPr>
        <p:spPr>
          <a:xfrm>
            <a:off x="8275320" y="1691640"/>
            <a:ext cx="685800" cy="685800"/>
          </a:xfrm>
          <a:prstGeom prst="ellipse">
            <a:avLst/>
          </a:prstGeom>
          <a:solidFill>
            <a:schemeClr val="accent1"/>
          </a:solidFill>
          <a:ln w="12700">
            <a:solidFill>
              <a:schemeClr val="accent1"/>
            </a:solidFill>
            <a:prstDash val="solid"/>
          </a:ln>
        </p:spPr>
      </p:sp>
      <p:pic>
        <p:nvPicPr>
          <p:cNvPr id="35" name="agenda6_icon" descr="preencoded.png">    </p:cNvPr>
          <p:cNvPicPr>
            <a:picLocks noChangeAspect="1"/>
          </p:cNvPicPr>
          <p:nvPr/>
        </p:nvPicPr>
        <p:blipFill>
          <a:blip r:embed="rId7"/>
          <a:stretch>
            <a:fillRect/>
          </a:stretch>
        </p:blipFill>
        <p:spPr>
          <a:xfrm>
            <a:off x="8439912" y="1856232"/>
            <a:ext cx="356616" cy="356616"/>
          </a:xfrm>
          <a:prstGeom prst="rect">
            <a:avLst/>
          </a:prstGeom>
        </p:spPr>
      </p:pic>
      <p:sp>
        <p:nvSpPr>
          <p:cNvPr id="36" name="Text 27"/>
          <p:cNvSpPr txBox="1"/>
          <p:nvPr/>
        </p:nvSpPr>
        <p:spPr>
          <a:xfrm>
            <a:off x="9144000" y="1645920"/>
            <a:ext cx="731520" cy="320040"/>
          </a:xfrm>
          <a:prstGeom prst="rect">
            <a:avLst/>
          </a:prstGeom>
          <a:noFill/>
          <a:ln/>
        </p:spPr>
        <p:txBody>
          <a:bodyPr wrap="square" lIns="0" tIns="0" rIns="0" bIns="0" rtlCol="0" anchor="t"/>
          <a:lstStyle/>
          <a:p>
            <a:pPr indent="0" marL="0">
              <a:buNone/>
            </a:pPr>
            <a:r>
              <a:rPr lang="en-US" sz="1400" b="1" dirty="0">
                <a:solidFill>
                  <a:schemeClr val="accent1"/>
                </a:solidFill>
              </a:rPr>
              <a:t>07</a:t>
            </a:r>
            <a:endParaRPr lang="en-US" sz="1400" dirty="0"/>
          </a:p>
        </p:txBody>
      </p:sp>
      <p:sp>
        <p:nvSpPr>
          <p:cNvPr id="37" name="Text 28"/>
          <p:cNvSpPr txBox="1"/>
          <p:nvPr/>
        </p:nvSpPr>
        <p:spPr>
          <a:xfrm>
            <a:off x="9144000" y="1947672"/>
            <a:ext cx="2240280" cy="548640"/>
          </a:xfrm>
          <a:prstGeom prst="rect">
            <a:avLst/>
          </a:prstGeom>
          <a:noFill/>
          <a:ln/>
        </p:spPr>
        <p:txBody>
          <a:bodyPr wrap="square" lIns="0" tIns="0" rIns="0" bIns="0" rtlCol="0" anchor="t"/>
          <a:lstStyle/>
          <a:p>
            <a:pPr indent="0" marL="0">
              <a:buNone/>
            </a:pPr>
            <a:r>
              <a:rPr lang="en-US" sz="1600" b="1" dirty="0">
                <a:solidFill>
                  <a:schemeClr val="tx2"/>
                </a:solidFill>
              </a:rPr>
              <a:t>Tags and ownership</a:t>
            </a:r>
            <a:endParaRPr lang="en-US" sz="1600" dirty="0"/>
          </a:p>
        </p:txBody>
      </p:sp>
      <p:sp>
        <p:nvSpPr>
          <p:cNvPr id="38" name="agenda7_card"/>
          <p:cNvSpPr/>
          <p:nvPr/>
        </p:nvSpPr>
        <p:spPr>
          <a:xfrm>
            <a:off x="8046720" y="2926080"/>
            <a:ext cx="3474720" cy="1234440"/>
          </a:xfrm>
          <a:prstGeom prst="roundRect">
            <a:avLst>
              <a:gd name="adj" fmla="val 8889"/>
            </a:avLst>
          </a:prstGeom>
          <a:solidFill>
            <a:schemeClr val="bg2"/>
          </a:solidFill>
          <a:ln w="12700">
            <a:solidFill>
              <a:schemeClr val="bg2"/>
            </a:solidFill>
            <a:prstDash val="solid"/>
          </a:ln>
          <a:effectLst>
            <a:outerShdw sx="100000" sy="100000" kx="0" ky="0" algn="bl" rotWithShape="0" blurRad="76200" dist="25400" dir="5400000">
              <a:srgbClr val="7F9DB9">
                <a:alpha val="25000"/>
              </a:srgbClr>
            </a:outerShdw>
          </a:effectLst>
        </p:spPr>
      </p:sp>
      <p:sp>
        <p:nvSpPr>
          <p:cNvPr id="39" name="agenda7_circle"/>
          <p:cNvSpPr/>
          <p:nvPr/>
        </p:nvSpPr>
        <p:spPr>
          <a:xfrm>
            <a:off x="8275320" y="3200400"/>
            <a:ext cx="685800" cy="685800"/>
          </a:xfrm>
          <a:prstGeom prst="ellipse">
            <a:avLst/>
          </a:prstGeom>
          <a:solidFill>
            <a:schemeClr val="accent1"/>
          </a:solidFill>
          <a:ln w="12700">
            <a:solidFill>
              <a:schemeClr val="accent1"/>
            </a:solidFill>
            <a:prstDash val="solid"/>
          </a:ln>
        </p:spPr>
      </p:sp>
      <p:pic>
        <p:nvPicPr>
          <p:cNvPr id="40" name="agenda7_icon" descr="preencoded.png">    </p:cNvPr>
          <p:cNvPicPr>
            <a:picLocks noChangeAspect="1"/>
          </p:cNvPicPr>
          <p:nvPr/>
        </p:nvPicPr>
        <p:blipFill>
          <a:blip r:embed="rId8"/>
          <a:stretch>
            <a:fillRect/>
          </a:stretch>
        </p:blipFill>
        <p:spPr>
          <a:xfrm>
            <a:off x="8439912" y="3364992"/>
            <a:ext cx="356616" cy="356616"/>
          </a:xfrm>
          <a:prstGeom prst="rect">
            <a:avLst/>
          </a:prstGeom>
        </p:spPr>
      </p:pic>
      <p:sp>
        <p:nvSpPr>
          <p:cNvPr id="41" name="Text 31"/>
          <p:cNvSpPr txBox="1"/>
          <p:nvPr/>
        </p:nvSpPr>
        <p:spPr>
          <a:xfrm>
            <a:off x="9144000" y="3154680"/>
            <a:ext cx="731520" cy="320040"/>
          </a:xfrm>
          <a:prstGeom prst="rect">
            <a:avLst/>
          </a:prstGeom>
          <a:noFill/>
          <a:ln/>
        </p:spPr>
        <p:txBody>
          <a:bodyPr wrap="square" lIns="0" tIns="0" rIns="0" bIns="0" rtlCol="0" anchor="t"/>
          <a:lstStyle/>
          <a:p>
            <a:pPr indent="0" marL="0">
              <a:buNone/>
            </a:pPr>
            <a:r>
              <a:rPr lang="en-US" sz="1400" b="1" dirty="0">
                <a:solidFill>
                  <a:schemeClr val="accent1"/>
                </a:solidFill>
              </a:rPr>
              <a:t>08</a:t>
            </a:r>
            <a:endParaRPr lang="en-US" sz="1400" dirty="0"/>
          </a:p>
        </p:txBody>
      </p:sp>
      <p:sp>
        <p:nvSpPr>
          <p:cNvPr id="42" name="Text 32"/>
          <p:cNvSpPr txBox="1"/>
          <p:nvPr/>
        </p:nvSpPr>
        <p:spPr>
          <a:xfrm>
            <a:off x="9144000" y="3456432"/>
            <a:ext cx="2240280" cy="548640"/>
          </a:xfrm>
          <a:prstGeom prst="rect">
            <a:avLst/>
          </a:prstGeom>
          <a:noFill/>
          <a:ln/>
        </p:spPr>
        <p:txBody>
          <a:bodyPr wrap="square" lIns="0" tIns="0" rIns="0" bIns="0" rtlCol="0" anchor="t"/>
          <a:lstStyle/>
          <a:p>
            <a:pPr indent="0" marL="0">
              <a:buNone/>
            </a:pPr>
            <a:r>
              <a:rPr lang="en-US" sz="1600" b="1" dirty="0">
                <a:solidFill>
                  <a:schemeClr val="tx2"/>
                </a:solidFill>
              </a:rPr>
              <a:t>Future path</a:t>
            </a:r>
            <a:endParaRPr lang="en-US" sz="1600" dirty="0"/>
          </a:p>
        </p:txBody>
      </p:sp>
      <p:sp>
        <p:nvSpPr>
          <p:cNvPr id="43" name="agenda8_card"/>
          <p:cNvSpPr/>
          <p:nvPr/>
        </p:nvSpPr>
        <p:spPr>
          <a:xfrm>
            <a:off x="8046720" y="4434840"/>
            <a:ext cx="3474720" cy="1234440"/>
          </a:xfrm>
          <a:prstGeom prst="roundRect">
            <a:avLst>
              <a:gd name="adj" fmla="val 8889"/>
            </a:avLst>
          </a:prstGeom>
          <a:solidFill>
            <a:schemeClr val="bg2"/>
          </a:solidFill>
          <a:ln w="12700">
            <a:solidFill>
              <a:schemeClr val="bg2"/>
            </a:solidFill>
            <a:prstDash val="solid"/>
          </a:ln>
          <a:effectLst>
            <a:outerShdw sx="100000" sy="100000" kx="0" ky="0" algn="bl" rotWithShape="0" blurRad="76200" dist="25400" dir="5400000">
              <a:srgbClr val="7F9DB9">
                <a:alpha val="25000"/>
              </a:srgbClr>
            </a:outerShdw>
          </a:effectLst>
        </p:spPr>
      </p:sp>
      <p:sp>
        <p:nvSpPr>
          <p:cNvPr id="44" name="agenda8_circle"/>
          <p:cNvSpPr/>
          <p:nvPr/>
        </p:nvSpPr>
        <p:spPr>
          <a:xfrm>
            <a:off x="8275320" y="4709160"/>
            <a:ext cx="685800" cy="685800"/>
          </a:xfrm>
          <a:prstGeom prst="ellipse">
            <a:avLst/>
          </a:prstGeom>
          <a:solidFill>
            <a:schemeClr val="accent1"/>
          </a:solidFill>
          <a:ln w="12700">
            <a:solidFill>
              <a:schemeClr val="accent1"/>
            </a:solidFill>
            <a:prstDash val="solid"/>
          </a:ln>
        </p:spPr>
      </p:sp>
      <p:pic>
        <p:nvPicPr>
          <p:cNvPr id="45" name="agenda8_icon" descr="preencoded.png">    </p:cNvPr>
          <p:cNvPicPr>
            <a:picLocks noChangeAspect="1"/>
          </p:cNvPicPr>
          <p:nvPr/>
        </p:nvPicPr>
        <p:blipFill>
          <a:blip r:embed="rId9"/>
          <a:stretch>
            <a:fillRect/>
          </a:stretch>
        </p:blipFill>
        <p:spPr>
          <a:xfrm>
            <a:off x="8439912" y="4873752"/>
            <a:ext cx="356616" cy="356616"/>
          </a:xfrm>
          <a:prstGeom prst="rect">
            <a:avLst/>
          </a:prstGeom>
        </p:spPr>
      </p:pic>
      <p:sp>
        <p:nvSpPr>
          <p:cNvPr id="46" name="Text 35"/>
          <p:cNvSpPr txBox="1"/>
          <p:nvPr/>
        </p:nvSpPr>
        <p:spPr>
          <a:xfrm>
            <a:off x="9144000" y="4663440"/>
            <a:ext cx="731520" cy="320040"/>
          </a:xfrm>
          <a:prstGeom prst="rect">
            <a:avLst/>
          </a:prstGeom>
          <a:noFill/>
          <a:ln/>
        </p:spPr>
        <p:txBody>
          <a:bodyPr wrap="square" lIns="0" tIns="0" rIns="0" bIns="0" rtlCol="0" anchor="t"/>
          <a:lstStyle/>
          <a:p>
            <a:pPr indent="0" marL="0">
              <a:buNone/>
            </a:pPr>
            <a:r>
              <a:rPr lang="en-US" sz="1400" b="1" dirty="0">
                <a:solidFill>
                  <a:schemeClr val="accent1"/>
                </a:solidFill>
              </a:rPr>
              <a:t>09</a:t>
            </a:r>
            <a:endParaRPr lang="en-US" sz="1400" dirty="0"/>
          </a:p>
        </p:txBody>
      </p:sp>
      <p:sp>
        <p:nvSpPr>
          <p:cNvPr id="47" name="Text 36"/>
          <p:cNvSpPr txBox="1"/>
          <p:nvPr/>
        </p:nvSpPr>
        <p:spPr>
          <a:xfrm>
            <a:off x="9144000" y="4965192"/>
            <a:ext cx="2240280" cy="548640"/>
          </a:xfrm>
          <a:prstGeom prst="rect">
            <a:avLst/>
          </a:prstGeom>
          <a:noFill/>
          <a:ln/>
        </p:spPr>
        <p:txBody>
          <a:bodyPr wrap="square" lIns="0" tIns="0" rIns="0" bIns="0" rtlCol="0" anchor="t"/>
          <a:lstStyle/>
          <a:p>
            <a:pPr indent="0" marL="0">
              <a:buNone/>
            </a:pPr>
            <a:r>
              <a:rPr lang="en-US" sz="1600" b="1" dirty="0">
                <a:solidFill>
                  <a:schemeClr val="tx2"/>
                </a:solidFill>
              </a:rPr>
              <a:t>How we work together</a:t>
            </a:r>
            <a:endParaRPr lang="en-US" sz="16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2"/>
                </a:solidFill>
              </a:rPr>
              <a:t>Today an app registration is a 10-day ticket</a:t>
            </a:r>
            <a:endParaRPr lang="en-US" sz="3000" dirty="0"/>
          </a:p>
        </p:txBody>
      </p:sp>
      <p:sp>
        <p:nvSpPr>
          <p:cNvPr id="3" name="a1_pain0_card"/>
          <p:cNvSpPr/>
          <p:nvPr/>
        </p:nvSpPr>
        <p:spPr>
          <a:xfrm>
            <a:off x="548640" y="1463040"/>
            <a:ext cx="2606040" cy="3291840"/>
          </a:xfrm>
          <a:prstGeom prst="roundRect">
            <a:avLst>
              <a:gd name="adj" fmla="val 4211"/>
            </a:avLst>
          </a:prstGeom>
          <a:solidFill>
            <a:schemeClr val="bg2"/>
          </a:solidFill>
          <a:ln w="12700">
            <a:solidFill>
              <a:schemeClr val="bg2"/>
            </a:solidFill>
            <a:prstDash val="solid"/>
          </a:ln>
          <a:effectLst>
            <a:outerShdw sx="100000" sy="100000" kx="0" ky="0" algn="bl" rotWithShape="0" blurRad="76200" dist="25400" dir="5400000">
              <a:srgbClr val="7F9DB9">
                <a:alpha val="25000"/>
              </a:srgbClr>
            </a:outerShdw>
          </a:effectLst>
        </p:spPr>
      </p:sp>
      <p:sp>
        <p:nvSpPr>
          <p:cNvPr id="4" name="a1_pain0_circle"/>
          <p:cNvSpPr/>
          <p:nvPr/>
        </p:nvSpPr>
        <p:spPr>
          <a:xfrm>
            <a:off x="822960" y="1783080"/>
            <a:ext cx="731520" cy="731520"/>
          </a:xfrm>
          <a:prstGeom prst="ellipse">
            <a:avLst/>
          </a:prstGeom>
          <a:solidFill>
            <a:schemeClr val="accent3"/>
          </a:solidFill>
          <a:ln w="12700">
            <a:solidFill>
              <a:schemeClr val="accent3"/>
            </a:solidFill>
            <a:prstDash val="solid"/>
          </a:ln>
        </p:spPr>
      </p:sp>
      <p:pic>
        <p:nvPicPr>
          <p:cNvPr id="5" name="a1_pain0_icon" descr="preencoded.png">    </p:cNvPr>
          <p:cNvPicPr>
            <a:picLocks noChangeAspect="1"/>
          </p:cNvPicPr>
          <p:nvPr/>
        </p:nvPicPr>
        <p:blipFill>
          <a:blip r:embed="rId1"/>
          <a:stretch>
            <a:fillRect/>
          </a:stretch>
        </p:blipFill>
        <p:spPr>
          <a:xfrm>
            <a:off x="998525" y="1958645"/>
            <a:ext cx="380390" cy="380390"/>
          </a:xfrm>
          <a:prstGeom prst="rect">
            <a:avLst/>
          </a:prstGeom>
        </p:spPr>
      </p:pic>
      <p:sp>
        <p:nvSpPr>
          <p:cNvPr id="6" name="a1_pain0_stat"/>
          <p:cNvSpPr txBox="1"/>
          <p:nvPr/>
        </p:nvSpPr>
        <p:spPr>
          <a:xfrm>
            <a:off x="822960" y="2743200"/>
            <a:ext cx="2194560" cy="548640"/>
          </a:xfrm>
          <a:prstGeom prst="rect">
            <a:avLst/>
          </a:prstGeom>
          <a:noFill/>
          <a:ln/>
        </p:spPr>
        <p:txBody>
          <a:bodyPr wrap="square" lIns="0" tIns="0" rIns="0" bIns="0" rtlCol="0" anchor="t"/>
          <a:lstStyle/>
          <a:p>
            <a:pPr indent="0" marL="0">
              <a:buNone/>
            </a:pPr>
            <a:r>
              <a:rPr lang="en-US" sz="2400" b="1" dirty="0">
                <a:solidFill>
                  <a:schemeClr val="tx2"/>
                </a:solidFill>
              </a:rPr>
              <a:t>10 working days</a:t>
            </a:r>
            <a:endParaRPr lang="en-US" sz="2400" dirty="0"/>
          </a:p>
        </p:txBody>
      </p:sp>
      <p:sp>
        <p:nvSpPr>
          <p:cNvPr id="7" name="a1_pain0_text"/>
          <p:cNvSpPr txBox="1"/>
          <p:nvPr/>
        </p:nvSpPr>
        <p:spPr>
          <a:xfrm>
            <a:off x="822960" y="3337560"/>
            <a:ext cx="2148840" cy="1188720"/>
          </a:xfrm>
          <a:prstGeom prst="rect">
            <a:avLst/>
          </a:prstGeom>
          <a:noFill/>
          <a:ln/>
        </p:spPr>
        <p:txBody>
          <a:bodyPr wrap="square" lIns="0" tIns="0" rIns="0" bIns="0" rtlCol="0" anchor="t"/>
          <a:lstStyle/>
          <a:p>
            <a:pPr indent="0" marL="0">
              <a:buNone/>
            </a:pPr>
            <a:r>
              <a:rPr lang="en-US" sz="1400" dirty="0">
                <a:solidFill>
                  <a:schemeClr val="tx1"/>
                </a:solidFill>
              </a:rPr>
              <a:t>average time from request to a usable app registration</a:t>
            </a:r>
            <a:endParaRPr lang="en-US" sz="1400" dirty="0"/>
          </a:p>
        </p:txBody>
      </p:sp>
      <p:sp>
        <p:nvSpPr>
          <p:cNvPr id="8" name="a2_pain1_card"/>
          <p:cNvSpPr/>
          <p:nvPr/>
        </p:nvSpPr>
        <p:spPr>
          <a:xfrm>
            <a:off x="3355848" y="1463040"/>
            <a:ext cx="2606040" cy="3291840"/>
          </a:xfrm>
          <a:prstGeom prst="roundRect">
            <a:avLst>
              <a:gd name="adj" fmla="val 4211"/>
            </a:avLst>
          </a:prstGeom>
          <a:solidFill>
            <a:schemeClr val="bg2"/>
          </a:solidFill>
          <a:ln w="12700">
            <a:solidFill>
              <a:schemeClr val="bg2"/>
            </a:solidFill>
            <a:prstDash val="solid"/>
          </a:ln>
          <a:effectLst>
            <a:outerShdw sx="100000" sy="100000" kx="0" ky="0" algn="bl" rotWithShape="0" blurRad="76200" dist="25400" dir="5400000">
              <a:srgbClr val="7F9DB9">
                <a:alpha val="25000"/>
              </a:srgbClr>
            </a:outerShdw>
          </a:effectLst>
        </p:spPr>
      </p:sp>
      <p:sp>
        <p:nvSpPr>
          <p:cNvPr id="9" name="a2_pain1_circle"/>
          <p:cNvSpPr/>
          <p:nvPr/>
        </p:nvSpPr>
        <p:spPr>
          <a:xfrm>
            <a:off x="3630168" y="1783080"/>
            <a:ext cx="731520" cy="731520"/>
          </a:xfrm>
          <a:prstGeom prst="ellipse">
            <a:avLst/>
          </a:prstGeom>
          <a:solidFill>
            <a:schemeClr val="accent3"/>
          </a:solidFill>
          <a:ln w="12700">
            <a:solidFill>
              <a:schemeClr val="accent3"/>
            </a:solidFill>
            <a:prstDash val="solid"/>
          </a:ln>
        </p:spPr>
      </p:sp>
      <p:pic>
        <p:nvPicPr>
          <p:cNvPr id="10" name="a2_pain1_icon" descr="preencoded.png">    </p:cNvPr>
          <p:cNvPicPr>
            <a:picLocks noChangeAspect="1"/>
          </p:cNvPicPr>
          <p:nvPr/>
        </p:nvPicPr>
        <p:blipFill>
          <a:blip r:embed="rId2"/>
          <a:stretch>
            <a:fillRect/>
          </a:stretch>
        </p:blipFill>
        <p:spPr>
          <a:xfrm>
            <a:off x="3805733" y="1958645"/>
            <a:ext cx="380390" cy="380390"/>
          </a:xfrm>
          <a:prstGeom prst="rect">
            <a:avLst/>
          </a:prstGeom>
        </p:spPr>
      </p:pic>
      <p:sp>
        <p:nvSpPr>
          <p:cNvPr id="11" name="a2_pain1_stat"/>
          <p:cNvSpPr txBox="1"/>
          <p:nvPr/>
        </p:nvSpPr>
        <p:spPr>
          <a:xfrm>
            <a:off x="3630168" y="2743200"/>
            <a:ext cx="2194560" cy="548640"/>
          </a:xfrm>
          <a:prstGeom prst="rect">
            <a:avLst/>
          </a:prstGeom>
          <a:noFill/>
          <a:ln/>
        </p:spPr>
        <p:txBody>
          <a:bodyPr wrap="square" lIns="0" tIns="0" rIns="0" bIns="0" rtlCol="0" anchor="t"/>
          <a:lstStyle/>
          <a:p>
            <a:pPr indent="0" marL="0">
              <a:buNone/>
            </a:pPr>
            <a:r>
              <a:rPr lang="en-US" sz="2400" b="1" dirty="0">
                <a:solidFill>
                  <a:schemeClr val="tx2"/>
                </a:solidFill>
              </a:rPr>
              <a:t>1 person-day</a:t>
            </a:r>
            <a:endParaRPr lang="en-US" sz="2400" dirty="0"/>
          </a:p>
        </p:txBody>
      </p:sp>
      <p:sp>
        <p:nvSpPr>
          <p:cNvPr id="12" name="a2_pain1_text"/>
          <p:cNvSpPr txBox="1"/>
          <p:nvPr/>
        </p:nvSpPr>
        <p:spPr>
          <a:xfrm>
            <a:off x="3630168" y="3337560"/>
            <a:ext cx="2148840" cy="1188720"/>
          </a:xfrm>
          <a:prstGeom prst="rect">
            <a:avLst/>
          </a:prstGeom>
          <a:noFill/>
          <a:ln/>
        </p:spPr>
        <p:txBody>
          <a:bodyPr wrap="square" lIns="0" tIns="0" rIns="0" bIns="0" rtlCol="0" anchor="t"/>
          <a:lstStyle/>
          <a:p>
            <a:pPr indent="0" marL="0">
              <a:buNone/>
            </a:pPr>
            <a:r>
              <a:rPr lang="en-US" sz="1400" dirty="0">
                <a:solidFill>
                  <a:schemeClr val="tx1"/>
                </a:solidFill>
              </a:rPr>
              <a:t>of Entra ID team effort for every request</a:t>
            </a:r>
            <a:endParaRPr lang="en-US" sz="1400" dirty="0"/>
          </a:p>
        </p:txBody>
      </p:sp>
      <p:sp>
        <p:nvSpPr>
          <p:cNvPr id="13" name="a3_pain2_card"/>
          <p:cNvSpPr/>
          <p:nvPr/>
        </p:nvSpPr>
        <p:spPr>
          <a:xfrm>
            <a:off x="6163056" y="1463040"/>
            <a:ext cx="2606040" cy="3291840"/>
          </a:xfrm>
          <a:prstGeom prst="roundRect">
            <a:avLst>
              <a:gd name="adj" fmla="val 4211"/>
            </a:avLst>
          </a:prstGeom>
          <a:solidFill>
            <a:schemeClr val="bg2"/>
          </a:solidFill>
          <a:ln w="12700">
            <a:solidFill>
              <a:schemeClr val="bg2"/>
            </a:solidFill>
            <a:prstDash val="solid"/>
          </a:ln>
          <a:effectLst>
            <a:outerShdw sx="100000" sy="100000" kx="0" ky="0" algn="bl" rotWithShape="0" blurRad="76200" dist="25400" dir="5400000">
              <a:srgbClr val="7F9DB9">
                <a:alpha val="25000"/>
              </a:srgbClr>
            </a:outerShdw>
          </a:effectLst>
        </p:spPr>
      </p:sp>
      <p:sp>
        <p:nvSpPr>
          <p:cNvPr id="14" name="a3_pain2_circle"/>
          <p:cNvSpPr/>
          <p:nvPr/>
        </p:nvSpPr>
        <p:spPr>
          <a:xfrm>
            <a:off x="6437376" y="1783080"/>
            <a:ext cx="731520" cy="731520"/>
          </a:xfrm>
          <a:prstGeom prst="ellipse">
            <a:avLst/>
          </a:prstGeom>
          <a:solidFill>
            <a:schemeClr val="accent3"/>
          </a:solidFill>
          <a:ln w="12700">
            <a:solidFill>
              <a:schemeClr val="accent3"/>
            </a:solidFill>
            <a:prstDash val="solid"/>
          </a:ln>
        </p:spPr>
      </p:sp>
      <p:pic>
        <p:nvPicPr>
          <p:cNvPr id="15" name="a3_pain2_icon" descr="preencoded.png">    </p:cNvPr>
          <p:cNvPicPr>
            <a:picLocks noChangeAspect="1"/>
          </p:cNvPicPr>
          <p:nvPr/>
        </p:nvPicPr>
        <p:blipFill>
          <a:blip r:embed="rId3"/>
          <a:stretch>
            <a:fillRect/>
          </a:stretch>
        </p:blipFill>
        <p:spPr>
          <a:xfrm>
            <a:off x="6612941" y="1958645"/>
            <a:ext cx="380390" cy="380390"/>
          </a:xfrm>
          <a:prstGeom prst="rect">
            <a:avLst/>
          </a:prstGeom>
        </p:spPr>
      </p:pic>
      <p:sp>
        <p:nvSpPr>
          <p:cNvPr id="16" name="a3_pain2_stat"/>
          <p:cNvSpPr txBox="1"/>
          <p:nvPr/>
        </p:nvSpPr>
        <p:spPr>
          <a:xfrm>
            <a:off x="6437376" y="2743200"/>
            <a:ext cx="2194560" cy="548640"/>
          </a:xfrm>
          <a:prstGeom prst="rect">
            <a:avLst/>
          </a:prstGeom>
          <a:noFill/>
          <a:ln/>
        </p:spPr>
        <p:txBody>
          <a:bodyPr wrap="square" lIns="0" tIns="0" rIns="0" bIns="0" rtlCol="0" anchor="t"/>
          <a:lstStyle/>
          <a:p>
            <a:pPr indent="0" marL="0">
              <a:buNone/>
            </a:pPr>
            <a:r>
              <a:rPr lang="en-US" sz="2400" b="1" dirty="0">
                <a:solidFill>
                  <a:schemeClr val="tx2"/>
                </a:solidFill>
              </a:rPr>
              <a:t>Back-and-forth</a:t>
            </a:r>
            <a:endParaRPr lang="en-US" sz="2400" dirty="0"/>
          </a:p>
        </p:txBody>
      </p:sp>
      <p:sp>
        <p:nvSpPr>
          <p:cNvPr id="17" name="a3_pain2_text"/>
          <p:cNvSpPr txBox="1"/>
          <p:nvPr/>
        </p:nvSpPr>
        <p:spPr>
          <a:xfrm>
            <a:off x="6437376" y="3337560"/>
            <a:ext cx="2148840" cy="1188720"/>
          </a:xfrm>
          <a:prstGeom prst="rect">
            <a:avLst/>
          </a:prstGeom>
          <a:noFill/>
          <a:ln/>
        </p:spPr>
        <p:txBody>
          <a:bodyPr wrap="square" lIns="0" tIns="0" rIns="0" bIns="0" rtlCol="0" anchor="t"/>
          <a:lstStyle/>
          <a:p>
            <a:pPr indent="0" marL="0">
              <a:buNone/>
            </a:pPr>
            <a:r>
              <a:rPr lang="en-US" sz="1400" dirty="0">
                <a:solidFill>
                  <a:schemeClr val="tx1"/>
                </a:solidFill>
              </a:rPr>
              <a:t>requirements gathered over email and tickets, often several rounds</a:t>
            </a:r>
            <a:endParaRPr lang="en-US" sz="1400" dirty="0"/>
          </a:p>
        </p:txBody>
      </p:sp>
      <p:sp>
        <p:nvSpPr>
          <p:cNvPr id="18" name="a4_pain3_card"/>
          <p:cNvSpPr/>
          <p:nvPr/>
        </p:nvSpPr>
        <p:spPr>
          <a:xfrm>
            <a:off x="8970264" y="1463040"/>
            <a:ext cx="2606040" cy="3291840"/>
          </a:xfrm>
          <a:prstGeom prst="roundRect">
            <a:avLst>
              <a:gd name="adj" fmla="val 4211"/>
            </a:avLst>
          </a:prstGeom>
          <a:solidFill>
            <a:schemeClr val="bg2"/>
          </a:solidFill>
          <a:ln w="12700">
            <a:solidFill>
              <a:schemeClr val="bg2"/>
            </a:solidFill>
            <a:prstDash val="solid"/>
          </a:ln>
          <a:effectLst>
            <a:outerShdw sx="100000" sy="100000" kx="0" ky="0" algn="bl" rotWithShape="0" blurRad="76200" dist="25400" dir="5400000">
              <a:srgbClr val="7F9DB9">
                <a:alpha val="25000"/>
              </a:srgbClr>
            </a:outerShdw>
          </a:effectLst>
        </p:spPr>
      </p:sp>
      <p:sp>
        <p:nvSpPr>
          <p:cNvPr id="19" name="a4_pain3_circle"/>
          <p:cNvSpPr/>
          <p:nvPr/>
        </p:nvSpPr>
        <p:spPr>
          <a:xfrm>
            <a:off x="9244584" y="1783080"/>
            <a:ext cx="731520" cy="731520"/>
          </a:xfrm>
          <a:prstGeom prst="ellipse">
            <a:avLst/>
          </a:prstGeom>
          <a:solidFill>
            <a:schemeClr val="accent3"/>
          </a:solidFill>
          <a:ln w="12700">
            <a:solidFill>
              <a:schemeClr val="accent3"/>
            </a:solidFill>
            <a:prstDash val="solid"/>
          </a:ln>
        </p:spPr>
      </p:sp>
      <p:pic>
        <p:nvPicPr>
          <p:cNvPr id="20" name="a4_pain3_icon" descr="preencoded.png">    </p:cNvPr>
          <p:cNvPicPr>
            <a:picLocks noChangeAspect="1"/>
          </p:cNvPicPr>
          <p:nvPr/>
        </p:nvPicPr>
        <p:blipFill>
          <a:blip r:embed="rId4"/>
          <a:stretch>
            <a:fillRect/>
          </a:stretch>
        </p:blipFill>
        <p:spPr>
          <a:xfrm>
            <a:off x="9420149" y="1958645"/>
            <a:ext cx="380390" cy="380390"/>
          </a:xfrm>
          <a:prstGeom prst="rect">
            <a:avLst/>
          </a:prstGeom>
        </p:spPr>
      </p:pic>
      <p:sp>
        <p:nvSpPr>
          <p:cNvPr id="21" name="a4_pain3_stat"/>
          <p:cNvSpPr txBox="1"/>
          <p:nvPr/>
        </p:nvSpPr>
        <p:spPr>
          <a:xfrm>
            <a:off x="9244584" y="2743200"/>
            <a:ext cx="2194560" cy="548640"/>
          </a:xfrm>
          <a:prstGeom prst="rect">
            <a:avLst/>
          </a:prstGeom>
          <a:noFill/>
          <a:ln/>
        </p:spPr>
        <p:txBody>
          <a:bodyPr wrap="square" lIns="0" tIns="0" rIns="0" bIns="0" rtlCol="0" anchor="t"/>
          <a:lstStyle/>
          <a:p>
            <a:pPr indent="0" marL="0">
              <a:buNone/>
            </a:pPr>
            <a:r>
              <a:rPr lang="en-US" sz="2400" b="1" dirty="0">
                <a:solidFill>
                  <a:schemeClr val="tx2"/>
                </a:solidFill>
              </a:rPr>
              <a:t>No visibility</a:t>
            </a:r>
            <a:endParaRPr lang="en-US" sz="2400" dirty="0"/>
          </a:p>
        </p:txBody>
      </p:sp>
      <p:sp>
        <p:nvSpPr>
          <p:cNvPr id="22" name="a4_pain3_text"/>
          <p:cNvSpPr txBox="1"/>
          <p:nvPr/>
        </p:nvSpPr>
        <p:spPr>
          <a:xfrm>
            <a:off x="9244584" y="3337560"/>
            <a:ext cx="2148840" cy="1188720"/>
          </a:xfrm>
          <a:prstGeom prst="rect">
            <a:avLst/>
          </a:prstGeom>
          <a:noFill/>
          <a:ln/>
        </p:spPr>
        <p:txBody>
          <a:bodyPr wrap="square" lIns="0" tIns="0" rIns="0" bIns="0" rtlCol="0" anchor="t"/>
          <a:lstStyle/>
          <a:p>
            <a:pPr indent="0" marL="0">
              <a:buNone/>
            </a:pPr>
            <a:r>
              <a:rPr lang="en-US" sz="1400" dirty="0">
                <a:solidFill>
                  <a:schemeClr val="tx1"/>
                </a:solidFill>
              </a:rPr>
              <a:t>project teams can't see Entra ID, so mistakes and rework slip in</a:t>
            </a:r>
            <a:endParaRPr lang="en-US" sz="1400" dirty="0"/>
          </a:p>
        </p:txBody>
      </p:sp>
      <p:sp>
        <p:nvSpPr>
          <p:cNvPr id="23" name="a5_result"/>
          <p:cNvSpPr txBox="1"/>
          <p:nvPr/>
        </p:nvSpPr>
        <p:spPr>
          <a:xfrm>
            <a:off x="548640" y="5074920"/>
            <a:ext cx="11094415" cy="731520"/>
          </a:xfrm>
          <a:prstGeom prst="rect">
            <a:avLst/>
          </a:prstGeom>
          <a:noFill/>
          <a:ln/>
        </p:spPr>
        <p:txBody>
          <a:bodyPr wrap="square" lIns="0" tIns="0" rIns="0" bIns="0" rtlCol="0" anchor="t"/>
          <a:lstStyle/>
          <a:p>
            <a:pPr indent="0" marL="0">
              <a:buNone/>
            </a:pPr>
            <a:r>
              <a:rPr lang="en-US" sz="1600" b="1" dirty="0">
                <a:solidFill>
                  <a:schemeClr val="accent3"/>
                </a:solidFill>
              </a:rPr>
              <a:t>Result: </a:t>
            </a:r>
            <a:pPr indent="0" marL="0">
              <a:buNone/>
            </a:pPr>
            <a:r>
              <a:rPr lang="en-US" sz="1600" dirty="0">
                <a:solidFill>
                  <a:schemeClr val="tx1"/>
                </a:solidFill>
              </a:rPr>
              <a:t>projects wait, teams work around the process (one app reused for many purposes), and names, owners and settings differ every time.</a:t>
            </a:r>
            <a:endParaRPr lang="en-US" sz="16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timing>
    <p:tnLst>
      <p:par>
        <p:cTn id="1" dur="indefinite" restart="never" nodeType="tmRoot">
          <p:childTnLst>
            <p:seq concurrent="1" nextAc="seek">
              <p:cTn id="2" dur="indefinite" nodeType="mainSeq">
                <p:childTnLst>
                  <p:par>
                    <p:cTn id="18" fill="hold">
                      <p:stCondLst>
                        <p:cond delay="indefinite"/>
                      </p:stCondLst>
                      <p:childTnLst>
                        <p:par>
                          <p:cTn id="19"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400"/>
                                        <p:tgtEl>
                                          <p:spTgt spid="3"/>
                                        </p:tgtEl>
                                      </p:cBhvr>
                                    </p:animEffect>
                                  </p:childTnLst>
                                </p:cTn>
                              </p:par>
                              <p:par>
                                <p:cTn id="6" presetID="10" presetClass="entr" presetSubtype="0" fill="hold" nodeType="withEffect">
                                  <p:stCondLst>
                                    <p:cond delay="0"/>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400"/>
                                        <p:tgtEl>
                                          <p:spTgt spid="4"/>
                                        </p:tgtEl>
                                      </p:cBhvr>
                                    </p:animEffect>
                                  </p:childTnLst>
                                </p:cTn>
                              </p:par>
                              <p:par>
                                <p:cTn id="9" presetID="10" presetClass="entr" presetSubtype="0" fill="hold" nodeType="with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400"/>
                                        <p:tgtEl>
                                          <p:spTgt spid="5"/>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400"/>
                                        <p:tgtEl>
                                          <p:spTgt spid="6"/>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400"/>
                                        <p:tgtEl>
                                          <p:spTgt spid="7"/>
                                        </p:tgtEl>
                                      </p:cBhvr>
                                    </p:animEffect>
                                  </p:childTnLst>
                                </p:cTn>
                              </p:par>
                            </p:childTnLst>
                          </p:cTn>
                        </p:par>
                      </p:childTnLst>
                    </p:cTn>
                  </p:par>
                  <p:par>
                    <p:cTn id="35" fill="hold">
                      <p:stCondLst>
                        <p:cond delay="indefinite"/>
                      </p:stCondLst>
                      <p:childTnLst>
                        <p:par>
                          <p:cTn id="36"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400"/>
                                        <p:tgtEl>
                                          <p:spTgt spid="8"/>
                                        </p:tgtEl>
                                      </p:cBhvr>
                                    </p:animEffect>
                                  </p:childTnLst>
                                </p:cTn>
                              </p:par>
                              <p:par>
                                <p:cTn id="23" presetID="10" presetClass="entr" presetSubtype="0" fill="hold"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4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400"/>
                                        <p:tgtEl>
                                          <p:spTgt spid="1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400"/>
                                        <p:tgtEl>
                                          <p:spTgt spid="1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400"/>
                                        <p:tgtEl>
                                          <p:spTgt spid="12"/>
                                        </p:tgtEl>
                                      </p:cBhvr>
                                    </p:animEffect>
                                  </p:childTnLst>
                                </p:cTn>
                              </p:par>
                            </p:childTnLst>
                          </p:cTn>
                        </p:par>
                      </p:childTnLst>
                    </p:cTn>
                  </p:par>
                  <p:par>
                    <p:cTn id="52" fill="hold">
                      <p:stCondLst>
                        <p:cond delay="indefinite"/>
                      </p:stCondLst>
                      <p:childTnLst>
                        <p:par>
                          <p:cTn id="53"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400"/>
                                        <p:tgtEl>
                                          <p:spTgt spid="13"/>
                                        </p:tgtEl>
                                      </p:cBhvr>
                                    </p:animEffect>
                                  </p:childTnLst>
                                </p:cTn>
                              </p:par>
                              <p:par>
                                <p:cTn id="40" presetID="10" presetClass="entr" presetSubtype="0" fill="hold" nodeType="with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400"/>
                                        <p:tgtEl>
                                          <p:spTgt spid="14"/>
                                        </p:tgtEl>
                                      </p:cBhvr>
                                    </p:animEffect>
                                  </p:childTnLst>
                                </p:cTn>
                              </p:par>
                              <p:par>
                                <p:cTn id="43" presetID="10" presetClass="entr" presetSubtype="0" fill="hold" nodeType="withEffect">
                                  <p:stCondLst>
                                    <p:cond delay="0"/>
                                  </p:stCondLst>
                                  <p:childTnLst>
                                    <p:set>
                                      <p:cBhvr>
                                        <p:cTn id="44" dur="1" fill="hold">
                                          <p:stCondLst>
                                            <p:cond delay="0"/>
                                          </p:stCondLst>
                                        </p:cTn>
                                        <p:tgtEl>
                                          <p:spTgt spid="15"/>
                                        </p:tgtEl>
                                        <p:attrNameLst>
                                          <p:attrName>style.visibility</p:attrName>
                                        </p:attrNameLst>
                                      </p:cBhvr>
                                      <p:to>
                                        <p:strVal val="visible"/>
                                      </p:to>
                                    </p:set>
                                    <p:animEffect transition="in" filter="fade">
                                      <p:cBhvr>
                                        <p:cTn id="45" dur="400"/>
                                        <p:tgtEl>
                                          <p:spTgt spid="15"/>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6"/>
                                        </p:tgtEl>
                                        <p:attrNameLst>
                                          <p:attrName>style.visibility</p:attrName>
                                        </p:attrNameLst>
                                      </p:cBhvr>
                                      <p:to>
                                        <p:strVal val="visible"/>
                                      </p:to>
                                    </p:set>
                                    <p:animEffect transition="in" filter="fade">
                                      <p:cBhvr>
                                        <p:cTn id="48" dur="400"/>
                                        <p:tgtEl>
                                          <p:spTgt spid="16"/>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7"/>
                                        </p:tgtEl>
                                        <p:attrNameLst>
                                          <p:attrName>style.visibility</p:attrName>
                                        </p:attrNameLst>
                                      </p:cBhvr>
                                      <p:to>
                                        <p:strVal val="visible"/>
                                      </p:to>
                                    </p:set>
                                    <p:animEffect transition="in" filter="fade">
                                      <p:cBhvr>
                                        <p:cTn id="51" dur="400"/>
                                        <p:tgtEl>
                                          <p:spTgt spid="17"/>
                                        </p:tgtEl>
                                      </p:cBhvr>
                                    </p:animEffect>
                                  </p:childTnLst>
                                </p:cTn>
                              </p:par>
                            </p:childTnLst>
                          </p:cTn>
                        </p:par>
                      </p:childTnLst>
                    </p:cTn>
                  </p:par>
                  <p:par>
                    <p:cTn id="69" fill="hold">
                      <p:stCondLst>
                        <p:cond delay="indefinite"/>
                      </p:stCondLst>
                      <p:childTnLst>
                        <p:par>
                          <p:cTn id="70"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18"/>
                                        </p:tgtEl>
                                        <p:attrNameLst>
                                          <p:attrName>style.visibility</p:attrName>
                                        </p:attrNameLst>
                                      </p:cBhvr>
                                      <p:to>
                                        <p:strVal val="visible"/>
                                      </p:to>
                                    </p:set>
                                    <p:animEffect transition="in" filter="fade">
                                      <p:cBhvr>
                                        <p:cTn id="56" dur="400"/>
                                        <p:tgtEl>
                                          <p:spTgt spid="18"/>
                                        </p:tgtEl>
                                      </p:cBhvr>
                                    </p:animEffect>
                                  </p:childTnLst>
                                </p:cTn>
                              </p:par>
                              <p:par>
                                <p:cTn id="57" presetID="10" presetClass="entr" presetSubtype="0" fill="hold" nodeType="withEffect">
                                  <p:stCondLst>
                                    <p:cond delay="0"/>
                                  </p:stCondLst>
                                  <p:childTnLst>
                                    <p:set>
                                      <p:cBhvr>
                                        <p:cTn id="58" dur="1" fill="hold">
                                          <p:stCondLst>
                                            <p:cond delay="0"/>
                                          </p:stCondLst>
                                        </p:cTn>
                                        <p:tgtEl>
                                          <p:spTgt spid="19"/>
                                        </p:tgtEl>
                                        <p:attrNameLst>
                                          <p:attrName>style.visibility</p:attrName>
                                        </p:attrNameLst>
                                      </p:cBhvr>
                                      <p:to>
                                        <p:strVal val="visible"/>
                                      </p:to>
                                    </p:set>
                                    <p:animEffect transition="in" filter="fade">
                                      <p:cBhvr>
                                        <p:cTn id="59" dur="400"/>
                                        <p:tgtEl>
                                          <p:spTgt spid="19"/>
                                        </p:tgtEl>
                                      </p:cBhvr>
                                    </p:animEffect>
                                  </p:childTnLst>
                                </p:cTn>
                              </p:par>
                              <p:par>
                                <p:cTn id="60" presetID="10" presetClass="entr" presetSubtype="0" fill="hold" nodeType="withEffect">
                                  <p:stCondLst>
                                    <p:cond delay="0"/>
                                  </p:stCondLst>
                                  <p:childTnLst>
                                    <p:set>
                                      <p:cBhvr>
                                        <p:cTn id="61" dur="1" fill="hold">
                                          <p:stCondLst>
                                            <p:cond delay="0"/>
                                          </p:stCondLst>
                                        </p:cTn>
                                        <p:tgtEl>
                                          <p:spTgt spid="20"/>
                                        </p:tgtEl>
                                        <p:attrNameLst>
                                          <p:attrName>style.visibility</p:attrName>
                                        </p:attrNameLst>
                                      </p:cBhvr>
                                      <p:to>
                                        <p:strVal val="visible"/>
                                      </p:to>
                                    </p:set>
                                    <p:animEffect transition="in" filter="fade">
                                      <p:cBhvr>
                                        <p:cTn id="62" dur="400"/>
                                        <p:tgtEl>
                                          <p:spTgt spid="20"/>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1"/>
                                        </p:tgtEl>
                                        <p:attrNameLst>
                                          <p:attrName>style.visibility</p:attrName>
                                        </p:attrNameLst>
                                      </p:cBhvr>
                                      <p:to>
                                        <p:strVal val="visible"/>
                                      </p:to>
                                    </p:set>
                                    <p:animEffect transition="in" filter="fade">
                                      <p:cBhvr>
                                        <p:cTn id="65" dur="400"/>
                                        <p:tgtEl>
                                          <p:spTgt spid="21"/>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2"/>
                                        </p:tgtEl>
                                        <p:attrNameLst>
                                          <p:attrName>style.visibility</p:attrName>
                                        </p:attrNameLst>
                                      </p:cBhvr>
                                      <p:to>
                                        <p:strVal val="visible"/>
                                      </p:to>
                                    </p:set>
                                    <p:animEffect transition="in" filter="fade">
                                      <p:cBhvr>
                                        <p:cTn id="68" dur="400"/>
                                        <p:tgtEl>
                                          <p:spTgt spid="22"/>
                                        </p:tgtEl>
                                      </p:cBhvr>
                                    </p:animEffect>
                                  </p:childTnLst>
                                </p:cTn>
                              </p:par>
                            </p:childTnLst>
                          </p:cTn>
                        </p:par>
                      </p:childTnLst>
                    </p:cTn>
                  </p:par>
                  <p:par>
                    <p:cTn id="74" fill="hold">
                      <p:stCondLst>
                        <p:cond delay="indefinite"/>
                      </p:stCondLst>
                      <p:childTnLst>
                        <p:par>
                          <p:cTn id="75"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23"/>
                                        </p:tgtEl>
                                        <p:attrNameLst>
                                          <p:attrName>style.visibility</p:attrName>
                                        </p:attrNameLst>
                                      </p:cBhvr>
                                      <p:to>
                                        <p:strVal val="visible"/>
                                      </p:to>
                                    </p:set>
                                    <p:animEffect transition="in" filter="fade">
                                      <p:cBhvr>
                                        <p:cTn id="73"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11" grpId="0"/>
      <p:bldP spid="12" grpId="0"/>
      <p:bldP spid="16" grpId="0"/>
      <p:bldP spid="17" grpId="0"/>
      <p:bldP spid="21" grpId="0"/>
      <p:bldP spid="22" grpId="0"/>
      <p:bldP spid="23" grpId="0"/>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2"/>
                </a:solidFill>
              </a:rPr>
              <a:t>Built with the M365 team, on services we already license</a:t>
            </a:r>
            <a:endParaRPr lang="en-US" sz="3000" dirty="0"/>
          </a:p>
        </p:txBody>
      </p:sp>
      <p:sp>
        <p:nvSpPr>
          <p:cNvPr id="3" name="a1_m3650_card"/>
          <p:cNvSpPr/>
          <p:nvPr/>
        </p:nvSpPr>
        <p:spPr>
          <a:xfrm>
            <a:off x="548640" y="1371600"/>
            <a:ext cx="3474720" cy="2606040"/>
          </a:xfrm>
          <a:prstGeom prst="roundRect">
            <a:avLst>
              <a:gd name="adj" fmla="val 4211"/>
            </a:avLst>
          </a:prstGeom>
          <a:solidFill>
            <a:schemeClr val="bg2"/>
          </a:solidFill>
          <a:ln w="12700">
            <a:solidFill>
              <a:schemeClr val="bg2"/>
            </a:solidFill>
            <a:prstDash val="solid"/>
          </a:ln>
          <a:effectLst>
            <a:outerShdw sx="100000" sy="100000" kx="0" ky="0" algn="bl" rotWithShape="0" blurRad="76200" dist="25400" dir="5400000">
              <a:srgbClr val="7F9DB9">
                <a:alpha val="25000"/>
              </a:srgbClr>
            </a:outerShdw>
          </a:effectLst>
        </p:spPr>
      </p:sp>
      <p:sp>
        <p:nvSpPr>
          <p:cNvPr id="4" name="a1_m3650_circle"/>
          <p:cNvSpPr/>
          <p:nvPr/>
        </p:nvSpPr>
        <p:spPr>
          <a:xfrm>
            <a:off x="822960" y="1645920"/>
            <a:ext cx="731520" cy="731520"/>
          </a:xfrm>
          <a:prstGeom prst="ellipse">
            <a:avLst/>
          </a:prstGeom>
          <a:solidFill>
            <a:schemeClr val="accent1"/>
          </a:solidFill>
          <a:ln w="12700">
            <a:solidFill>
              <a:schemeClr val="accent1"/>
            </a:solidFill>
            <a:prstDash val="solid"/>
          </a:ln>
        </p:spPr>
      </p:sp>
      <p:pic>
        <p:nvPicPr>
          <p:cNvPr id="5" name="a1_m3650_icon" descr="preencoded.png">    </p:cNvPr>
          <p:cNvPicPr>
            <a:picLocks noChangeAspect="1"/>
          </p:cNvPicPr>
          <p:nvPr/>
        </p:nvPicPr>
        <p:blipFill>
          <a:blip r:embed="rId1"/>
          <a:stretch>
            <a:fillRect/>
          </a:stretch>
        </p:blipFill>
        <p:spPr>
          <a:xfrm>
            <a:off x="998525" y="1821485"/>
            <a:ext cx="380390" cy="380390"/>
          </a:xfrm>
          <a:prstGeom prst="rect">
            <a:avLst/>
          </a:prstGeom>
        </p:spPr>
      </p:pic>
      <p:sp>
        <p:nvSpPr>
          <p:cNvPr id="6" name="a1_m3650_title"/>
          <p:cNvSpPr txBox="1"/>
          <p:nvPr/>
        </p:nvSpPr>
        <p:spPr>
          <a:xfrm>
            <a:off x="1737360" y="1755648"/>
            <a:ext cx="2103120" cy="502920"/>
          </a:xfrm>
          <a:prstGeom prst="rect">
            <a:avLst/>
          </a:prstGeom>
          <a:noFill/>
          <a:ln/>
        </p:spPr>
        <p:txBody>
          <a:bodyPr wrap="square" lIns="0" tIns="0" rIns="0" bIns="0" rtlCol="0" anchor="t"/>
          <a:lstStyle/>
          <a:p>
            <a:pPr indent="0" marL="0">
              <a:buNone/>
            </a:pPr>
            <a:r>
              <a:rPr lang="en-US" sz="2000" b="1" dirty="0">
                <a:solidFill>
                  <a:schemeClr val="tx2"/>
                </a:solidFill>
              </a:rPr>
              <a:t>Power Apps</a:t>
            </a:r>
            <a:endParaRPr lang="en-US" sz="2000" dirty="0"/>
          </a:p>
        </p:txBody>
      </p:sp>
      <p:sp>
        <p:nvSpPr>
          <p:cNvPr id="7" name="a1_m3650_text"/>
          <p:cNvSpPr txBox="1"/>
          <p:nvPr/>
        </p:nvSpPr>
        <p:spPr>
          <a:xfrm>
            <a:off x="822960" y="2560320"/>
            <a:ext cx="2971800" cy="1325880"/>
          </a:xfrm>
          <a:prstGeom prst="rect">
            <a:avLst/>
          </a:prstGeom>
          <a:noFill/>
          <a:ln/>
        </p:spPr>
        <p:txBody>
          <a:bodyPr wrap="square" lIns="0" tIns="0" rIns="0" bIns="0" rtlCol="0" anchor="t"/>
          <a:lstStyle/>
          <a:p>
            <a:pPr indent="0" marL="0">
              <a:buNone/>
            </a:pPr>
            <a:r>
              <a:rPr lang="en-US" sz="1400" dirty="0">
                <a:solidFill>
                  <a:schemeClr val="tx1"/>
                </a:solidFill>
              </a:rPr>
              <a:t>The request form and tracker. Standard connectors only, so users need nothing beyond Microsoft 365.</a:t>
            </a:r>
            <a:endParaRPr lang="en-US" sz="1400" dirty="0"/>
          </a:p>
        </p:txBody>
      </p:sp>
      <p:sp>
        <p:nvSpPr>
          <p:cNvPr id="8" name="a2_m3651_card"/>
          <p:cNvSpPr/>
          <p:nvPr/>
        </p:nvSpPr>
        <p:spPr>
          <a:xfrm>
            <a:off x="4297680" y="1371600"/>
            <a:ext cx="3474720" cy="2606040"/>
          </a:xfrm>
          <a:prstGeom prst="roundRect">
            <a:avLst>
              <a:gd name="adj" fmla="val 4211"/>
            </a:avLst>
          </a:prstGeom>
          <a:solidFill>
            <a:schemeClr val="bg2"/>
          </a:solidFill>
          <a:ln w="12700">
            <a:solidFill>
              <a:schemeClr val="bg2"/>
            </a:solidFill>
            <a:prstDash val="solid"/>
          </a:ln>
          <a:effectLst>
            <a:outerShdw sx="100000" sy="100000" kx="0" ky="0" algn="bl" rotWithShape="0" blurRad="76200" dist="25400" dir="5400000">
              <a:srgbClr val="7F9DB9">
                <a:alpha val="25000"/>
              </a:srgbClr>
            </a:outerShdw>
          </a:effectLst>
        </p:spPr>
      </p:sp>
      <p:sp>
        <p:nvSpPr>
          <p:cNvPr id="9" name="a2_m3651_circle"/>
          <p:cNvSpPr/>
          <p:nvPr/>
        </p:nvSpPr>
        <p:spPr>
          <a:xfrm>
            <a:off x="4572000" y="1645920"/>
            <a:ext cx="731520" cy="731520"/>
          </a:xfrm>
          <a:prstGeom prst="ellipse">
            <a:avLst/>
          </a:prstGeom>
          <a:solidFill>
            <a:schemeClr val="accent1"/>
          </a:solidFill>
          <a:ln w="12700">
            <a:solidFill>
              <a:schemeClr val="accent1"/>
            </a:solidFill>
            <a:prstDash val="solid"/>
          </a:ln>
        </p:spPr>
      </p:sp>
      <p:pic>
        <p:nvPicPr>
          <p:cNvPr id="10" name="a2_m3651_icon" descr="preencoded.png">    </p:cNvPr>
          <p:cNvPicPr>
            <a:picLocks noChangeAspect="1"/>
          </p:cNvPicPr>
          <p:nvPr/>
        </p:nvPicPr>
        <p:blipFill>
          <a:blip r:embed="rId2"/>
          <a:stretch>
            <a:fillRect/>
          </a:stretch>
        </p:blipFill>
        <p:spPr>
          <a:xfrm>
            <a:off x="4747565" y="1821485"/>
            <a:ext cx="380390" cy="380390"/>
          </a:xfrm>
          <a:prstGeom prst="rect">
            <a:avLst/>
          </a:prstGeom>
        </p:spPr>
      </p:pic>
      <p:sp>
        <p:nvSpPr>
          <p:cNvPr id="11" name="a2_m3651_title"/>
          <p:cNvSpPr txBox="1"/>
          <p:nvPr/>
        </p:nvSpPr>
        <p:spPr>
          <a:xfrm>
            <a:off x="5486400" y="1755648"/>
            <a:ext cx="2103120" cy="502920"/>
          </a:xfrm>
          <a:prstGeom prst="rect">
            <a:avLst/>
          </a:prstGeom>
          <a:noFill/>
          <a:ln/>
        </p:spPr>
        <p:txBody>
          <a:bodyPr wrap="square" lIns="0" tIns="0" rIns="0" bIns="0" rtlCol="0" anchor="t"/>
          <a:lstStyle/>
          <a:p>
            <a:pPr indent="0" marL="0">
              <a:buNone/>
            </a:pPr>
            <a:r>
              <a:rPr lang="en-US" sz="2000" b="1" dirty="0">
                <a:solidFill>
                  <a:schemeClr val="tx2"/>
                </a:solidFill>
              </a:rPr>
              <a:t>Power Automate</a:t>
            </a:r>
            <a:endParaRPr lang="en-US" sz="2000" dirty="0"/>
          </a:p>
        </p:txBody>
      </p:sp>
      <p:sp>
        <p:nvSpPr>
          <p:cNvPr id="12" name="a2_m3651_text"/>
          <p:cNvSpPr txBox="1"/>
          <p:nvPr/>
        </p:nvSpPr>
        <p:spPr>
          <a:xfrm>
            <a:off x="4572000" y="2560320"/>
            <a:ext cx="2971800" cy="1325880"/>
          </a:xfrm>
          <a:prstGeom prst="rect">
            <a:avLst/>
          </a:prstGeom>
          <a:noFill/>
          <a:ln/>
        </p:spPr>
        <p:txBody>
          <a:bodyPr wrap="square" lIns="0" tIns="0" rIns="0" bIns="0" rtlCol="0" anchor="t"/>
          <a:lstStyle/>
          <a:p>
            <a:pPr indent="0" marL="0">
              <a:buNone/>
            </a:pPr>
            <a:r>
              <a:rPr lang="en-US" sz="1400" dirty="0">
                <a:solidFill>
                  <a:schemeClr val="tx1"/>
                </a:solidFill>
              </a:rPr>
              <a:t>Approvals in Outlook and Teams, and the flows that create everything in Entra ID through Microsoft Graph.</a:t>
            </a:r>
            <a:endParaRPr lang="en-US" sz="1400" dirty="0"/>
          </a:p>
        </p:txBody>
      </p:sp>
      <p:sp>
        <p:nvSpPr>
          <p:cNvPr id="13" name="a3_m3652_card"/>
          <p:cNvSpPr/>
          <p:nvPr/>
        </p:nvSpPr>
        <p:spPr>
          <a:xfrm>
            <a:off x="8046720" y="1371600"/>
            <a:ext cx="3474720" cy="2606040"/>
          </a:xfrm>
          <a:prstGeom prst="roundRect">
            <a:avLst>
              <a:gd name="adj" fmla="val 4211"/>
            </a:avLst>
          </a:prstGeom>
          <a:solidFill>
            <a:schemeClr val="bg2"/>
          </a:solidFill>
          <a:ln w="12700">
            <a:solidFill>
              <a:schemeClr val="bg2"/>
            </a:solidFill>
            <a:prstDash val="solid"/>
          </a:ln>
          <a:effectLst>
            <a:outerShdw sx="100000" sy="100000" kx="0" ky="0" algn="bl" rotWithShape="0" blurRad="76200" dist="25400" dir="5400000">
              <a:srgbClr val="7F9DB9">
                <a:alpha val="25000"/>
              </a:srgbClr>
            </a:outerShdw>
          </a:effectLst>
        </p:spPr>
      </p:sp>
      <p:sp>
        <p:nvSpPr>
          <p:cNvPr id="14" name="a3_m3652_circle"/>
          <p:cNvSpPr/>
          <p:nvPr/>
        </p:nvSpPr>
        <p:spPr>
          <a:xfrm>
            <a:off x="8321040" y="1645920"/>
            <a:ext cx="731520" cy="731520"/>
          </a:xfrm>
          <a:prstGeom prst="ellipse">
            <a:avLst/>
          </a:prstGeom>
          <a:solidFill>
            <a:schemeClr val="accent1"/>
          </a:solidFill>
          <a:ln w="12700">
            <a:solidFill>
              <a:schemeClr val="accent1"/>
            </a:solidFill>
            <a:prstDash val="solid"/>
          </a:ln>
        </p:spPr>
      </p:sp>
      <p:pic>
        <p:nvPicPr>
          <p:cNvPr id="15" name="a3_m3652_icon" descr="preencoded.png">    </p:cNvPr>
          <p:cNvPicPr>
            <a:picLocks noChangeAspect="1"/>
          </p:cNvPicPr>
          <p:nvPr/>
        </p:nvPicPr>
        <p:blipFill>
          <a:blip r:embed="rId3"/>
          <a:stretch>
            <a:fillRect/>
          </a:stretch>
        </p:blipFill>
        <p:spPr>
          <a:xfrm>
            <a:off x="8496605" y="1821485"/>
            <a:ext cx="380390" cy="380390"/>
          </a:xfrm>
          <a:prstGeom prst="rect">
            <a:avLst/>
          </a:prstGeom>
        </p:spPr>
      </p:pic>
      <p:sp>
        <p:nvSpPr>
          <p:cNvPr id="16" name="a3_m3652_title"/>
          <p:cNvSpPr txBox="1"/>
          <p:nvPr/>
        </p:nvSpPr>
        <p:spPr>
          <a:xfrm>
            <a:off x="9235440" y="1755648"/>
            <a:ext cx="2103120" cy="502920"/>
          </a:xfrm>
          <a:prstGeom prst="rect">
            <a:avLst/>
          </a:prstGeom>
          <a:noFill/>
          <a:ln/>
        </p:spPr>
        <p:txBody>
          <a:bodyPr wrap="square" lIns="0" tIns="0" rIns="0" bIns="0" rtlCol="0" anchor="t"/>
          <a:lstStyle/>
          <a:p>
            <a:pPr indent="0" marL="0">
              <a:buNone/>
            </a:pPr>
            <a:r>
              <a:rPr lang="en-US" sz="2000" b="1" dirty="0">
                <a:solidFill>
                  <a:schemeClr val="tx2"/>
                </a:solidFill>
              </a:rPr>
              <a:t>SharePoint</a:t>
            </a:r>
            <a:endParaRPr lang="en-US" sz="2000" dirty="0"/>
          </a:p>
        </p:txBody>
      </p:sp>
      <p:sp>
        <p:nvSpPr>
          <p:cNvPr id="17" name="a3_m3652_text"/>
          <p:cNvSpPr txBox="1"/>
          <p:nvPr/>
        </p:nvSpPr>
        <p:spPr>
          <a:xfrm>
            <a:off x="8321040" y="2560320"/>
            <a:ext cx="2971800" cy="1325880"/>
          </a:xfrm>
          <a:prstGeom prst="rect">
            <a:avLst/>
          </a:prstGeom>
          <a:noFill/>
          <a:ln/>
        </p:spPr>
        <p:txBody>
          <a:bodyPr wrap="square" lIns="0" tIns="0" rIns="0" bIns="0" rtlCol="0" anchor="t"/>
          <a:lstStyle/>
          <a:p>
            <a:pPr indent="0" marL="0">
              <a:buNone/>
            </a:pPr>
            <a:r>
              <a:rPr lang="en-US" sz="1400" dirty="0">
                <a:solidFill>
                  <a:schemeClr val="tx1"/>
                </a:solidFill>
              </a:rPr>
              <a:t>The request list (the audit trail), the catalog of apps and groups, and the settings. Item-level security.</a:t>
            </a:r>
            <a:endParaRPr lang="en-US" sz="1400" dirty="0"/>
          </a:p>
        </p:txBody>
      </p:sp>
      <p:sp>
        <p:nvSpPr>
          <p:cNvPr id="18" name="a4_askhead"/>
          <p:cNvSpPr txBox="1"/>
          <p:nvPr/>
        </p:nvSpPr>
        <p:spPr>
          <a:xfrm>
            <a:off x="548640" y="4251960"/>
            <a:ext cx="7315200" cy="365760"/>
          </a:xfrm>
          <a:prstGeom prst="rect">
            <a:avLst/>
          </a:prstGeom>
          <a:noFill/>
          <a:ln/>
        </p:spPr>
        <p:txBody>
          <a:bodyPr wrap="square" lIns="0" tIns="0" rIns="0" bIns="0" rtlCol="0" anchor="t"/>
          <a:lstStyle/>
          <a:p>
            <a:pPr indent="0" marL="0">
              <a:buNone/>
            </a:pPr>
            <a:r>
              <a:rPr lang="en-US" sz="1800" b="1" dirty="0">
                <a:solidFill>
                  <a:schemeClr val="accent1"/>
                </a:solidFill>
              </a:rPr>
              <a:t>What we needed from the M365 team</a:t>
            </a:r>
            <a:endParaRPr lang="en-US" sz="1800" dirty="0"/>
          </a:p>
        </p:txBody>
      </p:sp>
      <p:pic>
        <p:nvPicPr>
          <p:cNvPr id="19" name="a4_ask0_icon" descr="preencoded.png">    </p:cNvPr>
          <p:cNvPicPr>
            <a:picLocks noChangeAspect="1"/>
          </p:cNvPicPr>
          <p:nvPr/>
        </p:nvPicPr>
        <p:blipFill>
          <a:blip r:embed="rId4"/>
          <a:stretch>
            <a:fillRect/>
          </a:stretch>
        </p:blipFill>
        <p:spPr>
          <a:xfrm>
            <a:off x="548640" y="4745736"/>
            <a:ext cx="274320" cy="274320"/>
          </a:xfrm>
          <a:prstGeom prst="rect">
            <a:avLst/>
          </a:prstGeom>
        </p:spPr>
      </p:pic>
      <p:sp>
        <p:nvSpPr>
          <p:cNvPr id="20" name="a4_ask0_text"/>
          <p:cNvSpPr txBox="1"/>
          <p:nvPr/>
        </p:nvSpPr>
        <p:spPr>
          <a:xfrm>
            <a:off x="960120" y="4709160"/>
            <a:ext cx="5120640" cy="621792"/>
          </a:xfrm>
          <a:prstGeom prst="rect">
            <a:avLst/>
          </a:prstGeom>
          <a:noFill/>
          <a:ln/>
        </p:spPr>
        <p:txBody>
          <a:bodyPr wrap="square" lIns="0" tIns="0" rIns="0" bIns="0" rtlCol="0" anchor="t"/>
          <a:lstStyle/>
          <a:p>
            <a:pPr indent="0" marL="0">
              <a:buNone/>
            </a:pPr>
            <a:r>
              <a:rPr lang="en-US" sz="1400" b="1" dirty="0">
                <a:solidFill>
                  <a:schemeClr val="tx1"/>
                </a:solidFill>
              </a:rPr>
              <a:t>A Power Platform environment with Dataverse</a:t>
            </a:r>
            <a:endParaRPr lang="en-US" sz="1400" dirty="0"/>
          </a:p>
          <a:p>
            <a:pPr indent="0" marL="0">
              <a:buNone/>
            </a:pPr>
            <a:r>
              <a:rPr lang="en-US" sz="1400" dirty="0">
                <a:solidFill>
                  <a:schemeClr val="accent6"/>
                </a:solidFill>
              </a:rPr>
              <a:t>used by Approvals and the solution import</a:t>
            </a:r>
            <a:endParaRPr lang="en-US" sz="1400" dirty="0"/>
          </a:p>
        </p:txBody>
      </p:sp>
      <p:pic>
        <p:nvPicPr>
          <p:cNvPr id="21" name="a4_ask1_icon" descr="preencoded.png">    </p:cNvPr>
          <p:cNvPicPr>
            <a:picLocks noChangeAspect="1"/>
          </p:cNvPicPr>
          <p:nvPr/>
        </p:nvPicPr>
        <p:blipFill>
          <a:blip r:embed="rId5"/>
          <a:stretch>
            <a:fillRect/>
          </a:stretch>
        </p:blipFill>
        <p:spPr>
          <a:xfrm>
            <a:off x="6172200" y="4745736"/>
            <a:ext cx="274320" cy="274320"/>
          </a:xfrm>
          <a:prstGeom prst="rect">
            <a:avLst/>
          </a:prstGeom>
        </p:spPr>
      </p:pic>
      <p:sp>
        <p:nvSpPr>
          <p:cNvPr id="22" name="a4_ask1_text"/>
          <p:cNvSpPr txBox="1"/>
          <p:nvPr/>
        </p:nvSpPr>
        <p:spPr>
          <a:xfrm>
            <a:off x="6583680" y="4709160"/>
            <a:ext cx="5120640" cy="621792"/>
          </a:xfrm>
          <a:prstGeom prst="rect">
            <a:avLst/>
          </a:prstGeom>
          <a:noFill/>
          <a:ln/>
        </p:spPr>
        <p:txBody>
          <a:bodyPr wrap="square" lIns="0" tIns="0" rIns="0" bIns="0" rtlCol="0" anchor="t"/>
          <a:lstStyle/>
          <a:p>
            <a:pPr indent="0" marL="0">
              <a:buNone/>
            </a:pPr>
            <a:r>
              <a:rPr lang="en-US" sz="1400" b="1" dirty="0">
                <a:solidFill>
                  <a:schemeClr val="tx1"/>
                </a:solidFill>
              </a:rPr>
              <a:t>Connectors allowed in the DLP policy</a:t>
            </a:r>
            <a:endParaRPr lang="en-US" sz="1400" dirty="0"/>
          </a:p>
          <a:p>
            <a:pPr indent="0" marL="0">
              <a:buNone/>
            </a:pPr>
            <a:r>
              <a:rPr lang="en-US" sz="1400" dirty="0">
                <a:solidFill>
                  <a:schemeClr val="accent6"/>
                </a:solidFill>
              </a:rPr>
              <a:t>SharePoint, Approvals, Outlook, Office 365 Users, HTTP with Entra ID</a:t>
            </a:r>
            <a:endParaRPr lang="en-US" sz="1400" dirty="0"/>
          </a:p>
        </p:txBody>
      </p:sp>
      <p:pic>
        <p:nvPicPr>
          <p:cNvPr id="23" name="a4_ask2_icon" descr="preencoded.png">    </p:cNvPr>
          <p:cNvPicPr>
            <a:picLocks noChangeAspect="1"/>
          </p:cNvPicPr>
          <p:nvPr/>
        </p:nvPicPr>
        <p:blipFill>
          <a:blip r:embed="rId6"/>
          <a:stretch>
            <a:fillRect/>
          </a:stretch>
        </p:blipFill>
        <p:spPr>
          <a:xfrm>
            <a:off x="548640" y="5404104"/>
            <a:ext cx="274320" cy="274320"/>
          </a:xfrm>
          <a:prstGeom prst="rect">
            <a:avLst/>
          </a:prstGeom>
        </p:spPr>
      </p:pic>
      <p:sp>
        <p:nvSpPr>
          <p:cNvPr id="24" name="a4_ask2_text"/>
          <p:cNvSpPr txBox="1"/>
          <p:nvPr/>
        </p:nvSpPr>
        <p:spPr>
          <a:xfrm>
            <a:off x="960120" y="5367528"/>
            <a:ext cx="5120640" cy="621792"/>
          </a:xfrm>
          <a:prstGeom prst="rect">
            <a:avLst/>
          </a:prstGeom>
          <a:noFill/>
          <a:ln/>
        </p:spPr>
        <p:txBody>
          <a:bodyPr wrap="square" lIns="0" tIns="0" rIns="0" bIns="0" rtlCol="0" anchor="t"/>
          <a:lstStyle/>
          <a:p>
            <a:pPr indent="0" marL="0">
              <a:buNone/>
            </a:pPr>
            <a:r>
              <a:rPr lang="en-US" sz="1400" b="1" dirty="0">
                <a:solidFill>
                  <a:schemeClr val="tx1"/>
                </a:solidFill>
              </a:rPr>
              <a:t>One Power Automate Premium licence</a:t>
            </a:r>
            <a:endParaRPr lang="en-US" sz="1400" dirty="0"/>
          </a:p>
          <a:p>
            <a:pPr indent="0" marL="0">
              <a:buNone/>
            </a:pPr>
            <a:r>
              <a:rPr lang="en-US" sz="1400" dirty="0">
                <a:solidFill>
                  <a:schemeClr val="accent6"/>
                </a:solidFill>
              </a:rPr>
              <a:t>for the flow account only, not for users</a:t>
            </a:r>
            <a:endParaRPr lang="en-US" sz="1400" dirty="0"/>
          </a:p>
        </p:txBody>
      </p:sp>
      <p:pic>
        <p:nvPicPr>
          <p:cNvPr id="25" name="a4_ask3_icon" descr="preencoded.png">    </p:cNvPr>
          <p:cNvPicPr>
            <a:picLocks noChangeAspect="1"/>
          </p:cNvPicPr>
          <p:nvPr/>
        </p:nvPicPr>
        <p:blipFill>
          <a:blip r:embed="rId7"/>
          <a:stretch>
            <a:fillRect/>
          </a:stretch>
        </p:blipFill>
        <p:spPr>
          <a:xfrm>
            <a:off x="6172200" y="5404104"/>
            <a:ext cx="274320" cy="274320"/>
          </a:xfrm>
          <a:prstGeom prst="rect">
            <a:avLst/>
          </a:prstGeom>
        </p:spPr>
      </p:pic>
      <p:sp>
        <p:nvSpPr>
          <p:cNvPr id="26" name="a4_ask3_text"/>
          <p:cNvSpPr txBox="1"/>
          <p:nvPr/>
        </p:nvSpPr>
        <p:spPr>
          <a:xfrm>
            <a:off x="6583680" y="5367528"/>
            <a:ext cx="5120640" cy="621792"/>
          </a:xfrm>
          <a:prstGeom prst="rect">
            <a:avLst/>
          </a:prstGeom>
          <a:noFill/>
          <a:ln/>
        </p:spPr>
        <p:txBody>
          <a:bodyPr wrap="square" lIns="0" tIns="0" rIns="0" bIns="0" rtlCol="0" anchor="t"/>
          <a:lstStyle/>
          <a:p>
            <a:pPr indent="0" marL="0">
              <a:buNone/>
            </a:pPr>
            <a:r>
              <a:rPr lang="en-US" sz="1400" b="1" dirty="0">
                <a:solidFill>
                  <a:schemeClr val="tx1"/>
                </a:solidFill>
              </a:rPr>
              <a:t>A SharePoint site</a:t>
            </a:r>
            <a:endParaRPr lang="en-US" sz="1400" dirty="0"/>
          </a:p>
          <a:p>
            <a:pPr indent="0" marL="0">
              <a:buNone/>
            </a:pPr>
            <a:r>
              <a:rPr lang="en-US" sz="1400" dirty="0">
                <a:solidFill>
                  <a:schemeClr val="accent6"/>
                </a:solidFill>
              </a:rPr>
              <a:t>for the request, catalog and settings lists</a:t>
            </a:r>
            <a:endParaRPr lang="en-US" sz="14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timing>
    <p:tnLst>
      <p:par>
        <p:cTn id="1" dur="indefinite" restart="never" nodeType="tmRoot">
          <p:childTnLst>
            <p:seq concurrent="1" nextAc="seek">
              <p:cTn id="2" dur="indefinite" nodeType="mainSeq">
                <p:childTnLst>
                  <p:par>
                    <p:cTn id="18" fill="hold">
                      <p:stCondLst>
                        <p:cond delay="indefinite"/>
                      </p:stCondLst>
                      <p:childTnLst>
                        <p:par>
                          <p:cTn id="19"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400"/>
                                        <p:tgtEl>
                                          <p:spTgt spid="3"/>
                                        </p:tgtEl>
                                      </p:cBhvr>
                                    </p:animEffect>
                                  </p:childTnLst>
                                </p:cTn>
                              </p:par>
                              <p:par>
                                <p:cTn id="6" presetID="10" presetClass="entr" presetSubtype="0" fill="hold" nodeType="withEffect">
                                  <p:stCondLst>
                                    <p:cond delay="0"/>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400"/>
                                        <p:tgtEl>
                                          <p:spTgt spid="4"/>
                                        </p:tgtEl>
                                      </p:cBhvr>
                                    </p:animEffect>
                                  </p:childTnLst>
                                </p:cTn>
                              </p:par>
                              <p:par>
                                <p:cTn id="9" presetID="10" presetClass="entr" presetSubtype="0" fill="hold" nodeType="with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400"/>
                                        <p:tgtEl>
                                          <p:spTgt spid="5"/>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400"/>
                                        <p:tgtEl>
                                          <p:spTgt spid="6"/>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400"/>
                                        <p:tgtEl>
                                          <p:spTgt spid="7"/>
                                        </p:tgtEl>
                                      </p:cBhvr>
                                    </p:animEffect>
                                  </p:childTnLst>
                                </p:cTn>
                              </p:par>
                            </p:childTnLst>
                          </p:cTn>
                        </p:par>
                      </p:childTnLst>
                    </p:cTn>
                  </p:par>
                  <p:par>
                    <p:cTn id="35" fill="hold">
                      <p:stCondLst>
                        <p:cond delay="indefinite"/>
                      </p:stCondLst>
                      <p:childTnLst>
                        <p:par>
                          <p:cTn id="36"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400"/>
                                        <p:tgtEl>
                                          <p:spTgt spid="8"/>
                                        </p:tgtEl>
                                      </p:cBhvr>
                                    </p:animEffect>
                                  </p:childTnLst>
                                </p:cTn>
                              </p:par>
                              <p:par>
                                <p:cTn id="23" presetID="10" presetClass="entr" presetSubtype="0" fill="hold"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4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400"/>
                                        <p:tgtEl>
                                          <p:spTgt spid="1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400"/>
                                        <p:tgtEl>
                                          <p:spTgt spid="1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400"/>
                                        <p:tgtEl>
                                          <p:spTgt spid="12"/>
                                        </p:tgtEl>
                                      </p:cBhvr>
                                    </p:animEffect>
                                  </p:childTnLst>
                                </p:cTn>
                              </p:par>
                            </p:childTnLst>
                          </p:cTn>
                        </p:par>
                      </p:childTnLst>
                    </p:cTn>
                  </p:par>
                  <p:par>
                    <p:cTn id="52" fill="hold">
                      <p:stCondLst>
                        <p:cond delay="indefinite"/>
                      </p:stCondLst>
                      <p:childTnLst>
                        <p:par>
                          <p:cTn id="53"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400"/>
                                        <p:tgtEl>
                                          <p:spTgt spid="13"/>
                                        </p:tgtEl>
                                      </p:cBhvr>
                                    </p:animEffect>
                                  </p:childTnLst>
                                </p:cTn>
                              </p:par>
                              <p:par>
                                <p:cTn id="40" presetID="10" presetClass="entr" presetSubtype="0" fill="hold" nodeType="with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400"/>
                                        <p:tgtEl>
                                          <p:spTgt spid="14"/>
                                        </p:tgtEl>
                                      </p:cBhvr>
                                    </p:animEffect>
                                  </p:childTnLst>
                                </p:cTn>
                              </p:par>
                              <p:par>
                                <p:cTn id="43" presetID="10" presetClass="entr" presetSubtype="0" fill="hold" nodeType="withEffect">
                                  <p:stCondLst>
                                    <p:cond delay="0"/>
                                  </p:stCondLst>
                                  <p:childTnLst>
                                    <p:set>
                                      <p:cBhvr>
                                        <p:cTn id="44" dur="1" fill="hold">
                                          <p:stCondLst>
                                            <p:cond delay="0"/>
                                          </p:stCondLst>
                                        </p:cTn>
                                        <p:tgtEl>
                                          <p:spTgt spid="15"/>
                                        </p:tgtEl>
                                        <p:attrNameLst>
                                          <p:attrName>style.visibility</p:attrName>
                                        </p:attrNameLst>
                                      </p:cBhvr>
                                      <p:to>
                                        <p:strVal val="visible"/>
                                      </p:to>
                                    </p:set>
                                    <p:animEffect transition="in" filter="fade">
                                      <p:cBhvr>
                                        <p:cTn id="45" dur="400"/>
                                        <p:tgtEl>
                                          <p:spTgt spid="15"/>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6"/>
                                        </p:tgtEl>
                                        <p:attrNameLst>
                                          <p:attrName>style.visibility</p:attrName>
                                        </p:attrNameLst>
                                      </p:cBhvr>
                                      <p:to>
                                        <p:strVal val="visible"/>
                                      </p:to>
                                    </p:set>
                                    <p:animEffect transition="in" filter="fade">
                                      <p:cBhvr>
                                        <p:cTn id="48" dur="400"/>
                                        <p:tgtEl>
                                          <p:spTgt spid="16"/>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7"/>
                                        </p:tgtEl>
                                        <p:attrNameLst>
                                          <p:attrName>style.visibility</p:attrName>
                                        </p:attrNameLst>
                                      </p:cBhvr>
                                      <p:to>
                                        <p:strVal val="visible"/>
                                      </p:to>
                                    </p:set>
                                    <p:animEffect transition="in" filter="fade">
                                      <p:cBhvr>
                                        <p:cTn id="51" dur="400"/>
                                        <p:tgtEl>
                                          <p:spTgt spid="17"/>
                                        </p:tgtEl>
                                      </p:cBhvr>
                                    </p:animEffect>
                                  </p:childTnLst>
                                </p:cTn>
                              </p:par>
                            </p:childTnLst>
                          </p:cTn>
                        </p:par>
                      </p:childTnLst>
                    </p:cTn>
                  </p:par>
                  <p:par>
                    <p:cTn id="81" fill="hold">
                      <p:stCondLst>
                        <p:cond delay="indefinite"/>
                      </p:stCondLst>
                      <p:childTnLst>
                        <p:par>
                          <p:cTn id="82"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18"/>
                                        </p:tgtEl>
                                        <p:attrNameLst>
                                          <p:attrName>style.visibility</p:attrName>
                                        </p:attrNameLst>
                                      </p:cBhvr>
                                      <p:to>
                                        <p:strVal val="visible"/>
                                      </p:to>
                                    </p:set>
                                    <p:animEffect transition="in" filter="fade">
                                      <p:cBhvr>
                                        <p:cTn id="56" dur="400"/>
                                        <p:tgtEl>
                                          <p:spTgt spid="18"/>
                                        </p:tgtEl>
                                      </p:cBhvr>
                                    </p:animEffect>
                                  </p:childTnLst>
                                </p:cTn>
                              </p:par>
                              <p:par>
                                <p:cTn id="57" presetID="10" presetClass="entr" presetSubtype="0" fill="hold" nodeType="withEffect">
                                  <p:stCondLst>
                                    <p:cond delay="0"/>
                                  </p:stCondLst>
                                  <p:childTnLst>
                                    <p:set>
                                      <p:cBhvr>
                                        <p:cTn id="58" dur="1" fill="hold">
                                          <p:stCondLst>
                                            <p:cond delay="0"/>
                                          </p:stCondLst>
                                        </p:cTn>
                                        <p:tgtEl>
                                          <p:spTgt spid="19"/>
                                        </p:tgtEl>
                                        <p:attrNameLst>
                                          <p:attrName>style.visibility</p:attrName>
                                        </p:attrNameLst>
                                      </p:cBhvr>
                                      <p:to>
                                        <p:strVal val="visible"/>
                                      </p:to>
                                    </p:set>
                                    <p:animEffect transition="in" filter="fade">
                                      <p:cBhvr>
                                        <p:cTn id="59" dur="400"/>
                                        <p:tgtEl>
                                          <p:spTgt spid="19"/>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0"/>
                                        </p:tgtEl>
                                        <p:attrNameLst>
                                          <p:attrName>style.visibility</p:attrName>
                                        </p:attrNameLst>
                                      </p:cBhvr>
                                      <p:to>
                                        <p:strVal val="visible"/>
                                      </p:to>
                                    </p:set>
                                    <p:animEffect transition="in" filter="fade">
                                      <p:cBhvr>
                                        <p:cTn id="62" dur="400"/>
                                        <p:tgtEl>
                                          <p:spTgt spid="20"/>
                                        </p:tgtEl>
                                      </p:cBhvr>
                                    </p:animEffect>
                                  </p:childTnLst>
                                </p:cTn>
                              </p:par>
                              <p:par>
                                <p:cTn id="63" presetID="10" presetClass="entr" presetSubtype="0" fill="hold" nodeType="withEffect">
                                  <p:stCondLst>
                                    <p:cond delay="0"/>
                                  </p:stCondLst>
                                  <p:childTnLst>
                                    <p:set>
                                      <p:cBhvr>
                                        <p:cTn id="64" dur="1" fill="hold">
                                          <p:stCondLst>
                                            <p:cond delay="0"/>
                                          </p:stCondLst>
                                        </p:cTn>
                                        <p:tgtEl>
                                          <p:spTgt spid="21"/>
                                        </p:tgtEl>
                                        <p:attrNameLst>
                                          <p:attrName>style.visibility</p:attrName>
                                        </p:attrNameLst>
                                      </p:cBhvr>
                                      <p:to>
                                        <p:strVal val="visible"/>
                                      </p:to>
                                    </p:set>
                                    <p:animEffect transition="in" filter="fade">
                                      <p:cBhvr>
                                        <p:cTn id="65" dur="400"/>
                                        <p:tgtEl>
                                          <p:spTgt spid="21"/>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2"/>
                                        </p:tgtEl>
                                        <p:attrNameLst>
                                          <p:attrName>style.visibility</p:attrName>
                                        </p:attrNameLst>
                                      </p:cBhvr>
                                      <p:to>
                                        <p:strVal val="visible"/>
                                      </p:to>
                                    </p:set>
                                    <p:animEffect transition="in" filter="fade">
                                      <p:cBhvr>
                                        <p:cTn id="68" dur="400"/>
                                        <p:tgtEl>
                                          <p:spTgt spid="22"/>
                                        </p:tgtEl>
                                      </p:cBhvr>
                                    </p:animEffect>
                                  </p:childTnLst>
                                </p:cTn>
                              </p:par>
                              <p:par>
                                <p:cTn id="69" presetID="10" presetClass="entr" presetSubtype="0" fill="hold" nodeType="withEffect">
                                  <p:stCondLst>
                                    <p:cond delay="0"/>
                                  </p:stCondLst>
                                  <p:childTnLst>
                                    <p:set>
                                      <p:cBhvr>
                                        <p:cTn id="70" dur="1" fill="hold">
                                          <p:stCondLst>
                                            <p:cond delay="0"/>
                                          </p:stCondLst>
                                        </p:cTn>
                                        <p:tgtEl>
                                          <p:spTgt spid="23"/>
                                        </p:tgtEl>
                                        <p:attrNameLst>
                                          <p:attrName>style.visibility</p:attrName>
                                        </p:attrNameLst>
                                      </p:cBhvr>
                                      <p:to>
                                        <p:strVal val="visible"/>
                                      </p:to>
                                    </p:set>
                                    <p:animEffect transition="in" filter="fade">
                                      <p:cBhvr>
                                        <p:cTn id="71" dur="400"/>
                                        <p:tgtEl>
                                          <p:spTgt spid="23"/>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4"/>
                                        </p:tgtEl>
                                        <p:attrNameLst>
                                          <p:attrName>style.visibility</p:attrName>
                                        </p:attrNameLst>
                                      </p:cBhvr>
                                      <p:to>
                                        <p:strVal val="visible"/>
                                      </p:to>
                                    </p:set>
                                    <p:animEffect transition="in" filter="fade">
                                      <p:cBhvr>
                                        <p:cTn id="74" dur="400"/>
                                        <p:tgtEl>
                                          <p:spTgt spid="24"/>
                                        </p:tgtEl>
                                      </p:cBhvr>
                                    </p:animEffect>
                                  </p:childTnLst>
                                </p:cTn>
                              </p:par>
                              <p:par>
                                <p:cTn id="75" presetID="10" presetClass="entr" presetSubtype="0" fill="hold" nodeType="withEffect">
                                  <p:stCondLst>
                                    <p:cond delay="0"/>
                                  </p:stCondLst>
                                  <p:childTnLst>
                                    <p:set>
                                      <p:cBhvr>
                                        <p:cTn id="76" dur="1" fill="hold">
                                          <p:stCondLst>
                                            <p:cond delay="0"/>
                                          </p:stCondLst>
                                        </p:cTn>
                                        <p:tgtEl>
                                          <p:spTgt spid="25"/>
                                        </p:tgtEl>
                                        <p:attrNameLst>
                                          <p:attrName>style.visibility</p:attrName>
                                        </p:attrNameLst>
                                      </p:cBhvr>
                                      <p:to>
                                        <p:strVal val="visible"/>
                                      </p:to>
                                    </p:set>
                                    <p:animEffect transition="in" filter="fade">
                                      <p:cBhvr>
                                        <p:cTn id="77" dur="400"/>
                                        <p:tgtEl>
                                          <p:spTgt spid="25"/>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6"/>
                                        </p:tgtEl>
                                        <p:attrNameLst>
                                          <p:attrName>style.visibility</p:attrName>
                                        </p:attrNameLst>
                                      </p:cBhvr>
                                      <p:to>
                                        <p:strVal val="visible"/>
                                      </p:to>
                                    </p:set>
                                    <p:animEffect transition="in" filter="fade">
                                      <p:cBhvr>
                                        <p:cTn id="80" dur="4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11" grpId="0"/>
      <p:bldP spid="12" grpId="0"/>
      <p:bldP spid="16" grpId="0"/>
      <p:bldP spid="17" grpId="0"/>
      <p:bldP spid="18" grpId="0"/>
      <p:bldP spid="20" grpId="0"/>
      <p:bldP spid="22" grpId="0"/>
      <p:bldP spid="24" grpId="0"/>
      <p:bldP spid="26" grpId="0"/>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2"/>
                </a:solidFill>
              </a:rPr>
              <a:t>Three ways to build it: why we chose the Power stack</a:t>
            </a:r>
            <a:endParaRPr lang="en-US" sz="3000" dirty="0"/>
          </a:p>
        </p:txBody>
      </p:sp>
      <p:graphicFrame>
        <p:nvGraphicFramePr>
          <p:cNvPr id="6" name="options_table"/>
          <p:cNvGraphicFramePr>
            <a:graphicFrameLocks noGrp="1"/>
          </p:cNvGraphicFramePr>
          <p:nvPr>
            <p:extLst>
              <p:ext uri="{D42A27DB-BD31-4B8C-83A1-F6EECF244321}">
                <p14:modId xmlns:p14="http://schemas.microsoft.com/office/powerpoint/2010/main" val="1579011935"/>
              </p:ext>
            </p:extLst>
          </p:nvPr>
        </p:nvGraphicFramePr>
        <p:xfrm>
          <a:off x="548640" y="1280160"/>
          <a:ext cx="7589520" cy="914400"/>
        </p:xfrm>
        <a:graphic>
          <a:graphicData uri="http://schemas.openxmlformats.org/drawingml/2006/table">
            <a:tbl>
              <a:tblPr/>
              <a:tblGrid>
                <a:gridCol w="2377440"/>
                <a:gridCol w="1737360"/>
                <a:gridCol w="1737360"/>
                <a:gridCol w="1737360"/>
              </a:tblGrid>
              <a:tr h="685800">
                <a:tc>
                  <a:txBody>
                    <a:bodyPr/>
                    <a:lstStyle/>
                    <a:p>
                      <a:pPr indent="0" marL="0">
                        <a:buNone/>
                      </a:pPr>
                      <a:endParaRPr lang="en-US" sz="1400" dirty="0"/>
                    </a:p>
                  </a:txBody>
                  <a:tcPr marL="91440" marR="91440" marT="45720" marB="45720" anchor="ctr">
                    <a:lnL w="9525" cap="flat" cmpd="sng" algn="ctr">
                      <a:solidFill>
                        <a:srgbClr val="D5E3EF"/>
                      </a:solidFill>
                      <a:prstDash val="solid"/>
                      <a:round/>
                      <a:headEnd type="none" w="med" len="med"/>
                      <a:tailEnd type="none" w="med" len="med"/>
                    </a:lnL>
                    <a:lnR w="9525" cap="flat" cmpd="sng" algn="ctr">
                      <a:solidFill>
                        <a:srgbClr val="D5E3EF"/>
                      </a:solidFill>
                      <a:prstDash val="solid"/>
                      <a:round/>
                      <a:headEnd type="none" w="med" len="med"/>
                      <a:tailEnd type="none" w="med" len="med"/>
                    </a:lnR>
                    <a:lnT w="9525" cap="flat" cmpd="sng" algn="ctr">
                      <a:solidFill>
                        <a:srgbClr val="D5E3EF"/>
                      </a:solidFill>
                      <a:prstDash val="solid"/>
                      <a:round/>
                      <a:headEnd type="none" w="med" len="med"/>
                      <a:tailEnd type="none" w="med" len="med"/>
                    </a:lnT>
                    <a:lnB w="9525" cap="flat" cmpd="sng" algn="ctr">
                      <a:solidFill>
                        <a:srgbClr val="D5E3EF"/>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tx2"/>
                          </a:solidFill>
                        </a:rPr>
                        <a:t>CI/CD pipelines</a:t>
                      </a:r>
                      <a:endParaRPr lang="en-US" sz="1400" dirty="0"/>
                    </a:p>
                    <a:p>
                      <a:pPr algn="ctr" indent="0" marL="0">
                        <a:buNone/>
                      </a:pPr>
                      <a:r>
                        <a:rPr lang="en-US" sz="1100" dirty="0">
                          <a:solidFill>
                            <a:schemeClr val="accent6"/>
                          </a:solidFill>
                        </a:rPr>
                        <a:t>Azure DevOps / GitHub</a:t>
                      </a:r>
                      <a:endParaRPr lang="en-US" sz="1400" dirty="0"/>
                    </a:p>
                  </a:txBody>
                  <a:tcPr marL="91440" marR="91440" marT="45720" marB="45720" anchor="ctr">
                    <a:lnL w="9525" cap="flat" cmpd="sng" algn="ctr">
                      <a:solidFill>
                        <a:srgbClr val="D5E3EF"/>
                      </a:solidFill>
                      <a:prstDash val="solid"/>
                      <a:round/>
                      <a:headEnd type="none" w="med" len="med"/>
                      <a:tailEnd type="none" w="med" len="med"/>
                    </a:lnL>
                    <a:lnR w="9525" cap="flat" cmpd="sng" algn="ctr">
                      <a:solidFill>
                        <a:srgbClr val="D5E3EF"/>
                      </a:solidFill>
                      <a:prstDash val="solid"/>
                      <a:round/>
                      <a:headEnd type="none" w="med" len="med"/>
                      <a:tailEnd type="none" w="med" len="med"/>
                    </a:lnR>
                    <a:lnT w="9525" cap="flat" cmpd="sng" algn="ctr">
                      <a:solidFill>
                        <a:srgbClr val="D5E3EF"/>
                      </a:solidFill>
                      <a:prstDash val="solid"/>
                      <a:round/>
                      <a:headEnd type="none" w="med" len="med"/>
                      <a:tailEnd type="none" w="med" len="med"/>
                    </a:lnT>
                    <a:lnB w="9525" cap="flat" cmpd="sng" algn="ctr">
                      <a:solidFill>
                        <a:srgbClr val="D5E3EF"/>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tx2"/>
                          </a:solidFill>
                        </a:rPr>
                        <a:t>Function App + web portal</a:t>
                      </a:r>
                      <a:endParaRPr lang="en-US" sz="1400" dirty="0"/>
                    </a:p>
                    <a:p>
                      <a:pPr algn="ctr" indent="0" marL="0">
                        <a:buNone/>
                      </a:pPr>
                      <a:r>
                        <a:rPr lang="en-US" sz="1100" dirty="0">
                          <a:solidFill>
                            <a:schemeClr val="accent6"/>
                          </a:solidFill>
                        </a:rPr>
                        <a:t>Azure, custom code</a:t>
                      </a:r>
                      <a:endParaRPr lang="en-US" sz="1400" dirty="0"/>
                    </a:p>
                  </a:txBody>
                  <a:tcPr marL="91440" marR="91440" marT="45720" marB="45720" anchor="ctr">
                    <a:lnL w="9525" cap="flat" cmpd="sng" algn="ctr">
                      <a:solidFill>
                        <a:srgbClr val="D5E3EF"/>
                      </a:solidFill>
                      <a:prstDash val="solid"/>
                      <a:round/>
                      <a:headEnd type="none" w="med" len="med"/>
                      <a:tailEnd type="none" w="med" len="med"/>
                    </a:lnL>
                    <a:lnR w="9525" cap="flat" cmpd="sng" algn="ctr">
                      <a:solidFill>
                        <a:srgbClr val="D5E3EF"/>
                      </a:solidFill>
                      <a:prstDash val="solid"/>
                      <a:round/>
                      <a:headEnd type="none" w="med" len="med"/>
                      <a:tailEnd type="none" w="med" len="med"/>
                    </a:lnR>
                    <a:lnT w="9525" cap="flat" cmpd="sng" algn="ctr">
                      <a:solidFill>
                        <a:srgbClr val="D5E3EF"/>
                      </a:solidFill>
                      <a:prstDash val="solid"/>
                      <a:round/>
                      <a:headEnd type="none" w="med" len="med"/>
                      <a:tailEnd type="none" w="med" len="med"/>
                    </a:lnT>
                    <a:lnB w="9525" cap="flat" cmpd="sng" algn="ctr">
                      <a:solidFill>
                        <a:srgbClr val="D5E3EF"/>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bg1"/>
                          </a:solidFill>
                        </a:rPr>
                        <a:t>Power Apps + Automate + SharePoint</a:t>
                      </a:r>
                      <a:endParaRPr lang="en-US" sz="1400" dirty="0"/>
                    </a:p>
                    <a:p>
                      <a:pPr algn="ctr" indent="0" marL="0">
                        <a:buNone/>
                      </a:pPr>
                      <a:r>
                        <a:rPr lang="en-US" sz="1100" dirty="0">
                          <a:solidFill>
                            <a:schemeClr val="bg1"/>
                          </a:solidFill>
                        </a:rPr>
                        <a:t>Microsoft 365, low-code</a:t>
                      </a:r>
                      <a:endParaRPr lang="en-US" sz="1400" dirty="0"/>
                    </a:p>
                  </a:txBody>
                  <a:tcPr marL="91440" marR="91440" marT="45720" marB="45720" anchor="ctr">
                    <a:lnL w="9525" cap="flat" cmpd="sng" algn="ctr">
                      <a:solidFill>
                        <a:srgbClr val="D5E3EF"/>
                      </a:solidFill>
                      <a:prstDash val="solid"/>
                      <a:round/>
                      <a:headEnd type="none" w="med" len="med"/>
                      <a:tailEnd type="none" w="med" len="med"/>
                    </a:lnL>
                    <a:lnR w="9525" cap="flat" cmpd="sng" algn="ctr">
                      <a:solidFill>
                        <a:srgbClr val="D5E3EF"/>
                      </a:solidFill>
                      <a:prstDash val="solid"/>
                      <a:round/>
                      <a:headEnd type="none" w="med" len="med"/>
                      <a:tailEnd type="none" w="med" len="med"/>
                    </a:lnR>
                    <a:lnT w="9525" cap="flat" cmpd="sng" algn="ctr">
                      <a:solidFill>
                        <a:srgbClr val="D5E3EF"/>
                      </a:solidFill>
                      <a:prstDash val="solid"/>
                      <a:round/>
                      <a:headEnd type="none" w="med" len="med"/>
                      <a:tailEnd type="none" w="med" len="med"/>
                    </a:lnT>
                    <a:lnB w="9525" cap="flat" cmpd="sng" algn="ctr">
                      <a:solidFill>
                        <a:srgbClr val="D5E3EF"/>
                      </a:solidFill>
                      <a:prstDash val="solid"/>
                      <a:round/>
                      <a:headEnd type="none" w="med" len="med"/>
                      <a:tailEnd type="none" w="med" len="med"/>
                    </a:lnB>
                    <a:solidFill>
                      <a:schemeClr val="accent1"/>
                    </a:solidFill>
                  </a:tcPr>
                </a:tc>
              </a:tr>
              <a:tr h="475488">
                <a:tc>
                  <a:txBody>
                    <a:bodyPr/>
                    <a:lstStyle/>
                    <a:p>
                      <a:pPr indent="0" marL="0">
                        <a:buNone/>
                      </a:pPr>
                      <a:r>
                        <a:rPr lang="en-US" sz="1400" b="1" dirty="0">
                          <a:solidFill>
                            <a:schemeClr val="tx2"/>
                          </a:solidFill>
                        </a:rPr>
                        <a:t>Familiar to M365 users</a:t>
                      </a:r>
                      <a:endParaRPr lang="en-US" sz="1400" dirty="0"/>
                    </a:p>
                  </a:txBody>
                  <a:tcPr marL="91440" marR="91440" marT="45720" marB="45720" anchor="ctr">
                    <a:lnL w="9525" cap="flat" cmpd="sng" algn="ctr">
                      <a:solidFill>
                        <a:srgbClr val="D5E3EF"/>
                      </a:solidFill>
                      <a:prstDash val="solid"/>
                      <a:round/>
                      <a:headEnd type="none" w="med" len="med"/>
                      <a:tailEnd type="none" w="med" len="med"/>
                    </a:lnL>
                    <a:lnR w="9525" cap="flat" cmpd="sng" algn="ctr">
                      <a:solidFill>
                        <a:srgbClr val="D5E3EF"/>
                      </a:solidFill>
                      <a:prstDash val="solid"/>
                      <a:round/>
                      <a:headEnd type="none" w="med" len="med"/>
                      <a:tailEnd type="none" w="med" len="med"/>
                    </a:lnR>
                    <a:lnT w="9525" cap="flat" cmpd="sng" algn="ctr">
                      <a:solidFill>
                        <a:srgbClr val="D5E3EF"/>
                      </a:solidFill>
                      <a:prstDash val="solid"/>
                      <a:round/>
                      <a:headEnd type="none" w="med" len="med"/>
                      <a:tailEnd type="none" w="med" len="med"/>
                    </a:lnT>
                    <a:lnB w="9525" cap="flat" cmpd="sng" algn="ctr">
                      <a:solidFill>
                        <a:srgbClr val="D5E3EF"/>
                      </a:solidFill>
                      <a:prstDash val="solid"/>
                      <a:round/>
                      <a:headEnd type="none" w="med" len="med"/>
                      <a:tailEnd type="none" w="med" len="med"/>
                    </a:lnB>
                    <a:solidFill>
                      <a:schemeClr val="bg1"/>
                    </a:solidFill>
                  </a:tcPr>
                </a:tc>
                <a:tc>
                  <a:txBody>
                    <a:bodyPr/>
                    <a:lstStyle/>
                    <a:p>
                      <a:pPr algn="ctr" indent="0" marL="0">
                        <a:buNone/>
                      </a:pPr>
                      <a:r>
                        <a:rPr lang="en-US" sz="1800" dirty="0">
                          <a:solidFill>
                            <a:schemeClr val="accent6"/>
                          </a:solidFill>
                        </a:rPr>
                        <a:t>●○○</a:t>
                      </a:r>
                      <a:endParaRPr lang="en-US" sz="1800" dirty="0"/>
                    </a:p>
                  </a:txBody>
                  <a:tcPr marL="91440" marR="91440" marT="45720" marB="45720" anchor="ctr">
                    <a:lnL w="9525" cap="flat" cmpd="sng" algn="ctr">
                      <a:solidFill>
                        <a:srgbClr val="D5E3EF"/>
                      </a:solidFill>
                      <a:prstDash val="solid"/>
                      <a:round/>
                      <a:headEnd type="none" w="med" len="med"/>
                      <a:tailEnd type="none" w="med" len="med"/>
                    </a:lnL>
                    <a:lnR w="9525" cap="flat" cmpd="sng" algn="ctr">
                      <a:solidFill>
                        <a:srgbClr val="D5E3EF"/>
                      </a:solidFill>
                      <a:prstDash val="solid"/>
                      <a:round/>
                      <a:headEnd type="none" w="med" len="med"/>
                      <a:tailEnd type="none" w="med" len="med"/>
                    </a:lnR>
                    <a:lnT w="9525" cap="flat" cmpd="sng" algn="ctr">
                      <a:solidFill>
                        <a:srgbClr val="D5E3EF"/>
                      </a:solidFill>
                      <a:prstDash val="solid"/>
                      <a:round/>
                      <a:headEnd type="none" w="med" len="med"/>
                      <a:tailEnd type="none" w="med" len="med"/>
                    </a:lnT>
                    <a:lnB w="9525" cap="flat" cmpd="sng" algn="ctr">
                      <a:solidFill>
                        <a:srgbClr val="D5E3EF"/>
                      </a:solidFill>
                      <a:prstDash val="solid"/>
                      <a:round/>
                      <a:headEnd type="none" w="med" len="med"/>
                      <a:tailEnd type="none" w="med" len="med"/>
                    </a:lnB>
                    <a:solidFill>
                      <a:schemeClr val="bg1"/>
                    </a:solidFill>
                  </a:tcPr>
                </a:tc>
                <a:tc>
                  <a:txBody>
                    <a:bodyPr/>
                    <a:lstStyle/>
                    <a:p>
                      <a:pPr algn="ctr" indent="0" marL="0">
                        <a:buNone/>
                      </a:pPr>
                      <a:r>
                        <a:rPr lang="en-US" sz="1800" dirty="0">
                          <a:solidFill>
                            <a:schemeClr val="accent6"/>
                          </a:solidFill>
                        </a:rPr>
                        <a:t>●○○</a:t>
                      </a:r>
                      <a:endParaRPr lang="en-US" sz="1800" dirty="0"/>
                    </a:p>
                  </a:txBody>
                  <a:tcPr marL="91440" marR="91440" marT="45720" marB="45720" anchor="ctr">
                    <a:lnL w="9525" cap="flat" cmpd="sng" algn="ctr">
                      <a:solidFill>
                        <a:srgbClr val="D5E3EF"/>
                      </a:solidFill>
                      <a:prstDash val="solid"/>
                      <a:round/>
                      <a:headEnd type="none" w="med" len="med"/>
                      <a:tailEnd type="none" w="med" len="med"/>
                    </a:lnL>
                    <a:lnR w="9525" cap="flat" cmpd="sng" algn="ctr">
                      <a:solidFill>
                        <a:srgbClr val="D5E3EF"/>
                      </a:solidFill>
                      <a:prstDash val="solid"/>
                      <a:round/>
                      <a:headEnd type="none" w="med" len="med"/>
                      <a:tailEnd type="none" w="med" len="med"/>
                    </a:lnR>
                    <a:lnT w="9525" cap="flat" cmpd="sng" algn="ctr">
                      <a:solidFill>
                        <a:srgbClr val="D5E3EF"/>
                      </a:solidFill>
                      <a:prstDash val="solid"/>
                      <a:round/>
                      <a:headEnd type="none" w="med" len="med"/>
                      <a:tailEnd type="none" w="med" len="med"/>
                    </a:lnT>
                    <a:lnB w="9525" cap="flat" cmpd="sng" algn="ctr">
                      <a:solidFill>
                        <a:srgbClr val="D5E3EF"/>
                      </a:solidFill>
                      <a:prstDash val="solid"/>
                      <a:round/>
                      <a:headEnd type="none" w="med" len="med"/>
                      <a:tailEnd type="none" w="med" len="med"/>
                    </a:lnB>
                    <a:solidFill>
                      <a:schemeClr val="bg1"/>
                    </a:solidFill>
                  </a:tcPr>
                </a:tc>
                <a:tc>
                  <a:txBody>
                    <a:bodyPr/>
                    <a:lstStyle/>
                    <a:p>
                      <a:pPr algn="ctr" indent="0" marL="0">
                        <a:buNone/>
                      </a:pPr>
                      <a:r>
                        <a:rPr lang="en-US" sz="1800" dirty="0">
                          <a:solidFill>
                            <a:schemeClr val="accent1"/>
                          </a:solidFill>
                        </a:rPr>
                        <a:t>●●●</a:t>
                      </a:r>
                      <a:endParaRPr lang="en-US" sz="1800" dirty="0"/>
                    </a:p>
                  </a:txBody>
                  <a:tcPr marL="91440" marR="91440" marT="45720" marB="45720" anchor="ctr">
                    <a:lnL w="9525" cap="flat" cmpd="sng" algn="ctr">
                      <a:solidFill>
                        <a:srgbClr val="D5E3EF"/>
                      </a:solidFill>
                      <a:prstDash val="solid"/>
                      <a:round/>
                      <a:headEnd type="none" w="med" len="med"/>
                      <a:tailEnd type="none" w="med" len="med"/>
                    </a:lnL>
                    <a:lnR w="9525" cap="flat" cmpd="sng" algn="ctr">
                      <a:solidFill>
                        <a:srgbClr val="D5E3EF"/>
                      </a:solidFill>
                      <a:prstDash val="solid"/>
                      <a:round/>
                      <a:headEnd type="none" w="med" len="med"/>
                      <a:tailEnd type="none" w="med" len="med"/>
                    </a:lnR>
                    <a:lnT w="9525" cap="flat" cmpd="sng" algn="ctr">
                      <a:solidFill>
                        <a:srgbClr val="D5E3EF"/>
                      </a:solidFill>
                      <a:prstDash val="solid"/>
                      <a:round/>
                      <a:headEnd type="none" w="med" len="med"/>
                      <a:tailEnd type="none" w="med" len="med"/>
                    </a:lnT>
                    <a:lnB w="9525" cap="flat" cmpd="sng" algn="ctr">
                      <a:solidFill>
                        <a:srgbClr val="D5E3EF"/>
                      </a:solidFill>
                      <a:prstDash val="solid"/>
                      <a:round/>
                      <a:headEnd type="none" w="med" len="med"/>
                      <a:tailEnd type="none" w="med" len="med"/>
                    </a:lnB>
                    <a:solidFill>
                      <a:schemeClr val="bg2"/>
                    </a:solidFill>
                  </a:tcPr>
                </a:tc>
              </a:tr>
              <a:tr h="475488">
                <a:tc>
                  <a:txBody>
                    <a:bodyPr/>
                    <a:lstStyle/>
                    <a:p>
                      <a:pPr indent="0" marL="0">
                        <a:buNone/>
                      </a:pPr>
                      <a:r>
                        <a:rPr lang="en-US" sz="1400" b="1" dirty="0">
                          <a:solidFill>
                            <a:schemeClr val="tx2"/>
                          </a:solidFill>
                        </a:rPr>
                        <a:t>Easy to extend flows</a:t>
                      </a:r>
                      <a:endParaRPr lang="en-US" sz="1400" dirty="0"/>
                    </a:p>
                  </a:txBody>
                  <a:tcPr marL="91440" marR="91440" marT="45720" marB="45720" anchor="ctr">
                    <a:lnL w="9525" cap="flat" cmpd="sng" algn="ctr">
                      <a:solidFill>
                        <a:srgbClr val="D5E3EF"/>
                      </a:solidFill>
                      <a:prstDash val="solid"/>
                      <a:round/>
                      <a:headEnd type="none" w="med" len="med"/>
                      <a:tailEnd type="none" w="med" len="med"/>
                    </a:lnL>
                    <a:lnR w="9525" cap="flat" cmpd="sng" algn="ctr">
                      <a:solidFill>
                        <a:srgbClr val="D5E3EF"/>
                      </a:solidFill>
                      <a:prstDash val="solid"/>
                      <a:round/>
                      <a:headEnd type="none" w="med" len="med"/>
                      <a:tailEnd type="none" w="med" len="med"/>
                    </a:lnR>
                    <a:lnT w="9525" cap="flat" cmpd="sng" algn="ctr">
                      <a:solidFill>
                        <a:srgbClr val="D5E3EF"/>
                      </a:solidFill>
                      <a:prstDash val="solid"/>
                      <a:round/>
                      <a:headEnd type="none" w="med" len="med"/>
                      <a:tailEnd type="none" w="med" len="med"/>
                    </a:lnT>
                    <a:lnB w="9525" cap="flat" cmpd="sng" algn="ctr">
                      <a:solidFill>
                        <a:srgbClr val="D5E3EF"/>
                      </a:solidFill>
                      <a:prstDash val="solid"/>
                      <a:round/>
                      <a:headEnd type="none" w="med" len="med"/>
                      <a:tailEnd type="none" w="med" len="med"/>
                    </a:lnB>
                    <a:solidFill>
                      <a:schemeClr val="bg1"/>
                    </a:solidFill>
                  </a:tcPr>
                </a:tc>
                <a:tc>
                  <a:txBody>
                    <a:bodyPr/>
                    <a:lstStyle/>
                    <a:p>
                      <a:pPr algn="ctr" indent="0" marL="0">
                        <a:buNone/>
                      </a:pPr>
                      <a:r>
                        <a:rPr lang="en-US" sz="1800" dirty="0">
                          <a:solidFill>
                            <a:schemeClr val="accent6"/>
                          </a:solidFill>
                        </a:rPr>
                        <a:t>●●○</a:t>
                      </a:r>
                      <a:endParaRPr lang="en-US" sz="1800" dirty="0"/>
                    </a:p>
                  </a:txBody>
                  <a:tcPr marL="91440" marR="91440" marT="45720" marB="45720" anchor="ctr">
                    <a:lnL w="9525" cap="flat" cmpd="sng" algn="ctr">
                      <a:solidFill>
                        <a:srgbClr val="D5E3EF"/>
                      </a:solidFill>
                      <a:prstDash val="solid"/>
                      <a:round/>
                      <a:headEnd type="none" w="med" len="med"/>
                      <a:tailEnd type="none" w="med" len="med"/>
                    </a:lnL>
                    <a:lnR w="9525" cap="flat" cmpd="sng" algn="ctr">
                      <a:solidFill>
                        <a:srgbClr val="D5E3EF"/>
                      </a:solidFill>
                      <a:prstDash val="solid"/>
                      <a:round/>
                      <a:headEnd type="none" w="med" len="med"/>
                      <a:tailEnd type="none" w="med" len="med"/>
                    </a:lnR>
                    <a:lnT w="9525" cap="flat" cmpd="sng" algn="ctr">
                      <a:solidFill>
                        <a:srgbClr val="D5E3EF"/>
                      </a:solidFill>
                      <a:prstDash val="solid"/>
                      <a:round/>
                      <a:headEnd type="none" w="med" len="med"/>
                      <a:tailEnd type="none" w="med" len="med"/>
                    </a:lnT>
                    <a:lnB w="9525" cap="flat" cmpd="sng" algn="ctr">
                      <a:solidFill>
                        <a:srgbClr val="D5E3EF"/>
                      </a:solidFill>
                      <a:prstDash val="solid"/>
                      <a:round/>
                      <a:headEnd type="none" w="med" len="med"/>
                      <a:tailEnd type="none" w="med" len="med"/>
                    </a:lnB>
                    <a:solidFill>
                      <a:schemeClr val="bg1"/>
                    </a:solidFill>
                  </a:tcPr>
                </a:tc>
                <a:tc>
                  <a:txBody>
                    <a:bodyPr/>
                    <a:lstStyle/>
                    <a:p>
                      <a:pPr algn="ctr" indent="0" marL="0">
                        <a:buNone/>
                      </a:pPr>
                      <a:r>
                        <a:rPr lang="en-US" sz="1800" dirty="0">
                          <a:solidFill>
                            <a:schemeClr val="accent6"/>
                          </a:solidFill>
                        </a:rPr>
                        <a:t>●●●</a:t>
                      </a:r>
                      <a:endParaRPr lang="en-US" sz="1800" dirty="0"/>
                    </a:p>
                  </a:txBody>
                  <a:tcPr marL="91440" marR="91440" marT="45720" marB="45720" anchor="ctr">
                    <a:lnL w="9525" cap="flat" cmpd="sng" algn="ctr">
                      <a:solidFill>
                        <a:srgbClr val="D5E3EF"/>
                      </a:solidFill>
                      <a:prstDash val="solid"/>
                      <a:round/>
                      <a:headEnd type="none" w="med" len="med"/>
                      <a:tailEnd type="none" w="med" len="med"/>
                    </a:lnL>
                    <a:lnR w="9525" cap="flat" cmpd="sng" algn="ctr">
                      <a:solidFill>
                        <a:srgbClr val="D5E3EF"/>
                      </a:solidFill>
                      <a:prstDash val="solid"/>
                      <a:round/>
                      <a:headEnd type="none" w="med" len="med"/>
                      <a:tailEnd type="none" w="med" len="med"/>
                    </a:lnR>
                    <a:lnT w="9525" cap="flat" cmpd="sng" algn="ctr">
                      <a:solidFill>
                        <a:srgbClr val="D5E3EF"/>
                      </a:solidFill>
                      <a:prstDash val="solid"/>
                      <a:round/>
                      <a:headEnd type="none" w="med" len="med"/>
                      <a:tailEnd type="none" w="med" len="med"/>
                    </a:lnT>
                    <a:lnB w="9525" cap="flat" cmpd="sng" algn="ctr">
                      <a:solidFill>
                        <a:srgbClr val="D5E3EF"/>
                      </a:solidFill>
                      <a:prstDash val="solid"/>
                      <a:round/>
                      <a:headEnd type="none" w="med" len="med"/>
                      <a:tailEnd type="none" w="med" len="med"/>
                    </a:lnB>
                    <a:solidFill>
                      <a:schemeClr val="bg1"/>
                    </a:solidFill>
                  </a:tcPr>
                </a:tc>
                <a:tc>
                  <a:txBody>
                    <a:bodyPr/>
                    <a:lstStyle/>
                    <a:p>
                      <a:pPr algn="ctr" indent="0" marL="0">
                        <a:buNone/>
                      </a:pPr>
                      <a:r>
                        <a:rPr lang="en-US" sz="1800" dirty="0">
                          <a:solidFill>
                            <a:schemeClr val="accent1"/>
                          </a:solidFill>
                        </a:rPr>
                        <a:t>●●●</a:t>
                      </a:r>
                      <a:endParaRPr lang="en-US" sz="1800" dirty="0"/>
                    </a:p>
                  </a:txBody>
                  <a:tcPr marL="91440" marR="91440" marT="45720" marB="45720" anchor="ctr">
                    <a:lnL w="9525" cap="flat" cmpd="sng" algn="ctr">
                      <a:solidFill>
                        <a:srgbClr val="D5E3EF"/>
                      </a:solidFill>
                      <a:prstDash val="solid"/>
                      <a:round/>
                      <a:headEnd type="none" w="med" len="med"/>
                      <a:tailEnd type="none" w="med" len="med"/>
                    </a:lnL>
                    <a:lnR w="9525" cap="flat" cmpd="sng" algn="ctr">
                      <a:solidFill>
                        <a:srgbClr val="D5E3EF"/>
                      </a:solidFill>
                      <a:prstDash val="solid"/>
                      <a:round/>
                      <a:headEnd type="none" w="med" len="med"/>
                      <a:tailEnd type="none" w="med" len="med"/>
                    </a:lnR>
                    <a:lnT w="9525" cap="flat" cmpd="sng" algn="ctr">
                      <a:solidFill>
                        <a:srgbClr val="D5E3EF"/>
                      </a:solidFill>
                      <a:prstDash val="solid"/>
                      <a:round/>
                      <a:headEnd type="none" w="med" len="med"/>
                      <a:tailEnd type="none" w="med" len="med"/>
                    </a:lnT>
                    <a:lnB w="9525" cap="flat" cmpd="sng" algn="ctr">
                      <a:solidFill>
                        <a:srgbClr val="D5E3EF"/>
                      </a:solidFill>
                      <a:prstDash val="solid"/>
                      <a:round/>
                      <a:headEnd type="none" w="med" len="med"/>
                      <a:tailEnd type="none" w="med" len="med"/>
                    </a:lnB>
                    <a:solidFill>
                      <a:schemeClr val="bg2"/>
                    </a:solidFill>
                  </a:tcPr>
                </a:tc>
              </a:tr>
              <a:tr h="475488">
                <a:tc>
                  <a:txBody>
                    <a:bodyPr/>
                    <a:lstStyle/>
                    <a:p>
                      <a:pPr indent="0" marL="0">
                        <a:buNone/>
                      </a:pPr>
                      <a:r>
                        <a:rPr lang="en-US" sz="1400" b="1" dirty="0">
                          <a:solidFill>
                            <a:schemeClr val="tx2"/>
                          </a:solidFill>
                        </a:rPr>
                        <a:t>Keeps data in M365</a:t>
                      </a:r>
                      <a:endParaRPr lang="en-US" sz="1400" dirty="0"/>
                    </a:p>
                  </a:txBody>
                  <a:tcPr marL="91440" marR="91440" marT="45720" marB="45720" anchor="ctr">
                    <a:lnL w="9525" cap="flat" cmpd="sng" algn="ctr">
                      <a:solidFill>
                        <a:srgbClr val="D5E3EF"/>
                      </a:solidFill>
                      <a:prstDash val="solid"/>
                      <a:round/>
                      <a:headEnd type="none" w="med" len="med"/>
                      <a:tailEnd type="none" w="med" len="med"/>
                    </a:lnL>
                    <a:lnR w="9525" cap="flat" cmpd="sng" algn="ctr">
                      <a:solidFill>
                        <a:srgbClr val="D5E3EF"/>
                      </a:solidFill>
                      <a:prstDash val="solid"/>
                      <a:round/>
                      <a:headEnd type="none" w="med" len="med"/>
                      <a:tailEnd type="none" w="med" len="med"/>
                    </a:lnR>
                    <a:lnT w="9525" cap="flat" cmpd="sng" algn="ctr">
                      <a:solidFill>
                        <a:srgbClr val="D5E3EF"/>
                      </a:solidFill>
                      <a:prstDash val="solid"/>
                      <a:round/>
                      <a:headEnd type="none" w="med" len="med"/>
                      <a:tailEnd type="none" w="med" len="med"/>
                    </a:lnT>
                    <a:lnB w="9525" cap="flat" cmpd="sng" algn="ctr">
                      <a:solidFill>
                        <a:srgbClr val="D5E3EF"/>
                      </a:solidFill>
                      <a:prstDash val="solid"/>
                      <a:round/>
                      <a:headEnd type="none" w="med" len="med"/>
                      <a:tailEnd type="none" w="med" len="med"/>
                    </a:lnB>
                    <a:solidFill>
                      <a:schemeClr val="bg1"/>
                    </a:solidFill>
                  </a:tcPr>
                </a:tc>
                <a:tc>
                  <a:txBody>
                    <a:bodyPr/>
                    <a:lstStyle/>
                    <a:p>
                      <a:pPr algn="ctr" indent="0" marL="0">
                        <a:buNone/>
                      </a:pPr>
                      <a:r>
                        <a:rPr lang="en-US" sz="1800" dirty="0">
                          <a:solidFill>
                            <a:schemeClr val="accent6"/>
                          </a:solidFill>
                        </a:rPr>
                        <a:t>●○○</a:t>
                      </a:r>
                      <a:endParaRPr lang="en-US" sz="1800" dirty="0"/>
                    </a:p>
                  </a:txBody>
                  <a:tcPr marL="91440" marR="91440" marT="45720" marB="45720" anchor="ctr">
                    <a:lnL w="9525" cap="flat" cmpd="sng" algn="ctr">
                      <a:solidFill>
                        <a:srgbClr val="D5E3EF"/>
                      </a:solidFill>
                      <a:prstDash val="solid"/>
                      <a:round/>
                      <a:headEnd type="none" w="med" len="med"/>
                      <a:tailEnd type="none" w="med" len="med"/>
                    </a:lnL>
                    <a:lnR w="9525" cap="flat" cmpd="sng" algn="ctr">
                      <a:solidFill>
                        <a:srgbClr val="D5E3EF"/>
                      </a:solidFill>
                      <a:prstDash val="solid"/>
                      <a:round/>
                      <a:headEnd type="none" w="med" len="med"/>
                      <a:tailEnd type="none" w="med" len="med"/>
                    </a:lnR>
                    <a:lnT w="9525" cap="flat" cmpd="sng" algn="ctr">
                      <a:solidFill>
                        <a:srgbClr val="D5E3EF"/>
                      </a:solidFill>
                      <a:prstDash val="solid"/>
                      <a:round/>
                      <a:headEnd type="none" w="med" len="med"/>
                      <a:tailEnd type="none" w="med" len="med"/>
                    </a:lnT>
                    <a:lnB w="9525" cap="flat" cmpd="sng" algn="ctr">
                      <a:solidFill>
                        <a:srgbClr val="D5E3EF"/>
                      </a:solidFill>
                      <a:prstDash val="solid"/>
                      <a:round/>
                      <a:headEnd type="none" w="med" len="med"/>
                      <a:tailEnd type="none" w="med" len="med"/>
                    </a:lnB>
                    <a:solidFill>
                      <a:schemeClr val="bg1"/>
                    </a:solidFill>
                  </a:tcPr>
                </a:tc>
                <a:tc>
                  <a:txBody>
                    <a:bodyPr/>
                    <a:lstStyle/>
                    <a:p>
                      <a:pPr algn="ctr" indent="0" marL="0">
                        <a:buNone/>
                      </a:pPr>
                      <a:r>
                        <a:rPr lang="en-US" sz="1800" dirty="0">
                          <a:solidFill>
                            <a:schemeClr val="accent6"/>
                          </a:solidFill>
                        </a:rPr>
                        <a:t>●●○</a:t>
                      </a:r>
                      <a:endParaRPr lang="en-US" sz="1800" dirty="0"/>
                    </a:p>
                  </a:txBody>
                  <a:tcPr marL="91440" marR="91440" marT="45720" marB="45720" anchor="ctr">
                    <a:lnL w="9525" cap="flat" cmpd="sng" algn="ctr">
                      <a:solidFill>
                        <a:srgbClr val="D5E3EF"/>
                      </a:solidFill>
                      <a:prstDash val="solid"/>
                      <a:round/>
                      <a:headEnd type="none" w="med" len="med"/>
                      <a:tailEnd type="none" w="med" len="med"/>
                    </a:lnL>
                    <a:lnR w="9525" cap="flat" cmpd="sng" algn="ctr">
                      <a:solidFill>
                        <a:srgbClr val="D5E3EF"/>
                      </a:solidFill>
                      <a:prstDash val="solid"/>
                      <a:round/>
                      <a:headEnd type="none" w="med" len="med"/>
                      <a:tailEnd type="none" w="med" len="med"/>
                    </a:lnR>
                    <a:lnT w="9525" cap="flat" cmpd="sng" algn="ctr">
                      <a:solidFill>
                        <a:srgbClr val="D5E3EF"/>
                      </a:solidFill>
                      <a:prstDash val="solid"/>
                      <a:round/>
                      <a:headEnd type="none" w="med" len="med"/>
                      <a:tailEnd type="none" w="med" len="med"/>
                    </a:lnT>
                    <a:lnB w="9525" cap="flat" cmpd="sng" algn="ctr">
                      <a:solidFill>
                        <a:srgbClr val="D5E3EF"/>
                      </a:solidFill>
                      <a:prstDash val="solid"/>
                      <a:round/>
                      <a:headEnd type="none" w="med" len="med"/>
                      <a:tailEnd type="none" w="med" len="med"/>
                    </a:lnB>
                    <a:solidFill>
                      <a:schemeClr val="bg1"/>
                    </a:solidFill>
                  </a:tcPr>
                </a:tc>
                <a:tc>
                  <a:txBody>
                    <a:bodyPr/>
                    <a:lstStyle/>
                    <a:p>
                      <a:pPr algn="ctr" indent="0" marL="0">
                        <a:buNone/>
                      </a:pPr>
                      <a:r>
                        <a:rPr lang="en-US" sz="1800" dirty="0">
                          <a:solidFill>
                            <a:schemeClr val="accent1"/>
                          </a:solidFill>
                        </a:rPr>
                        <a:t>●●●</a:t>
                      </a:r>
                      <a:endParaRPr lang="en-US" sz="1800" dirty="0"/>
                    </a:p>
                  </a:txBody>
                  <a:tcPr marL="91440" marR="91440" marT="45720" marB="45720" anchor="ctr">
                    <a:lnL w="9525" cap="flat" cmpd="sng" algn="ctr">
                      <a:solidFill>
                        <a:srgbClr val="D5E3EF"/>
                      </a:solidFill>
                      <a:prstDash val="solid"/>
                      <a:round/>
                      <a:headEnd type="none" w="med" len="med"/>
                      <a:tailEnd type="none" w="med" len="med"/>
                    </a:lnL>
                    <a:lnR w="9525" cap="flat" cmpd="sng" algn="ctr">
                      <a:solidFill>
                        <a:srgbClr val="D5E3EF"/>
                      </a:solidFill>
                      <a:prstDash val="solid"/>
                      <a:round/>
                      <a:headEnd type="none" w="med" len="med"/>
                      <a:tailEnd type="none" w="med" len="med"/>
                    </a:lnR>
                    <a:lnT w="9525" cap="flat" cmpd="sng" algn="ctr">
                      <a:solidFill>
                        <a:srgbClr val="D5E3EF"/>
                      </a:solidFill>
                      <a:prstDash val="solid"/>
                      <a:round/>
                      <a:headEnd type="none" w="med" len="med"/>
                      <a:tailEnd type="none" w="med" len="med"/>
                    </a:lnT>
                    <a:lnB w="9525" cap="flat" cmpd="sng" algn="ctr">
                      <a:solidFill>
                        <a:srgbClr val="D5E3EF"/>
                      </a:solidFill>
                      <a:prstDash val="solid"/>
                      <a:round/>
                      <a:headEnd type="none" w="med" len="med"/>
                      <a:tailEnd type="none" w="med" len="med"/>
                    </a:lnB>
                    <a:solidFill>
                      <a:schemeClr val="bg2"/>
                    </a:solidFill>
                  </a:tcPr>
                </a:tc>
              </a:tr>
              <a:tr h="475488">
                <a:tc>
                  <a:txBody>
                    <a:bodyPr/>
                    <a:lstStyle/>
                    <a:p>
                      <a:pPr indent="0" marL="0">
                        <a:buNone/>
                      </a:pPr>
                      <a:r>
                        <a:rPr lang="en-US" sz="1400" b="1" dirty="0">
                          <a:solidFill>
                            <a:schemeClr val="tx2"/>
                          </a:solidFill>
                        </a:rPr>
                        <a:t>Low maintenance (no servers)</a:t>
                      </a:r>
                      <a:endParaRPr lang="en-US" sz="1400" dirty="0"/>
                    </a:p>
                  </a:txBody>
                  <a:tcPr marL="91440" marR="91440" marT="45720" marB="45720" anchor="ctr">
                    <a:lnL w="9525" cap="flat" cmpd="sng" algn="ctr">
                      <a:solidFill>
                        <a:srgbClr val="D5E3EF"/>
                      </a:solidFill>
                      <a:prstDash val="solid"/>
                      <a:round/>
                      <a:headEnd type="none" w="med" len="med"/>
                      <a:tailEnd type="none" w="med" len="med"/>
                    </a:lnL>
                    <a:lnR w="9525" cap="flat" cmpd="sng" algn="ctr">
                      <a:solidFill>
                        <a:srgbClr val="D5E3EF"/>
                      </a:solidFill>
                      <a:prstDash val="solid"/>
                      <a:round/>
                      <a:headEnd type="none" w="med" len="med"/>
                      <a:tailEnd type="none" w="med" len="med"/>
                    </a:lnR>
                    <a:lnT w="9525" cap="flat" cmpd="sng" algn="ctr">
                      <a:solidFill>
                        <a:srgbClr val="D5E3EF"/>
                      </a:solidFill>
                      <a:prstDash val="solid"/>
                      <a:round/>
                      <a:headEnd type="none" w="med" len="med"/>
                      <a:tailEnd type="none" w="med" len="med"/>
                    </a:lnT>
                    <a:lnB w="9525" cap="flat" cmpd="sng" algn="ctr">
                      <a:solidFill>
                        <a:srgbClr val="D5E3EF"/>
                      </a:solidFill>
                      <a:prstDash val="solid"/>
                      <a:round/>
                      <a:headEnd type="none" w="med" len="med"/>
                      <a:tailEnd type="none" w="med" len="med"/>
                    </a:lnB>
                    <a:solidFill>
                      <a:schemeClr val="bg1"/>
                    </a:solidFill>
                  </a:tcPr>
                </a:tc>
                <a:tc>
                  <a:txBody>
                    <a:bodyPr/>
                    <a:lstStyle/>
                    <a:p>
                      <a:pPr algn="ctr" indent="0" marL="0">
                        <a:buNone/>
                      </a:pPr>
                      <a:r>
                        <a:rPr lang="en-US" sz="1800" dirty="0">
                          <a:solidFill>
                            <a:schemeClr val="accent6"/>
                          </a:solidFill>
                        </a:rPr>
                        <a:t>●●○</a:t>
                      </a:r>
                      <a:endParaRPr lang="en-US" sz="1800" dirty="0"/>
                    </a:p>
                  </a:txBody>
                  <a:tcPr marL="91440" marR="91440" marT="45720" marB="45720" anchor="ctr">
                    <a:lnL w="9525" cap="flat" cmpd="sng" algn="ctr">
                      <a:solidFill>
                        <a:srgbClr val="D5E3EF"/>
                      </a:solidFill>
                      <a:prstDash val="solid"/>
                      <a:round/>
                      <a:headEnd type="none" w="med" len="med"/>
                      <a:tailEnd type="none" w="med" len="med"/>
                    </a:lnL>
                    <a:lnR w="9525" cap="flat" cmpd="sng" algn="ctr">
                      <a:solidFill>
                        <a:srgbClr val="D5E3EF"/>
                      </a:solidFill>
                      <a:prstDash val="solid"/>
                      <a:round/>
                      <a:headEnd type="none" w="med" len="med"/>
                      <a:tailEnd type="none" w="med" len="med"/>
                    </a:lnR>
                    <a:lnT w="9525" cap="flat" cmpd="sng" algn="ctr">
                      <a:solidFill>
                        <a:srgbClr val="D5E3EF"/>
                      </a:solidFill>
                      <a:prstDash val="solid"/>
                      <a:round/>
                      <a:headEnd type="none" w="med" len="med"/>
                      <a:tailEnd type="none" w="med" len="med"/>
                    </a:lnT>
                    <a:lnB w="9525" cap="flat" cmpd="sng" algn="ctr">
                      <a:solidFill>
                        <a:srgbClr val="D5E3EF"/>
                      </a:solidFill>
                      <a:prstDash val="solid"/>
                      <a:round/>
                      <a:headEnd type="none" w="med" len="med"/>
                      <a:tailEnd type="none" w="med" len="med"/>
                    </a:lnB>
                    <a:solidFill>
                      <a:schemeClr val="bg1"/>
                    </a:solidFill>
                  </a:tcPr>
                </a:tc>
                <a:tc>
                  <a:txBody>
                    <a:bodyPr/>
                    <a:lstStyle/>
                    <a:p>
                      <a:pPr algn="ctr" indent="0" marL="0">
                        <a:buNone/>
                      </a:pPr>
                      <a:r>
                        <a:rPr lang="en-US" sz="1800" dirty="0">
                          <a:solidFill>
                            <a:schemeClr val="accent6"/>
                          </a:solidFill>
                        </a:rPr>
                        <a:t>●○○</a:t>
                      </a:r>
                      <a:endParaRPr lang="en-US" sz="1800" dirty="0"/>
                    </a:p>
                  </a:txBody>
                  <a:tcPr marL="91440" marR="91440" marT="45720" marB="45720" anchor="ctr">
                    <a:lnL w="9525" cap="flat" cmpd="sng" algn="ctr">
                      <a:solidFill>
                        <a:srgbClr val="D5E3EF"/>
                      </a:solidFill>
                      <a:prstDash val="solid"/>
                      <a:round/>
                      <a:headEnd type="none" w="med" len="med"/>
                      <a:tailEnd type="none" w="med" len="med"/>
                    </a:lnL>
                    <a:lnR w="9525" cap="flat" cmpd="sng" algn="ctr">
                      <a:solidFill>
                        <a:srgbClr val="D5E3EF"/>
                      </a:solidFill>
                      <a:prstDash val="solid"/>
                      <a:round/>
                      <a:headEnd type="none" w="med" len="med"/>
                      <a:tailEnd type="none" w="med" len="med"/>
                    </a:lnR>
                    <a:lnT w="9525" cap="flat" cmpd="sng" algn="ctr">
                      <a:solidFill>
                        <a:srgbClr val="D5E3EF"/>
                      </a:solidFill>
                      <a:prstDash val="solid"/>
                      <a:round/>
                      <a:headEnd type="none" w="med" len="med"/>
                      <a:tailEnd type="none" w="med" len="med"/>
                    </a:lnT>
                    <a:lnB w="9525" cap="flat" cmpd="sng" algn="ctr">
                      <a:solidFill>
                        <a:srgbClr val="D5E3EF"/>
                      </a:solidFill>
                      <a:prstDash val="solid"/>
                      <a:round/>
                      <a:headEnd type="none" w="med" len="med"/>
                      <a:tailEnd type="none" w="med" len="med"/>
                    </a:lnB>
                    <a:solidFill>
                      <a:schemeClr val="bg1"/>
                    </a:solidFill>
                  </a:tcPr>
                </a:tc>
                <a:tc>
                  <a:txBody>
                    <a:bodyPr/>
                    <a:lstStyle/>
                    <a:p>
                      <a:pPr algn="ctr" indent="0" marL="0">
                        <a:buNone/>
                      </a:pPr>
                      <a:r>
                        <a:rPr lang="en-US" sz="1800" dirty="0">
                          <a:solidFill>
                            <a:schemeClr val="accent1"/>
                          </a:solidFill>
                        </a:rPr>
                        <a:t>●●●</a:t>
                      </a:r>
                      <a:endParaRPr lang="en-US" sz="1800" dirty="0"/>
                    </a:p>
                  </a:txBody>
                  <a:tcPr marL="91440" marR="91440" marT="45720" marB="45720" anchor="ctr">
                    <a:lnL w="9525" cap="flat" cmpd="sng" algn="ctr">
                      <a:solidFill>
                        <a:srgbClr val="D5E3EF"/>
                      </a:solidFill>
                      <a:prstDash val="solid"/>
                      <a:round/>
                      <a:headEnd type="none" w="med" len="med"/>
                      <a:tailEnd type="none" w="med" len="med"/>
                    </a:lnL>
                    <a:lnR w="9525" cap="flat" cmpd="sng" algn="ctr">
                      <a:solidFill>
                        <a:srgbClr val="D5E3EF"/>
                      </a:solidFill>
                      <a:prstDash val="solid"/>
                      <a:round/>
                      <a:headEnd type="none" w="med" len="med"/>
                      <a:tailEnd type="none" w="med" len="med"/>
                    </a:lnR>
                    <a:lnT w="9525" cap="flat" cmpd="sng" algn="ctr">
                      <a:solidFill>
                        <a:srgbClr val="D5E3EF"/>
                      </a:solidFill>
                      <a:prstDash val="solid"/>
                      <a:round/>
                      <a:headEnd type="none" w="med" len="med"/>
                      <a:tailEnd type="none" w="med" len="med"/>
                    </a:lnT>
                    <a:lnB w="9525" cap="flat" cmpd="sng" algn="ctr">
                      <a:solidFill>
                        <a:srgbClr val="D5E3EF"/>
                      </a:solidFill>
                      <a:prstDash val="solid"/>
                      <a:round/>
                      <a:headEnd type="none" w="med" len="med"/>
                      <a:tailEnd type="none" w="med" len="med"/>
                    </a:lnB>
                    <a:solidFill>
                      <a:schemeClr val="bg2"/>
                    </a:solidFill>
                  </a:tcPr>
                </a:tc>
              </a:tr>
              <a:tr h="475488">
                <a:tc>
                  <a:txBody>
                    <a:bodyPr/>
                    <a:lstStyle/>
                    <a:p>
                      <a:pPr indent="0" marL="0">
                        <a:buNone/>
                      </a:pPr>
                      <a:r>
                        <a:rPr lang="en-US" sz="1400" b="1" dirty="0">
                          <a:solidFill>
                            <a:schemeClr val="tx2"/>
                          </a:solidFill>
                        </a:rPr>
                        <a:t>Approvals built in</a:t>
                      </a:r>
                      <a:endParaRPr lang="en-US" sz="1400" dirty="0"/>
                    </a:p>
                  </a:txBody>
                  <a:tcPr marL="91440" marR="91440" marT="45720" marB="45720" anchor="ctr">
                    <a:lnL w="9525" cap="flat" cmpd="sng" algn="ctr">
                      <a:solidFill>
                        <a:srgbClr val="D5E3EF"/>
                      </a:solidFill>
                      <a:prstDash val="solid"/>
                      <a:round/>
                      <a:headEnd type="none" w="med" len="med"/>
                      <a:tailEnd type="none" w="med" len="med"/>
                    </a:lnL>
                    <a:lnR w="9525" cap="flat" cmpd="sng" algn="ctr">
                      <a:solidFill>
                        <a:srgbClr val="D5E3EF"/>
                      </a:solidFill>
                      <a:prstDash val="solid"/>
                      <a:round/>
                      <a:headEnd type="none" w="med" len="med"/>
                      <a:tailEnd type="none" w="med" len="med"/>
                    </a:lnR>
                    <a:lnT w="9525" cap="flat" cmpd="sng" algn="ctr">
                      <a:solidFill>
                        <a:srgbClr val="D5E3EF"/>
                      </a:solidFill>
                      <a:prstDash val="solid"/>
                      <a:round/>
                      <a:headEnd type="none" w="med" len="med"/>
                      <a:tailEnd type="none" w="med" len="med"/>
                    </a:lnT>
                    <a:lnB w="9525" cap="flat" cmpd="sng" algn="ctr">
                      <a:solidFill>
                        <a:srgbClr val="D5E3EF"/>
                      </a:solidFill>
                      <a:prstDash val="solid"/>
                      <a:round/>
                      <a:headEnd type="none" w="med" len="med"/>
                      <a:tailEnd type="none" w="med" len="med"/>
                    </a:lnB>
                    <a:solidFill>
                      <a:schemeClr val="bg1"/>
                    </a:solidFill>
                  </a:tcPr>
                </a:tc>
                <a:tc>
                  <a:txBody>
                    <a:bodyPr/>
                    <a:lstStyle/>
                    <a:p>
                      <a:pPr algn="ctr" indent="0" marL="0">
                        <a:buNone/>
                      </a:pPr>
                      <a:r>
                        <a:rPr lang="en-US" sz="1800" dirty="0">
                          <a:solidFill>
                            <a:schemeClr val="accent6"/>
                          </a:solidFill>
                        </a:rPr>
                        <a:t>●●○</a:t>
                      </a:r>
                      <a:endParaRPr lang="en-US" sz="1800" dirty="0"/>
                    </a:p>
                  </a:txBody>
                  <a:tcPr marL="91440" marR="91440" marT="45720" marB="45720" anchor="ctr">
                    <a:lnL w="9525" cap="flat" cmpd="sng" algn="ctr">
                      <a:solidFill>
                        <a:srgbClr val="D5E3EF"/>
                      </a:solidFill>
                      <a:prstDash val="solid"/>
                      <a:round/>
                      <a:headEnd type="none" w="med" len="med"/>
                      <a:tailEnd type="none" w="med" len="med"/>
                    </a:lnL>
                    <a:lnR w="9525" cap="flat" cmpd="sng" algn="ctr">
                      <a:solidFill>
                        <a:srgbClr val="D5E3EF"/>
                      </a:solidFill>
                      <a:prstDash val="solid"/>
                      <a:round/>
                      <a:headEnd type="none" w="med" len="med"/>
                      <a:tailEnd type="none" w="med" len="med"/>
                    </a:lnR>
                    <a:lnT w="9525" cap="flat" cmpd="sng" algn="ctr">
                      <a:solidFill>
                        <a:srgbClr val="D5E3EF"/>
                      </a:solidFill>
                      <a:prstDash val="solid"/>
                      <a:round/>
                      <a:headEnd type="none" w="med" len="med"/>
                      <a:tailEnd type="none" w="med" len="med"/>
                    </a:lnT>
                    <a:lnB w="9525" cap="flat" cmpd="sng" algn="ctr">
                      <a:solidFill>
                        <a:srgbClr val="D5E3EF"/>
                      </a:solidFill>
                      <a:prstDash val="solid"/>
                      <a:round/>
                      <a:headEnd type="none" w="med" len="med"/>
                      <a:tailEnd type="none" w="med" len="med"/>
                    </a:lnB>
                    <a:solidFill>
                      <a:schemeClr val="bg1"/>
                    </a:solidFill>
                  </a:tcPr>
                </a:tc>
                <a:tc>
                  <a:txBody>
                    <a:bodyPr/>
                    <a:lstStyle/>
                    <a:p>
                      <a:pPr algn="ctr" indent="0" marL="0">
                        <a:buNone/>
                      </a:pPr>
                      <a:r>
                        <a:rPr lang="en-US" sz="1800" dirty="0">
                          <a:solidFill>
                            <a:schemeClr val="accent6"/>
                          </a:solidFill>
                        </a:rPr>
                        <a:t>●○○</a:t>
                      </a:r>
                      <a:endParaRPr lang="en-US" sz="1800" dirty="0"/>
                    </a:p>
                  </a:txBody>
                  <a:tcPr marL="91440" marR="91440" marT="45720" marB="45720" anchor="ctr">
                    <a:lnL w="9525" cap="flat" cmpd="sng" algn="ctr">
                      <a:solidFill>
                        <a:srgbClr val="D5E3EF"/>
                      </a:solidFill>
                      <a:prstDash val="solid"/>
                      <a:round/>
                      <a:headEnd type="none" w="med" len="med"/>
                      <a:tailEnd type="none" w="med" len="med"/>
                    </a:lnL>
                    <a:lnR w="9525" cap="flat" cmpd="sng" algn="ctr">
                      <a:solidFill>
                        <a:srgbClr val="D5E3EF"/>
                      </a:solidFill>
                      <a:prstDash val="solid"/>
                      <a:round/>
                      <a:headEnd type="none" w="med" len="med"/>
                      <a:tailEnd type="none" w="med" len="med"/>
                    </a:lnR>
                    <a:lnT w="9525" cap="flat" cmpd="sng" algn="ctr">
                      <a:solidFill>
                        <a:srgbClr val="D5E3EF"/>
                      </a:solidFill>
                      <a:prstDash val="solid"/>
                      <a:round/>
                      <a:headEnd type="none" w="med" len="med"/>
                      <a:tailEnd type="none" w="med" len="med"/>
                    </a:lnT>
                    <a:lnB w="9525" cap="flat" cmpd="sng" algn="ctr">
                      <a:solidFill>
                        <a:srgbClr val="D5E3EF"/>
                      </a:solidFill>
                      <a:prstDash val="solid"/>
                      <a:round/>
                      <a:headEnd type="none" w="med" len="med"/>
                      <a:tailEnd type="none" w="med" len="med"/>
                    </a:lnB>
                    <a:solidFill>
                      <a:schemeClr val="bg1"/>
                    </a:solidFill>
                  </a:tcPr>
                </a:tc>
                <a:tc>
                  <a:txBody>
                    <a:bodyPr/>
                    <a:lstStyle/>
                    <a:p>
                      <a:pPr algn="ctr" indent="0" marL="0">
                        <a:buNone/>
                      </a:pPr>
                      <a:r>
                        <a:rPr lang="en-US" sz="1800" dirty="0">
                          <a:solidFill>
                            <a:schemeClr val="accent1"/>
                          </a:solidFill>
                        </a:rPr>
                        <a:t>●●●</a:t>
                      </a:r>
                      <a:endParaRPr lang="en-US" sz="1800" dirty="0"/>
                    </a:p>
                  </a:txBody>
                  <a:tcPr marL="91440" marR="91440" marT="45720" marB="45720" anchor="ctr">
                    <a:lnL w="9525" cap="flat" cmpd="sng" algn="ctr">
                      <a:solidFill>
                        <a:srgbClr val="D5E3EF"/>
                      </a:solidFill>
                      <a:prstDash val="solid"/>
                      <a:round/>
                      <a:headEnd type="none" w="med" len="med"/>
                      <a:tailEnd type="none" w="med" len="med"/>
                    </a:lnL>
                    <a:lnR w="9525" cap="flat" cmpd="sng" algn="ctr">
                      <a:solidFill>
                        <a:srgbClr val="D5E3EF"/>
                      </a:solidFill>
                      <a:prstDash val="solid"/>
                      <a:round/>
                      <a:headEnd type="none" w="med" len="med"/>
                      <a:tailEnd type="none" w="med" len="med"/>
                    </a:lnR>
                    <a:lnT w="9525" cap="flat" cmpd="sng" algn="ctr">
                      <a:solidFill>
                        <a:srgbClr val="D5E3EF"/>
                      </a:solidFill>
                      <a:prstDash val="solid"/>
                      <a:round/>
                      <a:headEnd type="none" w="med" len="med"/>
                      <a:tailEnd type="none" w="med" len="med"/>
                    </a:lnT>
                    <a:lnB w="9525" cap="flat" cmpd="sng" algn="ctr">
                      <a:solidFill>
                        <a:srgbClr val="D5E3EF"/>
                      </a:solidFill>
                      <a:prstDash val="solid"/>
                      <a:round/>
                      <a:headEnd type="none" w="med" len="med"/>
                      <a:tailEnd type="none" w="med" len="med"/>
                    </a:lnB>
                    <a:solidFill>
                      <a:schemeClr val="bg2"/>
                    </a:solidFill>
                  </a:tcPr>
                </a:tc>
              </a:tr>
              <a:tr h="475488">
                <a:tc>
                  <a:txBody>
                    <a:bodyPr/>
                    <a:lstStyle/>
                    <a:p>
                      <a:pPr indent="0" marL="0">
                        <a:buNone/>
                      </a:pPr>
                      <a:r>
                        <a:rPr lang="en-US" sz="1400" b="1" dirty="0">
                          <a:solidFill>
                            <a:schemeClr val="tx2"/>
                          </a:solidFill>
                        </a:rPr>
                        <a:t>Running cost</a:t>
                      </a:r>
                      <a:endParaRPr lang="en-US" sz="1400" dirty="0"/>
                    </a:p>
                  </a:txBody>
                  <a:tcPr marL="91440" marR="91440" marT="45720" marB="45720" anchor="ctr">
                    <a:lnL w="9525" cap="flat" cmpd="sng" algn="ctr">
                      <a:solidFill>
                        <a:srgbClr val="D5E3EF"/>
                      </a:solidFill>
                      <a:prstDash val="solid"/>
                      <a:round/>
                      <a:headEnd type="none" w="med" len="med"/>
                      <a:tailEnd type="none" w="med" len="med"/>
                    </a:lnL>
                    <a:lnR w="9525" cap="flat" cmpd="sng" algn="ctr">
                      <a:solidFill>
                        <a:srgbClr val="D5E3EF"/>
                      </a:solidFill>
                      <a:prstDash val="solid"/>
                      <a:round/>
                      <a:headEnd type="none" w="med" len="med"/>
                      <a:tailEnd type="none" w="med" len="med"/>
                    </a:lnR>
                    <a:lnT w="9525" cap="flat" cmpd="sng" algn="ctr">
                      <a:solidFill>
                        <a:srgbClr val="D5E3EF"/>
                      </a:solidFill>
                      <a:prstDash val="solid"/>
                      <a:round/>
                      <a:headEnd type="none" w="med" len="med"/>
                      <a:tailEnd type="none" w="med" len="med"/>
                    </a:lnT>
                    <a:lnB w="9525" cap="flat" cmpd="sng" algn="ctr">
                      <a:solidFill>
                        <a:srgbClr val="D5E3EF"/>
                      </a:solidFill>
                      <a:prstDash val="solid"/>
                      <a:round/>
                      <a:headEnd type="none" w="med" len="med"/>
                      <a:tailEnd type="none" w="med" len="med"/>
                    </a:lnB>
                    <a:solidFill>
                      <a:schemeClr val="bg1"/>
                    </a:solidFill>
                  </a:tcPr>
                </a:tc>
                <a:tc>
                  <a:txBody>
                    <a:bodyPr/>
                    <a:lstStyle/>
                    <a:p>
                      <a:pPr algn="ctr" indent="0" marL="0">
                        <a:buNone/>
                      </a:pPr>
                      <a:r>
                        <a:rPr lang="en-US" sz="1800" dirty="0">
                          <a:solidFill>
                            <a:schemeClr val="accent6"/>
                          </a:solidFill>
                        </a:rPr>
                        <a:t>●●●</a:t>
                      </a:r>
                      <a:endParaRPr lang="en-US" sz="1800" dirty="0"/>
                    </a:p>
                  </a:txBody>
                  <a:tcPr marL="91440" marR="91440" marT="45720" marB="45720" anchor="ctr">
                    <a:lnL w="9525" cap="flat" cmpd="sng" algn="ctr">
                      <a:solidFill>
                        <a:srgbClr val="D5E3EF"/>
                      </a:solidFill>
                      <a:prstDash val="solid"/>
                      <a:round/>
                      <a:headEnd type="none" w="med" len="med"/>
                      <a:tailEnd type="none" w="med" len="med"/>
                    </a:lnL>
                    <a:lnR w="9525" cap="flat" cmpd="sng" algn="ctr">
                      <a:solidFill>
                        <a:srgbClr val="D5E3EF"/>
                      </a:solidFill>
                      <a:prstDash val="solid"/>
                      <a:round/>
                      <a:headEnd type="none" w="med" len="med"/>
                      <a:tailEnd type="none" w="med" len="med"/>
                    </a:lnR>
                    <a:lnT w="9525" cap="flat" cmpd="sng" algn="ctr">
                      <a:solidFill>
                        <a:srgbClr val="D5E3EF"/>
                      </a:solidFill>
                      <a:prstDash val="solid"/>
                      <a:round/>
                      <a:headEnd type="none" w="med" len="med"/>
                      <a:tailEnd type="none" w="med" len="med"/>
                    </a:lnT>
                    <a:lnB w="9525" cap="flat" cmpd="sng" algn="ctr">
                      <a:solidFill>
                        <a:srgbClr val="D5E3EF"/>
                      </a:solidFill>
                      <a:prstDash val="solid"/>
                      <a:round/>
                      <a:headEnd type="none" w="med" len="med"/>
                      <a:tailEnd type="none" w="med" len="med"/>
                    </a:lnB>
                    <a:solidFill>
                      <a:schemeClr val="bg1"/>
                    </a:solidFill>
                  </a:tcPr>
                </a:tc>
                <a:tc>
                  <a:txBody>
                    <a:bodyPr/>
                    <a:lstStyle/>
                    <a:p>
                      <a:pPr algn="ctr" indent="0" marL="0">
                        <a:buNone/>
                      </a:pPr>
                      <a:r>
                        <a:rPr lang="en-US" sz="1800" dirty="0">
                          <a:solidFill>
                            <a:schemeClr val="accent6"/>
                          </a:solidFill>
                        </a:rPr>
                        <a:t>●●○</a:t>
                      </a:r>
                      <a:endParaRPr lang="en-US" sz="1800" dirty="0"/>
                    </a:p>
                  </a:txBody>
                  <a:tcPr marL="91440" marR="91440" marT="45720" marB="45720" anchor="ctr">
                    <a:lnL w="9525" cap="flat" cmpd="sng" algn="ctr">
                      <a:solidFill>
                        <a:srgbClr val="D5E3EF"/>
                      </a:solidFill>
                      <a:prstDash val="solid"/>
                      <a:round/>
                      <a:headEnd type="none" w="med" len="med"/>
                      <a:tailEnd type="none" w="med" len="med"/>
                    </a:lnL>
                    <a:lnR w="9525" cap="flat" cmpd="sng" algn="ctr">
                      <a:solidFill>
                        <a:srgbClr val="D5E3EF"/>
                      </a:solidFill>
                      <a:prstDash val="solid"/>
                      <a:round/>
                      <a:headEnd type="none" w="med" len="med"/>
                      <a:tailEnd type="none" w="med" len="med"/>
                    </a:lnR>
                    <a:lnT w="9525" cap="flat" cmpd="sng" algn="ctr">
                      <a:solidFill>
                        <a:srgbClr val="D5E3EF"/>
                      </a:solidFill>
                      <a:prstDash val="solid"/>
                      <a:round/>
                      <a:headEnd type="none" w="med" len="med"/>
                      <a:tailEnd type="none" w="med" len="med"/>
                    </a:lnT>
                    <a:lnB w="9525" cap="flat" cmpd="sng" algn="ctr">
                      <a:solidFill>
                        <a:srgbClr val="D5E3EF"/>
                      </a:solidFill>
                      <a:prstDash val="solid"/>
                      <a:round/>
                      <a:headEnd type="none" w="med" len="med"/>
                      <a:tailEnd type="none" w="med" len="med"/>
                    </a:lnB>
                    <a:solidFill>
                      <a:schemeClr val="bg1"/>
                    </a:solidFill>
                  </a:tcPr>
                </a:tc>
                <a:tc>
                  <a:txBody>
                    <a:bodyPr/>
                    <a:lstStyle/>
                    <a:p>
                      <a:pPr algn="ctr" indent="0" marL="0">
                        <a:buNone/>
                      </a:pPr>
                      <a:r>
                        <a:rPr lang="en-US" sz="1800" dirty="0">
                          <a:solidFill>
                            <a:schemeClr val="accent1"/>
                          </a:solidFill>
                        </a:rPr>
                        <a:t>●●●</a:t>
                      </a:r>
                      <a:endParaRPr lang="en-US" sz="1800" dirty="0"/>
                    </a:p>
                  </a:txBody>
                  <a:tcPr marL="91440" marR="91440" marT="45720" marB="45720" anchor="ctr">
                    <a:lnL w="9525" cap="flat" cmpd="sng" algn="ctr">
                      <a:solidFill>
                        <a:srgbClr val="D5E3EF"/>
                      </a:solidFill>
                      <a:prstDash val="solid"/>
                      <a:round/>
                      <a:headEnd type="none" w="med" len="med"/>
                      <a:tailEnd type="none" w="med" len="med"/>
                    </a:lnL>
                    <a:lnR w="9525" cap="flat" cmpd="sng" algn="ctr">
                      <a:solidFill>
                        <a:srgbClr val="D5E3EF"/>
                      </a:solidFill>
                      <a:prstDash val="solid"/>
                      <a:round/>
                      <a:headEnd type="none" w="med" len="med"/>
                      <a:tailEnd type="none" w="med" len="med"/>
                    </a:lnR>
                    <a:lnT w="9525" cap="flat" cmpd="sng" algn="ctr">
                      <a:solidFill>
                        <a:srgbClr val="D5E3EF"/>
                      </a:solidFill>
                      <a:prstDash val="solid"/>
                      <a:round/>
                      <a:headEnd type="none" w="med" len="med"/>
                      <a:tailEnd type="none" w="med" len="med"/>
                    </a:lnT>
                    <a:lnB w="9525" cap="flat" cmpd="sng" algn="ctr">
                      <a:solidFill>
                        <a:srgbClr val="D5E3EF"/>
                      </a:solidFill>
                      <a:prstDash val="solid"/>
                      <a:round/>
                      <a:headEnd type="none" w="med" len="med"/>
                      <a:tailEnd type="none" w="med" len="med"/>
                    </a:lnB>
                    <a:solidFill>
                      <a:schemeClr val="bg2"/>
                    </a:solidFill>
                  </a:tcPr>
                </a:tc>
              </a:tr>
            </a:tbl>
          </a:graphicData>
        </a:graphic>
      </p:graphicFrame>
      <p:sp>
        <p:nvSpPr>
          <p:cNvPr id="4" name="a1_decision_card"/>
          <p:cNvSpPr/>
          <p:nvPr/>
        </p:nvSpPr>
        <p:spPr>
          <a:xfrm>
            <a:off x="8458200" y="1280160"/>
            <a:ext cx="3182112" cy="4251960"/>
          </a:xfrm>
          <a:prstGeom prst="roundRect">
            <a:avLst>
              <a:gd name="adj" fmla="val 3448"/>
            </a:avLst>
          </a:prstGeom>
          <a:solidFill>
            <a:schemeClr val="accent1"/>
          </a:solidFill>
          <a:ln w="12700">
            <a:solidFill>
              <a:schemeClr val="accent1"/>
            </a:solidFill>
            <a:prstDash val="solid"/>
          </a:ln>
          <a:effectLst>
            <a:outerShdw sx="100000" sy="100000" kx="0" ky="0" algn="bl" rotWithShape="0" blurRad="76200" dist="25400" dir="5400000">
              <a:srgbClr val="7F9DB9">
                <a:alpha val="25000"/>
              </a:srgbClr>
            </a:outerShdw>
          </a:effectLst>
        </p:spPr>
      </p:sp>
      <p:pic>
        <p:nvPicPr>
          <p:cNvPr id="5" name="a1_decision_icon" descr="preencoded.png">    </p:cNvPr>
          <p:cNvPicPr>
            <a:picLocks noChangeAspect="1"/>
          </p:cNvPicPr>
          <p:nvPr/>
        </p:nvPicPr>
        <p:blipFill>
          <a:blip r:embed="rId1"/>
          <a:stretch>
            <a:fillRect/>
          </a:stretch>
        </p:blipFill>
        <p:spPr>
          <a:xfrm>
            <a:off x="8732520" y="1554480"/>
            <a:ext cx="548640" cy="548640"/>
          </a:xfrm>
          <a:prstGeom prst="rect">
            <a:avLst/>
          </a:prstGeom>
        </p:spPr>
      </p:pic>
      <p:sp>
        <p:nvSpPr>
          <p:cNvPr id="6" name="a1_decision_head"/>
          <p:cNvSpPr txBox="1"/>
          <p:nvPr/>
        </p:nvSpPr>
        <p:spPr>
          <a:xfrm>
            <a:off x="9418320" y="1627632"/>
            <a:ext cx="2011680" cy="411480"/>
          </a:xfrm>
          <a:prstGeom prst="rect">
            <a:avLst/>
          </a:prstGeom>
          <a:noFill/>
          <a:ln/>
        </p:spPr>
        <p:txBody>
          <a:bodyPr wrap="square" lIns="0" tIns="0" rIns="0" bIns="0" rtlCol="0" anchor="t"/>
          <a:lstStyle/>
          <a:p>
            <a:pPr indent="0" marL="0">
              <a:buNone/>
            </a:pPr>
            <a:r>
              <a:rPr lang="en-US" sz="2000" b="1" dirty="0">
                <a:solidFill>
                  <a:schemeClr val="bg1"/>
                </a:solidFill>
              </a:rPr>
              <a:t>Decision</a:t>
            </a:r>
            <a:endParaRPr lang="en-US" sz="2000" dirty="0"/>
          </a:p>
        </p:txBody>
      </p:sp>
      <p:sp>
        <p:nvSpPr>
          <p:cNvPr id="7" name="a1_decision_text"/>
          <p:cNvSpPr txBox="1"/>
          <p:nvPr/>
        </p:nvSpPr>
        <p:spPr>
          <a:xfrm>
            <a:off x="8732520" y="2286000"/>
            <a:ext cx="2697480" cy="3108960"/>
          </a:xfrm>
          <a:prstGeom prst="rect">
            <a:avLst/>
          </a:prstGeom>
          <a:noFill/>
          <a:ln/>
        </p:spPr>
        <p:txBody>
          <a:bodyPr wrap="square" lIns="0" tIns="0" rIns="0" bIns="0" rtlCol="0" anchor="t"/>
          <a:lstStyle/>
          <a:p>
            <a:pPr indent="0" marL="0">
              <a:buNone/>
            </a:pPr>
            <a:r>
              <a:rPr lang="en-US" sz="1500" b="1" dirty="0">
                <a:solidFill>
                  <a:schemeClr val="bg1"/>
                </a:solidFill>
              </a:rPr>
              <a:t>Power Apps + Power Automate + SharePoint</a:t>
            </a:r>
            <a:endParaRPr lang="en-US" sz="1500" dirty="0"/>
          </a:p>
          <a:p>
            <a:pPr indent="0" marL="0">
              <a:buNone/>
            </a:pPr>
            <a:r>
              <a:rPr lang="en-US" sz="800" dirty="0">
                <a:solidFill>
                  <a:schemeClr val="bg1"/>
                </a:solidFill>
              </a:rPr>
              <a:t> </a:t>
            </a:r>
            <a:endParaRPr lang="en-US" sz="1500" dirty="0"/>
          </a:p>
          <a:p>
            <a:pPr indent="0" marL="0">
              <a:buNone/>
            </a:pPr>
            <a:r>
              <a:rPr lang="en-US" sz="1500" dirty="0">
                <a:solidFill>
                  <a:schemeClr val="bg1"/>
                </a:solidFill>
              </a:rPr>
              <a:t>People already know it, flows extend without developers, data stays in M365, nothing to host or patch, and approvals come built in.</a:t>
            </a:r>
            <a:endParaRPr lang="en-US" sz="1500" dirty="0"/>
          </a:p>
        </p:txBody>
      </p:sp>
      <p:sp>
        <p:nvSpPr>
          <p:cNvPr id="8" name="options_key"/>
          <p:cNvSpPr txBox="1"/>
          <p:nvPr/>
        </p:nvSpPr>
        <p:spPr>
          <a:xfrm>
            <a:off x="548640" y="5349240"/>
            <a:ext cx="7589520" cy="274320"/>
          </a:xfrm>
          <a:prstGeom prst="rect">
            <a:avLst/>
          </a:prstGeom>
          <a:noFill/>
          <a:ln/>
        </p:spPr>
        <p:txBody>
          <a:bodyPr wrap="square" lIns="0" tIns="0" rIns="0" bIns="0" rtlCol="0" anchor="t"/>
          <a:lstStyle/>
          <a:p>
            <a:pPr indent="0" marL="0">
              <a:buNone/>
            </a:pPr>
            <a:r>
              <a:rPr lang="en-US" sz="1100" dirty="0">
                <a:solidFill>
                  <a:schemeClr val="accent6"/>
                </a:solidFill>
              </a:rPr>
              <a:t>Rating: ●●● strong · ●●○ partial · ●○○ weak</a:t>
            </a:r>
            <a:endParaRPr lang="en-US" sz="11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timing>
    <p:tnLst>
      <p:par>
        <p:cTn id="1" dur="indefinite" restart="never" nodeType="tmRoot">
          <p:childTnLst>
            <p:seq concurrent="1" nextAc="seek">
              <p:cTn id="2" dur="indefinite" nodeType="mainSeq">
                <p:childTnLst>
                  <p:par>
                    <p:cTn id="15" fill="hold">
                      <p:stCondLst>
                        <p:cond delay="indefinite"/>
                      </p:stCondLst>
                      <p:childTnLst>
                        <p:par>
                          <p:cTn id="16"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400"/>
                                        <p:tgtEl>
                                          <p:spTgt spid="4"/>
                                        </p:tgtEl>
                                      </p:cBhvr>
                                    </p:animEffect>
                                  </p:childTnLst>
                                </p:cTn>
                              </p:par>
                              <p:par>
                                <p:cTn id="6" presetID="10" presetClass="entr" presetSubtype="0" fill="hold" nodeType="with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400"/>
                                        <p:tgtEl>
                                          <p:spTgt spid="5"/>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400"/>
                                        <p:tgtEl>
                                          <p:spTgt spid="6"/>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2"/>
                </a:solidFill>
              </a:rPr>
              <a:t>How it works: five steps from request to Entra ID</a:t>
            </a:r>
            <a:endParaRPr lang="en-US" sz="3000" dirty="0"/>
          </a:p>
        </p:txBody>
      </p:sp>
      <p:sp>
        <p:nvSpPr>
          <p:cNvPr id="3" name="a1_step0_card"/>
          <p:cNvSpPr/>
          <p:nvPr/>
        </p:nvSpPr>
        <p:spPr>
          <a:xfrm>
            <a:off x="548640" y="1371600"/>
            <a:ext cx="1920240" cy="2788920"/>
          </a:xfrm>
          <a:prstGeom prst="roundRect">
            <a:avLst>
              <a:gd name="adj" fmla="val 5714"/>
            </a:avLst>
          </a:prstGeom>
          <a:solidFill>
            <a:schemeClr val="bg2"/>
          </a:solidFill>
          <a:ln w="12700">
            <a:solidFill>
              <a:schemeClr val="bg2"/>
            </a:solidFill>
            <a:prstDash val="solid"/>
          </a:ln>
          <a:effectLst>
            <a:outerShdw sx="100000" sy="100000" kx="0" ky="0" algn="bl" rotWithShape="0" blurRad="76200" dist="25400" dir="5400000">
              <a:srgbClr val="7F9DB9">
                <a:alpha val="25000"/>
              </a:srgbClr>
            </a:outerShdw>
          </a:effectLst>
        </p:spPr>
      </p:sp>
      <p:sp>
        <p:nvSpPr>
          <p:cNvPr id="4" name="a1_step0_circle"/>
          <p:cNvSpPr/>
          <p:nvPr/>
        </p:nvSpPr>
        <p:spPr>
          <a:xfrm>
            <a:off x="1120140" y="1645920"/>
            <a:ext cx="777240" cy="777240"/>
          </a:xfrm>
          <a:prstGeom prst="ellipse">
            <a:avLst/>
          </a:prstGeom>
          <a:solidFill>
            <a:schemeClr val="accent1"/>
          </a:solidFill>
          <a:ln w="12700">
            <a:solidFill>
              <a:schemeClr val="accent1"/>
            </a:solidFill>
            <a:prstDash val="solid"/>
          </a:ln>
        </p:spPr>
      </p:sp>
      <p:pic>
        <p:nvPicPr>
          <p:cNvPr id="5" name="a1_step0_icon" descr="preencoded.png">    </p:cNvPr>
          <p:cNvPicPr>
            <a:picLocks noChangeAspect="1"/>
          </p:cNvPicPr>
          <p:nvPr/>
        </p:nvPicPr>
        <p:blipFill>
          <a:blip r:embed="rId1"/>
          <a:stretch>
            <a:fillRect/>
          </a:stretch>
        </p:blipFill>
        <p:spPr>
          <a:xfrm>
            <a:off x="1306678" y="1832458"/>
            <a:ext cx="404165" cy="404165"/>
          </a:xfrm>
          <a:prstGeom prst="rect">
            <a:avLst/>
          </a:prstGeom>
        </p:spPr>
      </p:pic>
      <p:sp>
        <p:nvSpPr>
          <p:cNvPr id="6" name="a1_step0_title"/>
          <p:cNvSpPr txBox="1"/>
          <p:nvPr/>
        </p:nvSpPr>
        <p:spPr>
          <a:xfrm>
            <a:off x="685800" y="2542032"/>
            <a:ext cx="1645920" cy="640080"/>
          </a:xfrm>
          <a:prstGeom prst="rect">
            <a:avLst/>
          </a:prstGeom>
          <a:noFill/>
          <a:ln/>
        </p:spPr>
        <p:txBody>
          <a:bodyPr wrap="square" lIns="0" tIns="0" rIns="0" bIns="0" rtlCol="0" anchor="ctr"/>
          <a:lstStyle/>
          <a:p>
            <a:pPr algn="ctr" indent="0" marL="0">
              <a:buNone/>
            </a:pPr>
            <a:r>
              <a:rPr lang="en-US" sz="1700" b="1" dirty="0">
                <a:solidFill>
                  <a:schemeClr val="tx2"/>
                </a:solidFill>
              </a:rPr>
              <a:t>Ask</a:t>
            </a:r>
            <a:endParaRPr lang="en-US" sz="1700" dirty="0"/>
          </a:p>
        </p:txBody>
      </p:sp>
      <p:sp>
        <p:nvSpPr>
          <p:cNvPr id="7" name="a1_step0_text"/>
          <p:cNvSpPr txBox="1"/>
          <p:nvPr/>
        </p:nvSpPr>
        <p:spPr>
          <a:xfrm>
            <a:off x="685800" y="3246120"/>
            <a:ext cx="1645920" cy="822960"/>
          </a:xfrm>
          <a:prstGeom prst="rect">
            <a:avLst/>
          </a:prstGeom>
          <a:noFill/>
          <a:ln/>
        </p:spPr>
        <p:txBody>
          <a:bodyPr wrap="square" lIns="0" tIns="0" rIns="0" bIns="0" rtlCol="0" anchor="t"/>
          <a:lstStyle/>
          <a:p>
            <a:pPr algn="ctr" indent="0" marL="0">
              <a:buNone/>
            </a:pPr>
            <a:r>
              <a:rPr lang="en-US" sz="1300" dirty="0">
                <a:solidFill>
                  <a:schemeClr val="tx1"/>
                </a:solidFill>
              </a:rPr>
              <a:t>Requester fills in the Power App form</a:t>
            </a:r>
            <a:endParaRPr lang="en-US" sz="1300" dirty="0"/>
          </a:p>
        </p:txBody>
      </p:sp>
      <p:sp>
        <p:nvSpPr>
          <p:cNvPr id="8" name="a2_arrow0"/>
          <p:cNvSpPr/>
          <p:nvPr/>
        </p:nvSpPr>
        <p:spPr>
          <a:xfrm>
            <a:off x="2514600" y="2624328"/>
            <a:ext cx="256032" cy="0"/>
          </a:xfrm>
          <a:prstGeom prst="line">
            <a:avLst/>
          </a:prstGeom>
          <a:noFill/>
          <a:ln w="25400">
            <a:solidFill>
              <a:schemeClr val="accent2"/>
            </a:solidFill>
            <a:prstDash val="solid"/>
            <a:tailEnd type="triangle"/>
          </a:ln>
        </p:spPr>
      </p:sp>
      <p:sp>
        <p:nvSpPr>
          <p:cNvPr id="9" name="a2_step1_card"/>
          <p:cNvSpPr/>
          <p:nvPr/>
        </p:nvSpPr>
        <p:spPr>
          <a:xfrm>
            <a:off x="2816352" y="1371600"/>
            <a:ext cx="1920240" cy="2788920"/>
          </a:xfrm>
          <a:prstGeom prst="roundRect">
            <a:avLst>
              <a:gd name="adj" fmla="val 5714"/>
            </a:avLst>
          </a:prstGeom>
          <a:solidFill>
            <a:schemeClr val="bg2"/>
          </a:solidFill>
          <a:ln w="12700">
            <a:solidFill>
              <a:schemeClr val="bg2"/>
            </a:solidFill>
            <a:prstDash val="solid"/>
          </a:ln>
          <a:effectLst>
            <a:outerShdw sx="100000" sy="100000" kx="0" ky="0" algn="bl" rotWithShape="0" blurRad="76200" dist="25400" dir="5400000">
              <a:srgbClr val="7F9DB9">
                <a:alpha val="25000"/>
              </a:srgbClr>
            </a:outerShdw>
          </a:effectLst>
        </p:spPr>
      </p:sp>
      <p:sp>
        <p:nvSpPr>
          <p:cNvPr id="10" name="a2_step1_circle"/>
          <p:cNvSpPr/>
          <p:nvPr/>
        </p:nvSpPr>
        <p:spPr>
          <a:xfrm>
            <a:off x="3387852" y="1645920"/>
            <a:ext cx="777240" cy="777240"/>
          </a:xfrm>
          <a:prstGeom prst="ellipse">
            <a:avLst/>
          </a:prstGeom>
          <a:solidFill>
            <a:schemeClr val="accent1"/>
          </a:solidFill>
          <a:ln w="12700">
            <a:solidFill>
              <a:schemeClr val="accent1"/>
            </a:solidFill>
            <a:prstDash val="solid"/>
          </a:ln>
        </p:spPr>
      </p:sp>
      <p:pic>
        <p:nvPicPr>
          <p:cNvPr id="11" name="a2_step1_icon" descr="preencoded.png">    </p:cNvPr>
          <p:cNvPicPr>
            <a:picLocks noChangeAspect="1"/>
          </p:cNvPicPr>
          <p:nvPr/>
        </p:nvPicPr>
        <p:blipFill>
          <a:blip r:embed="rId2"/>
          <a:stretch>
            <a:fillRect/>
          </a:stretch>
        </p:blipFill>
        <p:spPr>
          <a:xfrm>
            <a:off x="3574390" y="1832458"/>
            <a:ext cx="404165" cy="404165"/>
          </a:xfrm>
          <a:prstGeom prst="rect">
            <a:avLst/>
          </a:prstGeom>
        </p:spPr>
      </p:pic>
      <p:sp>
        <p:nvSpPr>
          <p:cNvPr id="12" name="a2_step1_title"/>
          <p:cNvSpPr txBox="1"/>
          <p:nvPr/>
        </p:nvSpPr>
        <p:spPr>
          <a:xfrm>
            <a:off x="2953512" y="2542032"/>
            <a:ext cx="1645920" cy="640080"/>
          </a:xfrm>
          <a:prstGeom prst="rect">
            <a:avLst/>
          </a:prstGeom>
          <a:noFill/>
          <a:ln/>
        </p:spPr>
        <p:txBody>
          <a:bodyPr wrap="square" lIns="0" tIns="0" rIns="0" bIns="0" rtlCol="0" anchor="ctr"/>
          <a:lstStyle/>
          <a:p>
            <a:pPr algn="ctr" indent="0" marL="0">
              <a:buNone/>
            </a:pPr>
            <a:r>
              <a:rPr lang="en-US" sz="1700" b="1" dirty="0">
                <a:solidFill>
                  <a:schemeClr val="tx2"/>
                </a:solidFill>
              </a:rPr>
              <a:t>Lock</a:t>
            </a:r>
            <a:endParaRPr lang="en-US" sz="1700" dirty="0"/>
          </a:p>
        </p:txBody>
      </p:sp>
      <p:sp>
        <p:nvSpPr>
          <p:cNvPr id="13" name="a2_step1_text"/>
          <p:cNvSpPr txBox="1"/>
          <p:nvPr/>
        </p:nvSpPr>
        <p:spPr>
          <a:xfrm>
            <a:off x="2953512" y="3246120"/>
            <a:ext cx="1645920" cy="822960"/>
          </a:xfrm>
          <a:prstGeom prst="rect">
            <a:avLst/>
          </a:prstGeom>
          <a:noFill/>
          <a:ln/>
        </p:spPr>
        <p:txBody>
          <a:bodyPr wrap="square" lIns="0" tIns="0" rIns="0" bIns="0" rtlCol="0" anchor="t"/>
          <a:lstStyle/>
          <a:p>
            <a:pPr algn="ctr" indent="0" marL="0">
              <a:buNone/>
            </a:pPr>
            <a:r>
              <a:rPr lang="en-US" sz="1300" dirty="0">
                <a:solidFill>
                  <a:schemeClr val="tx1"/>
                </a:solidFill>
              </a:rPr>
              <a:t>Request saved in SharePoint and locked</a:t>
            </a:r>
            <a:endParaRPr lang="en-US" sz="1300" dirty="0"/>
          </a:p>
        </p:txBody>
      </p:sp>
      <p:sp>
        <p:nvSpPr>
          <p:cNvPr id="14" name="a3_arrow1"/>
          <p:cNvSpPr/>
          <p:nvPr/>
        </p:nvSpPr>
        <p:spPr>
          <a:xfrm>
            <a:off x="4782312" y="2624328"/>
            <a:ext cx="256032" cy="0"/>
          </a:xfrm>
          <a:prstGeom prst="line">
            <a:avLst/>
          </a:prstGeom>
          <a:noFill/>
          <a:ln w="25400">
            <a:solidFill>
              <a:schemeClr val="accent2"/>
            </a:solidFill>
            <a:prstDash val="solid"/>
            <a:tailEnd type="triangle"/>
          </a:ln>
        </p:spPr>
      </p:sp>
      <p:sp>
        <p:nvSpPr>
          <p:cNvPr id="15" name="a3_step2_card"/>
          <p:cNvSpPr/>
          <p:nvPr/>
        </p:nvSpPr>
        <p:spPr>
          <a:xfrm>
            <a:off x="5084064" y="1371600"/>
            <a:ext cx="1920240" cy="2788920"/>
          </a:xfrm>
          <a:prstGeom prst="roundRect">
            <a:avLst>
              <a:gd name="adj" fmla="val 5714"/>
            </a:avLst>
          </a:prstGeom>
          <a:solidFill>
            <a:schemeClr val="bg2"/>
          </a:solidFill>
          <a:ln w="12700">
            <a:solidFill>
              <a:schemeClr val="bg2"/>
            </a:solidFill>
            <a:prstDash val="solid"/>
          </a:ln>
          <a:effectLst>
            <a:outerShdw sx="100000" sy="100000" kx="0" ky="0" algn="bl" rotWithShape="0" blurRad="76200" dist="25400" dir="5400000">
              <a:srgbClr val="7F9DB9">
                <a:alpha val="25000"/>
              </a:srgbClr>
            </a:outerShdw>
          </a:effectLst>
        </p:spPr>
      </p:sp>
      <p:sp>
        <p:nvSpPr>
          <p:cNvPr id="16" name="a3_step2_circle"/>
          <p:cNvSpPr/>
          <p:nvPr/>
        </p:nvSpPr>
        <p:spPr>
          <a:xfrm>
            <a:off x="5655564" y="1645920"/>
            <a:ext cx="777240" cy="777240"/>
          </a:xfrm>
          <a:prstGeom prst="ellipse">
            <a:avLst/>
          </a:prstGeom>
          <a:solidFill>
            <a:schemeClr val="accent1"/>
          </a:solidFill>
          <a:ln w="12700">
            <a:solidFill>
              <a:schemeClr val="accent1"/>
            </a:solidFill>
            <a:prstDash val="solid"/>
          </a:ln>
        </p:spPr>
      </p:sp>
      <p:pic>
        <p:nvPicPr>
          <p:cNvPr id="17" name="a3_step2_icon" descr="preencoded.png">    </p:cNvPr>
          <p:cNvPicPr>
            <a:picLocks noChangeAspect="1"/>
          </p:cNvPicPr>
          <p:nvPr/>
        </p:nvPicPr>
        <p:blipFill>
          <a:blip r:embed="rId3"/>
          <a:stretch>
            <a:fillRect/>
          </a:stretch>
        </p:blipFill>
        <p:spPr>
          <a:xfrm>
            <a:off x="5842102" y="1832458"/>
            <a:ext cx="404165" cy="404165"/>
          </a:xfrm>
          <a:prstGeom prst="rect">
            <a:avLst/>
          </a:prstGeom>
        </p:spPr>
      </p:pic>
      <p:sp>
        <p:nvSpPr>
          <p:cNvPr id="18" name="a3_step2_title"/>
          <p:cNvSpPr txBox="1"/>
          <p:nvPr/>
        </p:nvSpPr>
        <p:spPr>
          <a:xfrm>
            <a:off x="5221224" y="2542032"/>
            <a:ext cx="1645920" cy="640080"/>
          </a:xfrm>
          <a:prstGeom prst="rect">
            <a:avLst/>
          </a:prstGeom>
          <a:noFill/>
          <a:ln/>
        </p:spPr>
        <p:txBody>
          <a:bodyPr wrap="square" lIns="0" tIns="0" rIns="0" bIns="0" rtlCol="0" anchor="ctr"/>
          <a:lstStyle/>
          <a:p>
            <a:pPr algn="ctr" indent="0" marL="0">
              <a:buNone/>
            </a:pPr>
            <a:r>
              <a:rPr lang="en-US" sz="1700" b="1" dirty="0">
                <a:solidFill>
                  <a:schemeClr val="tx2"/>
                </a:solidFill>
              </a:rPr>
              <a:t>Manager approves</a:t>
            </a:r>
            <a:endParaRPr lang="en-US" sz="1700" dirty="0"/>
          </a:p>
        </p:txBody>
      </p:sp>
      <p:sp>
        <p:nvSpPr>
          <p:cNvPr id="19" name="a3_step2_text"/>
          <p:cNvSpPr txBox="1"/>
          <p:nvPr/>
        </p:nvSpPr>
        <p:spPr>
          <a:xfrm>
            <a:off x="5221224" y="3246120"/>
            <a:ext cx="1645920" cy="822960"/>
          </a:xfrm>
          <a:prstGeom prst="rect">
            <a:avLst/>
          </a:prstGeom>
          <a:noFill/>
          <a:ln/>
        </p:spPr>
        <p:txBody>
          <a:bodyPr wrap="square" lIns="0" tIns="0" rIns="0" bIns="0" rtlCol="0" anchor="t"/>
          <a:lstStyle/>
          <a:p>
            <a:pPr algn="ctr" indent="0" marL="0">
              <a:buNone/>
            </a:pPr>
            <a:r>
              <a:rPr lang="en-US" sz="1300" dirty="0">
                <a:solidFill>
                  <a:schemeClr val="tx1"/>
                </a:solidFill>
              </a:rPr>
              <a:t>Outlook / Teams approval card</a:t>
            </a:r>
            <a:endParaRPr lang="en-US" sz="1300" dirty="0"/>
          </a:p>
        </p:txBody>
      </p:sp>
      <p:sp>
        <p:nvSpPr>
          <p:cNvPr id="20" name="a4_arrow2"/>
          <p:cNvSpPr/>
          <p:nvPr/>
        </p:nvSpPr>
        <p:spPr>
          <a:xfrm>
            <a:off x="7050024" y="2624328"/>
            <a:ext cx="256032" cy="0"/>
          </a:xfrm>
          <a:prstGeom prst="line">
            <a:avLst/>
          </a:prstGeom>
          <a:noFill/>
          <a:ln w="25400">
            <a:solidFill>
              <a:schemeClr val="accent2"/>
            </a:solidFill>
            <a:prstDash val="solid"/>
            <a:tailEnd type="triangle"/>
          </a:ln>
        </p:spPr>
      </p:sp>
      <p:sp>
        <p:nvSpPr>
          <p:cNvPr id="21" name="a4_step3_card"/>
          <p:cNvSpPr/>
          <p:nvPr/>
        </p:nvSpPr>
        <p:spPr>
          <a:xfrm>
            <a:off x="7351776" y="1371600"/>
            <a:ext cx="1920240" cy="2788920"/>
          </a:xfrm>
          <a:prstGeom prst="roundRect">
            <a:avLst>
              <a:gd name="adj" fmla="val 5714"/>
            </a:avLst>
          </a:prstGeom>
          <a:solidFill>
            <a:schemeClr val="bg2"/>
          </a:solidFill>
          <a:ln w="12700">
            <a:solidFill>
              <a:schemeClr val="bg2"/>
            </a:solidFill>
            <a:prstDash val="solid"/>
          </a:ln>
          <a:effectLst>
            <a:outerShdw sx="100000" sy="100000" kx="0" ky="0" algn="bl" rotWithShape="0" blurRad="76200" dist="25400" dir="5400000">
              <a:srgbClr val="7F9DB9">
                <a:alpha val="25000"/>
              </a:srgbClr>
            </a:outerShdw>
          </a:effectLst>
        </p:spPr>
      </p:sp>
      <p:sp>
        <p:nvSpPr>
          <p:cNvPr id="22" name="a4_step3_circle"/>
          <p:cNvSpPr/>
          <p:nvPr/>
        </p:nvSpPr>
        <p:spPr>
          <a:xfrm>
            <a:off x="7923276" y="1645920"/>
            <a:ext cx="777240" cy="777240"/>
          </a:xfrm>
          <a:prstGeom prst="ellipse">
            <a:avLst/>
          </a:prstGeom>
          <a:solidFill>
            <a:schemeClr val="accent1"/>
          </a:solidFill>
          <a:ln w="12700">
            <a:solidFill>
              <a:schemeClr val="accent1"/>
            </a:solidFill>
            <a:prstDash val="solid"/>
          </a:ln>
        </p:spPr>
      </p:sp>
      <p:pic>
        <p:nvPicPr>
          <p:cNvPr id="23" name="a4_step3_icon" descr="preencoded.png">    </p:cNvPr>
          <p:cNvPicPr>
            <a:picLocks noChangeAspect="1"/>
          </p:cNvPicPr>
          <p:nvPr/>
        </p:nvPicPr>
        <p:blipFill>
          <a:blip r:embed="rId4"/>
          <a:stretch>
            <a:fillRect/>
          </a:stretch>
        </p:blipFill>
        <p:spPr>
          <a:xfrm>
            <a:off x="8109814" y="1832458"/>
            <a:ext cx="404165" cy="404165"/>
          </a:xfrm>
          <a:prstGeom prst="rect">
            <a:avLst/>
          </a:prstGeom>
        </p:spPr>
      </p:pic>
      <p:sp>
        <p:nvSpPr>
          <p:cNvPr id="24" name="a4_step3_title"/>
          <p:cNvSpPr txBox="1"/>
          <p:nvPr/>
        </p:nvSpPr>
        <p:spPr>
          <a:xfrm>
            <a:off x="7488936" y="2542032"/>
            <a:ext cx="1645920" cy="640080"/>
          </a:xfrm>
          <a:prstGeom prst="rect">
            <a:avLst/>
          </a:prstGeom>
          <a:noFill/>
          <a:ln/>
        </p:spPr>
        <p:txBody>
          <a:bodyPr wrap="square" lIns="0" tIns="0" rIns="0" bIns="0" rtlCol="0" anchor="ctr"/>
          <a:lstStyle/>
          <a:p>
            <a:pPr algn="ctr" indent="0" marL="0">
              <a:buNone/>
            </a:pPr>
            <a:r>
              <a:rPr lang="en-US" sz="1700" b="1" dirty="0">
                <a:solidFill>
                  <a:schemeClr val="tx2"/>
                </a:solidFill>
              </a:rPr>
              <a:t>Entra team approves</a:t>
            </a:r>
            <a:endParaRPr lang="en-US" sz="1700" dirty="0"/>
          </a:p>
        </p:txBody>
      </p:sp>
      <p:sp>
        <p:nvSpPr>
          <p:cNvPr id="25" name="a4_step3_text"/>
          <p:cNvSpPr txBox="1"/>
          <p:nvPr/>
        </p:nvSpPr>
        <p:spPr>
          <a:xfrm>
            <a:off x="7488936" y="3246120"/>
            <a:ext cx="1645920" cy="822960"/>
          </a:xfrm>
          <a:prstGeom prst="rect">
            <a:avLst/>
          </a:prstGeom>
          <a:noFill/>
          <a:ln/>
        </p:spPr>
        <p:txBody>
          <a:bodyPr wrap="square" lIns="0" tIns="0" rIns="0" bIns="0" rtlCol="0" anchor="t"/>
          <a:lstStyle/>
          <a:p>
            <a:pPr algn="ctr" indent="0" marL="0">
              <a:buNone/>
            </a:pPr>
            <a:r>
              <a:rPr lang="en-US" sz="1300" dirty="0">
                <a:solidFill>
                  <a:schemeClr val="tx1"/>
                </a:solidFill>
              </a:rPr>
              <a:t>Second approval, self-approval blocked</a:t>
            </a:r>
            <a:endParaRPr lang="en-US" sz="1300" dirty="0"/>
          </a:p>
        </p:txBody>
      </p:sp>
      <p:sp>
        <p:nvSpPr>
          <p:cNvPr id="26" name="a5_arrow3"/>
          <p:cNvSpPr/>
          <p:nvPr/>
        </p:nvSpPr>
        <p:spPr>
          <a:xfrm>
            <a:off x="9317736" y="2624328"/>
            <a:ext cx="256032" cy="0"/>
          </a:xfrm>
          <a:prstGeom prst="line">
            <a:avLst/>
          </a:prstGeom>
          <a:noFill/>
          <a:ln w="25400">
            <a:solidFill>
              <a:schemeClr val="accent2"/>
            </a:solidFill>
            <a:prstDash val="solid"/>
            <a:tailEnd type="triangle"/>
          </a:ln>
        </p:spPr>
      </p:sp>
      <p:sp>
        <p:nvSpPr>
          <p:cNvPr id="27" name="a5_step4_card"/>
          <p:cNvSpPr/>
          <p:nvPr/>
        </p:nvSpPr>
        <p:spPr>
          <a:xfrm>
            <a:off x="9619488" y="1371600"/>
            <a:ext cx="1920240" cy="2788920"/>
          </a:xfrm>
          <a:prstGeom prst="roundRect">
            <a:avLst>
              <a:gd name="adj" fmla="val 5714"/>
            </a:avLst>
          </a:prstGeom>
          <a:solidFill>
            <a:schemeClr val="bg2"/>
          </a:solidFill>
          <a:ln w="12700">
            <a:solidFill>
              <a:schemeClr val="bg2"/>
            </a:solidFill>
            <a:prstDash val="solid"/>
          </a:ln>
          <a:effectLst>
            <a:outerShdw sx="100000" sy="100000" kx="0" ky="0" algn="bl" rotWithShape="0" blurRad="76200" dist="25400" dir="5400000">
              <a:srgbClr val="7F9DB9">
                <a:alpha val="25000"/>
              </a:srgbClr>
            </a:outerShdw>
          </a:effectLst>
        </p:spPr>
      </p:sp>
      <p:sp>
        <p:nvSpPr>
          <p:cNvPr id="28" name="a5_step4_circle"/>
          <p:cNvSpPr/>
          <p:nvPr/>
        </p:nvSpPr>
        <p:spPr>
          <a:xfrm>
            <a:off x="10190988" y="1645920"/>
            <a:ext cx="777240" cy="777240"/>
          </a:xfrm>
          <a:prstGeom prst="ellipse">
            <a:avLst/>
          </a:prstGeom>
          <a:solidFill>
            <a:schemeClr val="accent1"/>
          </a:solidFill>
          <a:ln w="12700">
            <a:solidFill>
              <a:schemeClr val="accent1"/>
            </a:solidFill>
            <a:prstDash val="solid"/>
          </a:ln>
        </p:spPr>
      </p:sp>
      <p:pic>
        <p:nvPicPr>
          <p:cNvPr id="29" name="a5_step4_icon" descr="preencoded.png">    </p:cNvPr>
          <p:cNvPicPr>
            <a:picLocks noChangeAspect="1"/>
          </p:cNvPicPr>
          <p:nvPr/>
        </p:nvPicPr>
        <p:blipFill>
          <a:blip r:embed="rId5"/>
          <a:stretch>
            <a:fillRect/>
          </a:stretch>
        </p:blipFill>
        <p:spPr>
          <a:xfrm>
            <a:off x="10377526" y="1832458"/>
            <a:ext cx="404165" cy="404165"/>
          </a:xfrm>
          <a:prstGeom prst="rect">
            <a:avLst/>
          </a:prstGeom>
        </p:spPr>
      </p:pic>
      <p:sp>
        <p:nvSpPr>
          <p:cNvPr id="30" name="a5_step4_title"/>
          <p:cNvSpPr txBox="1"/>
          <p:nvPr/>
        </p:nvSpPr>
        <p:spPr>
          <a:xfrm>
            <a:off x="9756648" y="2542032"/>
            <a:ext cx="1645920" cy="640080"/>
          </a:xfrm>
          <a:prstGeom prst="rect">
            <a:avLst/>
          </a:prstGeom>
          <a:noFill/>
          <a:ln/>
        </p:spPr>
        <p:txBody>
          <a:bodyPr wrap="square" lIns="0" tIns="0" rIns="0" bIns="0" rtlCol="0" anchor="ctr"/>
          <a:lstStyle/>
          <a:p>
            <a:pPr algn="ctr" indent="0" marL="0">
              <a:buNone/>
            </a:pPr>
            <a:r>
              <a:rPr lang="en-US" sz="1700" b="1" dirty="0">
                <a:solidFill>
                  <a:schemeClr val="tx2"/>
                </a:solidFill>
              </a:rPr>
              <a:t>Create</a:t>
            </a:r>
            <a:endParaRPr lang="en-US" sz="1700" dirty="0"/>
          </a:p>
        </p:txBody>
      </p:sp>
      <p:sp>
        <p:nvSpPr>
          <p:cNvPr id="31" name="a5_step4_text"/>
          <p:cNvSpPr txBox="1"/>
          <p:nvPr/>
        </p:nvSpPr>
        <p:spPr>
          <a:xfrm>
            <a:off x="9756648" y="3246120"/>
            <a:ext cx="1645920" cy="822960"/>
          </a:xfrm>
          <a:prstGeom prst="rect">
            <a:avLst/>
          </a:prstGeom>
          <a:noFill/>
          <a:ln/>
        </p:spPr>
        <p:txBody>
          <a:bodyPr wrap="square" lIns="0" tIns="0" rIns="0" bIns="0" rtlCol="0" anchor="t"/>
          <a:lstStyle/>
          <a:p>
            <a:pPr algn="ctr" indent="0" marL="0">
              <a:buNone/>
            </a:pPr>
            <a:r>
              <a:rPr lang="en-US" sz="1300" dirty="0">
                <a:solidFill>
                  <a:schemeClr val="tx1"/>
                </a:solidFill>
              </a:rPr>
              <a:t>Flow calls Microsoft Graph as the platform app</a:t>
            </a:r>
            <a:endParaRPr lang="en-US" sz="1300" dirty="0"/>
          </a:p>
        </p:txBody>
      </p:sp>
      <p:sp>
        <p:nvSpPr>
          <p:cNvPr id="32" name="a6_result_card"/>
          <p:cNvSpPr/>
          <p:nvPr/>
        </p:nvSpPr>
        <p:spPr>
          <a:xfrm>
            <a:off x="548640" y="4434840"/>
            <a:ext cx="11094415" cy="1325880"/>
          </a:xfrm>
          <a:prstGeom prst="roundRect">
            <a:avLst>
              <a:gd name="adj" fmla="val 8276"/>
            </a:avLst>
          </a:prstGeom>
          <a:solidFill>
            <a:schemeClr val="bg2"/>
          </a:solidFill>
          <a:ln w="12700">
            <a:solidFill>
              <a:schemeClr val="bg2"/>
            </a:solidFill>
            <a:prstDash val="solid"/>
          </a:ln>
          <a:effectLst>
            <a:outerShdw sx="100000" sy="100000" kx="0" ky="0" algn="bl" rotWithShape="0" blurRad="76200" dist="25400" dir="5400000">
              <a:srgbClr val="7F9DB9">
                <a:alpha val="25000"/>
              </a:srgbClr>
            </a:outerShdw>
          </a:effectLst>
        </p:spPr>
      </p:sp>
      <p:sp>
        <p:nvSpPr>
          <p:cNvPr id="33" name="a6_result_circle"/>
          <p:cNvSpPr/>
          <p:nvPr/>
        </p:nvSpPr>
        <p:spPr>
          <a:xfrm>
            <a:off x="822960" y="4709160"/>
            <a:ext cx="777240" cy="777240"/>
          </a:xfrm>
          <a:prstGeom prst="ellipse">
            <a:avLst/>
          </a:prstGeom>
          <a:solidFill>
            <a:schemeClr val="accent4"/>
          </a:solidFill>
          <a:ln w="12700">
            <a:solidFill>
              <a:schemeClr val="accent4"/>
            </a:solidFill>
            <a:prstDash val="solid"/>
          </a:ln>
        </p:spPr>
      </p:sp>
      <p:pic>
        <p:nvPicPr>
          <p:cNvPr id="34" name="a6_result_icon" descr="preencoded.png">    </p:cNvPr>
          <p:cNvPicPr>
            <a:picLocks noChangeAspect="1"/>
          </p:cNvPicPr>
          <p:nvPr/>
        </p:nvPicPr>
        <p:blipFill>
          <a:blip r:embed="rId6"/>
          <a:stretch>
            <a:fillRect/>
          </a:stretch>
        </p:blipFill>
        <p:spPr>
          <a:xfrm>
            <a:off x="1009498" y="4895698"/>
            <a:ext cx="404165" cy="404165"/>
          </a:xfrm>
          <a:prstGeom prst="rect">
            <a:avLst/>
          </a:prstGeom>
        </p:spPr>
      </p:pic>
      <p:sp>
        <p:nvSpPr>
          <p:cNvPr id="35" name="a6_result_text"/>
          <p:cNvSpPr txBox="1"/>
          <p:nvPr/>
        </p:nvSpPr>
        <p:spPr>
          <a:xfrm>
            <a:off x="1874520" y="4617720"/>
            <a:ext cx="9539935" cy="1005840"/>
          </a:xfrm>
          <a:prstGeom prst="rect">
            <a:avLst/>
          </a:prstGeom>
          <a:noFill/>
          <a:ln/>
        </p:spPr>
        <p:txBody>
          <a:bodyPr wrap="square" lIns="0" tIns="0" rIns="0" bIns="0" rtlCol="0" anchor="ctr"/>
          <a:lstStyle/>
          <a:p>
            <a:pPr indent="0" marL="0">
              <a:buNone/>
            </a:pPr>
            <a:r>
              <a:rPr lang="en-US" sz="1500" b="1" dirty="0">
                <a:solidFill>
                  <a:schemeClr val="tx2"/>
                </a:solidFill>
              </a:rPr>
              <a:t>Result in minutes: </a:t>
            </a:r>
            <a:pPr indent="0" marL="0">
              <a:buNone/>
            </a:pPr>
            <a:r>
              <a:rPr lang="en-US" sz="1500" dirty="0">
                <a:solidFill>
                  <a:schemeClr val="tx1"/>
                </a:solidFill>
              </a:rPr>
              <a:t>app registration, Application ID URI and scopes, app roles with their groups, enterprise app, tags and notes. The requester sees every step in My requests and by email.</a:t>
            </a:r>
            <a:endParaRPr lang="en-US" sz="1500" dirty="0"/>
          </a:p>
        </p:txBody>
      </p:sp>
      <p:sp>
        <p:nvSpPr>
          <p:cNvPr id="36" name="edit_hint"/>
          <p:cNvSpPr txBox="1"/>
          <p:nvPr/>
        </p:nvSpPr>
        <p:spPr>
          <a:xfrm>
            <a:off x="548640" y="5943600"/>
            <a:ext cx="7315200" cy="274320"/>
          </a:xfrm>
          <a:prstGeom prst="rect">
            <a:avLst/>
          </a:prstGeom>
          <a:noFill/>
          <a:ln/>
        </p:spPr>
        <p:txBody>
          <a:bodyPr wrap="square" lIns="0" tIns="0" rIns="0" bIns="0" rtlCol="0" anchor="t"/>
          <a:lstStyle/>
          <a:p>
            <a:pPr indent="0" marL="0">
              <a:buNone/>
            </a:pPr>
            <a:r>
              <a:rPr lang="en-US" sz="1000" dirty="0">
                <a:solidFill>
                  <a:schemeClr val="accent6"/>
                </a:solidFill>
              </a:rPr>
              <a:t>Editable: every box and arrow on this slide is a PowerPoint shape.</a:t>
            </a:r>
            <a:endParaRPr lang="en-US" sz="10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timing>
    <p:tnLst>
      <p:par>
        <p:cTn id="1" dur="indefinite" restart="never" nodeType="tmRoot">
          <p:childTnLst>
            <p:seq concurrent="1" nextAc="seek">
              <p:cTn id="2" dur="indefinite" nodeType="mainSeq">
                <p:childTnLst>
                  <p:par>
                    <p:cTn id="18" fill="hold">
                      <p:stCondLst>
                        <p:cond delay="indefinite"/>
                      </p:stCondLst>
                      <p:childTnLst>
                        <p:par>
                          <p:cTn id="19"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400"/>
                                        <p:tgtEl>
                                          <p:spTgt spid="3"/>
                                        </p:tgtEl>
                                      </p:cBhvr>
                                    </p:animEffect>
                                  </p:childTnLst>
                                </p:cTn>
                              </p:par>
                              <p:par>
                                <p:cTn id="6" presetID="10" presetClass="entr" presetSubtype="0" fill="hold" nodeType="withEffect">
                                  <p:stCondLst>
                                    <p:cond delay="0"/>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400"/>
                                        <p:tgtEl>
                                          <p:spTgt spid="4"/>
                                        </p:tgtEl>
                                      </p:cBhvr>
                                    </p:animEffect>
                                  </p:childTnLst>
                                </p:cTn>
                              </p:par>
                              <p:par>
                                <p:cTn id="9" presetID="10" presetClass="entr" presetSubtype="0" fill="hold" nodeType="with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400"/>
                                        <p:tgtEl>
                                          <p:spTgt spid="5"/>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400"/>
                                        <p:tgtEl>
                                          <p:spTgt spid="6"/>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400"/>
                                        <p:tgtEl>
                                          <p:spTgt spid="7"/>
                                        </p:tgtEl>
                                      </p:cBhvr>
                                    </p:animEffect>
                                  </p:childTnLst>
                                </p:cTn>
                              </p:par>
                            </p:childTnLst>
                          </p:cTn>
                        </p:par>
                      </p:childTnLst>
                    </p:cTn>
                  </p:par>
                  <p:par>
                    <p:cTn id="38" fill="hold">
                      <p:stCondLst>
                        <p:cond delay="indefinite"/>
                      </p:stCondLst>
                      <p:childTnLst>
                        <p:par>
                          <p:cTn id="3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400"/>
                                        <p:tgtEl>
                                          <p:spTgt spid="8"/>
                                        </p:tgtEl>
                                      </p:cBhvr>
                                    </p:animEffect>
                                  </p:childTnLst>
                                </p:cTn>
                              </p:par>
                              <p:par>
                                <p:cTn id="23" presetID="10" presetClass="entr" presetSubtype="0" fill="hold"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4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400"/>
                                        <p:tgtEl>
                                          <p:spTgt spid="10"/>
                                        </p:tgtEl>
                                      </p:cBhvr>
                                    </p:animEffect>
                                  </p:childTnLst>
                                </p:cTn>
                              </p:par>
                              <p:par>
                                <p:cTn id="29" presetID="10" presetClass="entr" presetSubtype="0" fill="hold" nodeType="with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400"/>
                                        <p:tgtEl>
                                          <p:spTgt spid="1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400"/>
                                        <p:tgtEl>
                                          <p:spTgt spid="1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400"/>
                                        <p:tgtEl>
                                          <p:spTgt spid="13"/>
                                        </p:tgtEl>
                                      </p:cBhvr>
                                    </p:animEffect>
                                  </p:childTnLst>
                                </p:cTn>
                              </p:par>
                            </p:childTnLst>
                          </p:cTn>
                        </p:par>
                      </p:childTnLst>
                    </p:cTn>
                  </p:par>
                  <p:par>
                    <p:cTn id="58" fill="hold">
                      <p:stCondLst>
                        <p:cond delay="indefinite"/>
                      </p:stCondLst>
                      <p:childTnLst>
                        <p:par>
                          <p:cTn id="5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400"/>
                                        <p:tgtEl>
                                          <p:spTgt spid="14"/>
                                        </p:tgtEl>
                                      </p:cBhvr>
                                    </p:animEffect>
                                  </p:childTnLst>
                                </p:cTn>
                              </p:par>
                              <p:par>
                                <p:cTn id="43" presetID="10" presetClass="entr" presetSubtype="0" fill="hold" nodeType="withEffect">
                                  <p:stCondLst>
                                    <p:cond delay="0"/>
                                  </p:stCondLst>
                                  <p:childTnLst>
                                    <p:set>
                                      <p:cBhvr>
                                        <p:cTn id="44" dur="1" fill="hold">
                                          <p:stCondLst>
                                            <p:cond delay="0"/>
                                          </p:stCondLst>
                                        </p:cTn>
                                        <p:tgtEl>
                                          <p:spTgt spid="15"/>
                                        </p:tgtEl>
                                        <p:attrNameLst>
                                          <p:attrName>style.visibility</p:attrName>
                                        </p:attrNameLst>
                                      </p:cBhvr>
                                      <p:to>
                                        <p:strVal val="visible"/>
                                      </p:to>
                                    </p:set>
                                    <p:animEffect transition="in" filter="fade">
                                      <p:cBhvr>
                                        <p:cTn id="45" dur="400"/>
                                        <p:tgtEl>
                                          <p:spTgt spid="15"/>
                                        </p:tgtEl>
                                      </p:cBhvr>
                                    </p:animEffect>
                                  </p:childTnLst>
                                </p:cTn>
                              </p:par>
                              <p:par>
                                <p:cTn id="46" presetID="10" presetClass="entr" presetSubtype="0" fill="hold" nodeType="withEffect">
                                  <p:stCondLst>
                                    <p:cond delay="0"/>
                                  </p:stCondLst>
                                  <p:childTnLst>
                                    <p:set>
                                      <p:cBhvr>
                                        <p:cTn id="47" dur="1" fill="hold">
                                          <p:stCondLst>
                                            <p:cond delay="0"/>
                                          </p:stCondLst>
                                        </p:cTn>
                                        <p:tgtEl>
                                          <p:spTgt spid="16"/>
                                        </p:tgtEl>
                                        <p:attrNameLst>
                                          <p:attrName>style.visibility</p:attrName>
                                        </p:attrNameLst>
                                      </p:cBhvr>
                                      <p:to>
                                        <p:strVal val="visible"/>
                                      </p:to>
                                    </p:set>
                                    <p:animEffect transition="in" filter="fade">
                                      <p:cBhvr>
                                        <p:cTn id="48" dur="400"/>
                                        <p:tgtEl>
                                          <p:spTgt spid="16"/>
                                        </p:tgtEl>
                                      </p:cBhvr>
                                    </p:animEffect>
                                  </p:childTnLst>
                                </p:cTn>
                              </p:par>
                              <p:par>
                                <p:cTn id="49" presetID="10" presetClass="entr" presetSubtype="0" fill="hold" nodeType="withEffect">
                                  <p:stCondLst>
                                    <p:cond delay="0"/>
                                  </p:stCondLst>
                                  <p:childTnLst>
                                    <p:set>
                                      <p:cBhvr>
                                        <p:cTn id="50" dur="1" fill="hold">
                                          <p:stCondLst>
                                            <p:cond delay="0"/>
                                          </p:stCondLst>
                                        </p:cTn>
                                        <p:tgtEl>
                                          <p:spTgt spid="17"/>
                                        </p:tgtEl>
                                        <p:attrNameLst>
                                          <p:attrName>style.visibility</p:attrName>
                                        </p:attrNameLst>
                                      </p:cBhvr>
                                      <p:to>
                                        <p:strVal val="visible"/>
                                      </p:to>
                                    </p:set>
                                    <p:animEffect transition="in" filter="fade">
                                      <p:cBhvr>
                                        <p:cTn id="51" dur="400"/>
                                        <p:tgtEl>
                                          <p:spTgt spid="17"/>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8"/>
                                        </p:tgtEl>
                                        <p:attrNameLst>
                                          <p:attrName>style.visibility</p:attrName>
                                        </p:attrNameLst>
                                      </p:cBhvr>
                                      <p:to>
                                        <p:strVal val="visible"/>
                                      </p:to>
                                    </p:set>
                                    <p:animEffect transition="in" filter="fade">
                                      <p:cBhvr>
                                        <p:cTn id="54" dur="400"/>
                                        <p:tgtEl>
                                          <p:spTgt spid="18"/>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fade">
                                      <p:cBhvr>
                                        <p:cTn id="57" dur="400"/>
                                        <p:tgtEl>
                                          <p:spTgt spid="19"/>
                                        </p:tgtEl>
                                      </p:cBhvr>
                                    </p:animEffect>
                                  </p:childTnLst>
                                </p:cTn>
                              </p:par>
                            </p:childTnLst>
                          </p:cTn>
                        </p:par>
                      </p:childTnLst>
                    </p:cTn>
                  </p:par>
                  <p:par>
                    <p:cTn id="78" fill="hold">
                      <p:stCondLst>
                        <p:cond delay="indefinite"/>
                      </p:stCondLst>
                      <p:childTnLst>
                        <p:par>
                          <p:cTn id="7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20"/>
                                        </p:tgtEl>
                                        <p:attrNameLst>
                                          <p:attrName>style.visibility</p:attrName>
                                        </p:attrNameLst>
                                      </p:cBhvr>
                                      <p:to>
                                        <p:strVal val="visible"/>
                                      </p:to>
                                    </p:set>
                                    <p:animEffect transition="in" filter="fade">
                                      <p:cBhvr>
                                        <p:cTn id="62" dur="400"/>
                                        <p:tgtEl>
                                          <p:spTgt spid="20"/>
                                        </p:tgtEl>
                                      </p:cBhvr>
                                    </p:animEffect>
                                  </p:childTnLst>
                                </p:cTn>
                              </p:par>
                              <p:par>
                                <p:cTn id="63" presetID="10" presetClass="entr" presetSubtype="0" fill="hold" nodeType="withEffect">
                                  <p:stCondLst>
                                    <p:cond delay="0"/>
                                  </p:stCondLst>
                                  <p:childTnLst>
                                    <p:set>
                                      <p:cBhvr>
                                        <p:cTn id="64" dur="1" fill="hold">
                                          <p:stCondLst>
                                            <p:cond delay="0"/>
                                          </p:stCondLst>
                                        </p:cTn>
                                        <p:tgtEl>
                                          <p:spTgt spid="21"/>
                                        </p:tgtEl>
                                        <p:attrNameLst>
                                          <p:attrName>style.visibility</p:attrName>
                                        </p:attrNameLst>
                                      </p:cBhvr>
                                      <p:to>
                                        <p:strVal val="visible"/>
                                      </p:to>
                                    </p:set>
                                    <p:animEffect transition="in" filter="fade">
                                      <p:cBhvr>
                                        <p:cTn id="65" dur="400"/>
                                        <p:tgtEl>
                                          <p:spTgt spid="21"/>
                                        </p:tgtEl>
                                      </p:cBhvr>
                                    </p:animEffect>
                                  </p:childTnLst>
                                </p:cTn>
                              </p:par>
                              <p:par>
                                <p:cTn id="66" presetID="10" presetClass="entr" presetSubtype="0" fill="hold" nodeType="withEffect">
                                  <p:stCondLst>
                                    <p:cond delay="0"/>
                                  </p:stCondLst>
                                  <p:childTnLst>
                                    <p:set>
                                      <p:cBhvr>
                                        <p:cTn id="67" dur="1" fill="hold">
                                          <p:stCondLst>
                                            <p:cond delay="0"/>
                                          </p:stCondLst>
                                        </p:cTn>
                                        <p:tgtEl>
                                          <p:spTgt spid="22"/>
                                        </p:tgtEl>
                                        <p:attrNameLst>
                                          <p:attrName>style.visibility</p:attrName>
                                        </p:attrNameLst>
                                      </p:cBhvr>
                                      <p:to>
                                        <p:strVal val="visible"/>
                                      </p:to>
                                    </p:set>
                                    <p:animEffect transition="in" filter="fade">
                                      <p:cBhvr>
                                        <p:cTn id="68" dur="400"/>
                                        <p:tgtEl>
                                          <p:spTgt spid="22"/>
                                        </p:tgtEl>
                                      </p:cBhvr>
                                    </p:animEffect>
                                  </p:childTnLst>
                                </p:cTn>
                              </p:par>
                              <p:par>
                                <p:cTn id="69" presetID="10" presetClass="entr" presetSubtype="0" fill="hold" nodeType="withEffect">
                                  <p:stCondLst>
                                    <p:cond delay="0"/>
                                  </p:stCondLst>
                                  <p:childTnLst>
                                    <p:set>
                                      <p:cBhvr>
                                        <p:cTn id="70" dur="1" fill="hold">
                                          <p:stCondLst>
                                            <p:cond delay="0"/>
                                          </p:stCondLst>
                                        </p:cTn>
                                        <p:tgtEl>
                                          <p:spTgt spid="23"/>
                                        </p:tgtEl>
                                        <p:attrNameLst>
                                          <p:attrName>style.visibility</p:attrName>
                                        </p:attrNameLst>
                                      </p:cBhvr>
                                      <p:to>
                                        <p:strVal val="visible"/>
                                      </p:to>
                                    </p:set>
                                    <p:animEffect transition="in" filter="fade">
                                      <p:cBhvr>
                                        <p:cTn id="71" dur="400"/>
                                        <p:tgtEl>
                                          <p:spTgt spid="23"/>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4"/>
                                        </p:tgtEl>
                                        <p:attrNameLst>
                                          <p:attrName>style.visibility</p:attrName>
                                        </p:attrNameLst>
                                      </p:cBhvr>
                                      <p:to>
                                        <p:strVal val="visible"/>
                                      </p:to>
                                    </p:set>
                                    <p:animEffect transition="in" filter="fade">
                                      <p:cBhvr>
                                        <p:cTn id="74" dur="400"/>
                                        <p:tgtEl>
                                          <p:spTgt spid="24"/>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5"/>
                                        </p:tgtEl>
                                        <p:attrNameLst>
                                          <p:attrName>style.visibility</p:attrName>
                                        </p:attrNameLst>
                                      </p:cBhvr>
                                      <p:to>
                                        <p:strVal val="visible"/>
                                      </p:to>
                                    </p:set>
                                    <p:animEffect transition="in" filter="fade">
                                      <p:cBhvr>
                                        <p:cTn id="77" dur="400"/>
                                        <p:tgtEl>
                                          <p:spTgt spid="25"/>
                                        </p:tgtEl>
                                      </p:cBhvr>
                                    </p:animEffect>
                                  </p:childTnLst>
                                </p:cTn>
                              </p:par>
                            </p:childTnLst>
                          </p:cTn>
                        </p:par>
                      </p:childTnLst>
                    </p:cTn>
                  </p:par>
                  <p:par>
                    <p:cTn id="98" fill="hold">
                      <p:stCondLst>
                        <p:cond delay="indefinite"/>
                      </p:stCondLst>
                      <p:childTnLst>
                        <p:par>
                          <p:cTn id="99" fill="hold">
                            <p:stCondLst>
                              <p:cond delay="0"/>
                            </p:stCondLst>
                            <p:childTnLst>
                              <p:par>
                                <p:cTn id="80" presetID="10" presetClass="entr" presetSubtype="0" fill="hold" nodeType="clickEffect">
                                  <p:stCondLst>
                                    <p:cond delay="0"/>
                                  </p:stCondLst>
                                  <p:childTnLst>
                                    <p:set>
                                      <p:cBhvr>
                                        <p:cTn id="81" dur="1" fill="hold">
                                          <p:stCondLst>
                                            <p:cond delay="0"/>
                                          </p:stCondLst>
                                        </p:cTn>
                                        <p:tgtEl>
                                          <p:spTgt spid="26"/>
                                        </p:tgtEl>
                                        <p:attrNameLst>
                                          <p:attrName>style.visibility</p:attrName>
                                        </p:attrNameLst>
                                      </p:cBhvr>
                                      <p:to>
                                        <p:strVal val="visible"/>
                                      </p:to>
                                    </p:set>
                                    <p:animEffect transition="in" filter="fade">
                                      <p:cBhvr>
                                        <p:cTn id="82" dur="400"/>
                                        <p:tgtEl>
                                          <p:spTgt spid="26"/>
                                        </p:tgtEl>
                                      </p:cBhvr>
                                    </p:animEffect>
                                  </p:childTnLst>
                                </p:cTn>
                              </p:par>
                              <p:par>
                                <p:cTn id="83" presetID="10" presetClass="entr" presetSubtype="0" fill="hold" nodeType="withEffect">
                                  <p:stCondLst>
                                    <p:cond delay="0"/>
                                  </p:stCondLst>
                                  <p:childTnLst>
                                    <p:set>
                                      <p:cBhvr>
                                        <p:cTn id="84" dur="1" fill="hold">
                                          <p:stCondLst>
                                            <p:cond delay="0"/>
                                          </p:stCondLst>
                                        </p:cTn>
                                        <p:tgtEl>
                                          <p:spTgt spid="27"/>
                                        </p:tgtEl>
                                        <p:attrNameLst>
                                          <p:attrName>style.visibility</p:attrName>
                                        </p:attrNameLst>
                                      </p:cBhvr>
                                      <p:to>
                                        <p:strVal val="visible"/>
                                      </p:to>
                                    </p:set>
                                    <p:animEffect transition="in" filter="fade">
                                      <p:cBhvr>
                                        <p:cTn id="85" dur="400"/>
                                        <p:tgtEl>
                                          <p:spTgt spid="27"/>
                                        </p:tgtEl>
                                      </p:cBhvr>
                                    </p:animEffect>
                                  </p:childTnLst>
                                </p:cTn>
                              </p:par>
                              <p:par>
                                <p:cTn id="86" presetID="10" presetClass="entr" presetSubtype="0" fill="hold" nodeType="withEffect">
                                  <p:stCondLst>
                                    <p:cond delay="0"/>
                                  </p:stCondLst>
                                  <p:childTnLst>
                                    <p:set>
                                      <p:cBhvr>
                                        <p:cTn id="87" dur="1" fill="hold">
                                          <p:stCondLst>
                                            <p:cond delay="0"/>
                                          </p:stCondLst>
                                        </p:cTn>
                                        <p:tgtEl>
                                          <p:spTgt spid="28"/>
                                        </p:tgtEl>
                                        <p:attrNameLst>
                                          <p:attrName>style.visibility</p:attrName>
                                        </p:attrNameLst>
                                      </p:cBhvr>
                                      <p:to>
                                        <p:strVal val="visible"/>
                                      </p:to>
                                    </p:set>
                                    <p:animEffect transition="in" filter="fade">
                                      <p:cBhvr>
                                        <p:cTn id="88" dur="400"/>
                                        <p:tgtEl>
                                          <p:spTgt spid="28"/>
                                        </p:tgtEl>
                                      </p:cBhvr>
                                    </p:animEffect>
                                  </p:childTnLst>
                                </p:cTn>
                              </p:par>
                              <p:par>
                                <p:cTn id="89" presetID="10" presetClass="entr" presetSubtype="0" fill="hold" nodeType="withEffect">
                                  <p:stCondLst>
                                    <p:cond delay="0"/>
                                  </p:stCondLst>
                                  <p:childTnLst>
                                    <p:set>
                                      <p:cBhvr>
                                        <p:cTn id="90" dur="1" fill="hold">
                                          <p:stCondLst>
                                            <p:cond delay="0"/>
                                          </p:stCondLst>
                                        </p:cTn>
                                        <p:tgtEl>
                                          <p:spTgt spid="29"/>
                                        </p:tgtEl>
                                        <p:attrNameLst>
                                          <p:attrName>style.visibility</p:attrName>
                                        </p:attrNameLst>
                                      </p:cBhvr>
                                      <p:to>
                                        <p:strVal val="visible"/>
                                      </p:to>
                                    </p:set>
                                    <p:animEffect transition="in" filter="fade">
                                      <p:cBhvr>
                                        <p:cTn id="91" dur="400"/>
                                        <p:tgtEl>
                                          <p:spTgt spid="29"/>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30"/>
                                        </p:tgtEl>
                                        <p:attrNameLst>
                                          <p:attrName>style.visibility</p:attrName>
                                        </p:attrNameLst>
                                      </p:cBhvr>
                                      <p:to>
                                        <p:strVal val="visible"/>
                                      </p:to>
                                    </p:set>
                                    <p:animEffect transition="in" filter="fade">
                                      <p:cBhvr>
                                        <p:cTn id="94" dur="400"/>
                                        <p:tgtEl>
                                          <p:spTgt spid="30"/>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31"/>
                                        </p:tgtEl>
                                        <p:attrNameLst>
                                          <p:attrName>style.visibility</p:attrName>
                                        </p:attrNameLst>
                                      </p:cBhvr>
                                      <p:to>
                                        <p:strVal val="visible"/>
                                      </p:to>
                                    </p:set>
                                    <p:animEffect transition="in" filter="fade">
                                      <p:cBhvr>
                                        <p:cTn id="97" dur="400"/>
                                        <p:tgtEl>
                                          <p:spTgt spid="31"/>
                                        </p:tgtEl>
                                      </p:cBhvr>
                                    </p:animEffect>
                                  </p:childTnLst>
                                </p:cTn>
                              </p:par>
                            </p:childTnLst>
                          </p:cTn>
                        </p:par>
                      </p:childTnLst>
                    </p:cTn>
                  </p:par>
                  <p:par>
                    <p:cTn id="112" fill="hold">
                      <p:stCondLst>
                        <p:cond delay="indefinite"/>
                      </p:stCondLst>
                      <p:childTnLst>
                        <p:par>
                          <p:cTn id="113" fill="hold">
                            <p:stCondLst>
                              <p:cond delay="0"/>
                            </p:stCondLst>
                            <p:childTnLst>
                              <p:par>
                                <p:cTn id="100" presetID="10" presetClass="entr" presetSubtype="0" fill="hold" nodeType="clickEffect">
                                  <p:stCondLst>
                                    <p:cond delay="0"/>
                                  </p:stCondLst>
                                  <p:childTnLst>
                                    <p:set>
                                      <p:cBhvr>
                                        <p:cTn id="101" dur="1" fill="hold">
                                          <p:stCondLst>
                                            <p:cond delay="0"/>
                                          </p:stCondLst>
                                        </p:cTn>
                                        <p:tgtEl>
                                          <p:spTgt spid="32"/>
                                        </p:tgtEl>
                                        <p:attrNameLst>
                                          <p:attrName>style.visibility</p:attrName>
                                        </p:attrNameLst>
                                      </p:cBhvr>
                                      <p:to>
                                        <p:strVal val="visible"/>
                                      </p:to>
                                    </p:set>
                                    <p:animEffect transition="in" filter="fade">
                                      <p:cBhvr>
                                        <p:cTn id="102" dur="400"/>
                                        <p:tgtEl>
                                          <p:spTgt spid="32"/>
                                        </p:tgtEl>
                                      </p:cBhvr>
                                    </p:animEffect>
                                  </p:childTnLst>
                                </p:cTn>
                              </p:par>
                              <p:par>
                                <p:cTn id="103" presetID="10" presetClass="entr" presetSubtype="0" fill="hold" nodeType="withEffect">
                                  <p:stCondLst>
                                    <p:cond delay="0"/>
                                  </p:stCondLst>
                                  <p:childTnLst>
                                    <p:set>
                                      <p:cBhvr>
                                        <p:cTn id="104" dur="1" fill="hold">
                                          <p:stCondLst>
                                            <p:cond delay="0"/>
                                          </p:stCondLst>
                                        </p:cTn>
                                        <p:tgtEl>
                                          <p:spTgt spid="33"/>
                                        </p:tgtEl>
                                        <p:attrNameLst>
                                          <p:attrName>style.visibility</p:attrName>
                                        </p:attrNameLst>
                                      </p:cBhvr>
                                      <p:to>
                                        <p:strVal val="visible"/>
                                      </p:to>
                                    </p:set>
                                    <p:animEffect transition="in" filter="fade">
                                      <p:cBhvr>
                                        <p:cTn id="105" dur="400"/>
                                        <p:tgtEl>
                                          <p:spTgt spid="33"/>
                                        </p:tgtEl>
                                      </p:cBhvr>
                                    </p:animEffect>
                                  </p:childTnLst>
                                </p:cTn>
                              </p:par>
                              <p:par>
                                <p:cTn id="106" presetID="10" presetClass="entr" presetSubtype="0" fill="hold" nodeType="withEffect">
                                  <p:stCondLst>
                                    <p:cond delay="0"/>
                                  </p:stCondLst>
                                  <p:childTnLst>
                                    <p:set>
                                      <p:cBhvr>
                                        <p:cTn id="107" dur="1" fill="hold">
                                          <p:stCondLst>
                                            <p:cond delay="0"/>
                                          </p:stCondLst>
                                        </p:cTn>
                                        <p:tgtEl>
                                          <p:spTgt spid="34"/>
                                        </p:tgtEl>
                                        <p:attrNameLst>
                                          <p:attrName>style.visibility</p:attrName>
                                        </p:attrNameLst>
                                      </p:cBhvr>
                                      <p:to>
                                        <p:strVal val="visible"/>
                                      </p:to>
                                    </p:set>
                                    <p:animEffect transition="in" filter="fade">
                                      <p:cBhvr>
                                        <p:cTn id="108" dur="400"/>
                                        <p:tgtEl>
                                          <p:spTgt spid="34"/>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35"/>
                                        </p:tgtEl>
                                        <p:attrNameLst>
                                          <p:attrName>style.visibility</p:attrName>
                                        </p:attrNameLst>
                                      </p:cBhvr>
                                      <p:to>
                                        <p:strVal val="visible"/>
                                      </p:to>
                                    </p:set>
                                    <p:animEffect transition="in" filter="fade">
                                      <p:cBhvr>
                                        <p:cTn id="111"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12" grpId="0"/>
      <p:bldP spid="13" grpId="0"/>
      <p:bldP spid="18" grpId="0"/>
      <p:bldP spid="19" grpId="0"/>
      <p:bldP spid="24" grpId="0"/>
      <p:bldP spid="25" grpId="0"/>
      <p:bldP spid="30" grpId="0"/>
      <p:bldP spid="31" grpId="0"/>
      <p:bldP spid="35" grpId="0"/>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2"/>
                </a:solidFill>
              </a:rPr>
              <a:t>Requests and execution are kept apart</a:t>
            </a:r>
            <a:endParaRPr lang="en-US" sz="3000" dirty="0"/>
          </a:p>
        </p:txBody>
      </p:sp>
      <p:sp>
        <p:nvSpPr>
          <p:cNvPr id="3" name="a1_zone0_card"/>
          <p:cNvSpPr/>
          <p:nvPr/>
        </p:nvSpPr>
        <p:spPr>
          <a:xfrm>
            <a:off x="548640" y="1325880"/>
            <a:ext cx="3474720" cy="3429000"/>
          </a:xfrm>
          <a:prstGeom prst="roundRect">
            <a:avLst>
              <a:gd name="adj" fmla="val 3200"/>
            </a:avLst>
          </a:prstGeom>
          <a:solidFill>
            <a:schemeClr val="bg2"/>
          </a:solidFill>
          <a:ln w="12700">
            <a:solidFill>
              <a:schemeClr val="bg2"/>
            </a:solidFill>
            <a:prstDash val="solid"/>
          </a:ln>
          <a:effectLst>
            <a:outerShdw sx="100000" sy="100000" kx="0" ky="0" algn="bl" rotWithShape="0" blurRad="76200" dist="25400" dir="5400000">
              <a:srgbClr val="7F9DB9">
                <a:alpha val="25000"/>
              </a:srgbClr>
            </a:outerShdw>
          </a:effectLst>
        </p:spPr>
      </p:sp>
      <p:sp>
        <p:nvSpPr>
          <p:cNvPr id="4" name="a1_zone0_head"/>
          <p:cNvSpPr txBox="1"/>
          <p:nvPr/>
        </p:nvSpPr>
        <p:spPr>
          <a:xfrm>
            <a:off x="822960" y="1554480"/>
            <a:ext cx="2926080" cy="411480"/>
          </a:xfrm>
          <a:prstGeom prst="rect">
            <a:avLst/>
          </a:prstGeom>
          <a:noFill/>
          <a:ln/>
        </p:spPr>
        <p:txBody>
          <a:bodyPr wrap="square" lIns="0" tIns="0" rIns="0" bIns="0" rtlCol="0" anchor="t"/>
          <a:lstStyle/>
          <a:p>
            <a:pPr indent="0" marL="0">
              <a:buNone/>
            </a:pPr>
            <a:r>
              <a:rPr lang="en-US" sz="2000" b="1" dirty="0">
                <a:solidFill>
                  <a:schemeClr val="tx2"/>
                </a:solidFill>
              </a:rPr>
              <a:t>Request side</a:t>
            </a:r>
            <a:endParaRPr lang="en-US" sz="2000" dirty="0"/>
          </a:p>
        </p:txBody>
      </p:sp>
      <p:sp>
        <p:nvSpPr>
          <p:cNvPr id="5" name="a1_zone0_sub"/>
          <p:cNvSpPr txBox="1"/>
          <p:nvPr/>
        </p:nvSpPr>
        <p:spPr>
          <a:xfrm>
            <a:off x="822960" y="1965960"/>
            <a:ext cx="2926080" cy="320040"/>
          </a:xfrm>
          <a:prstGeom prst="rect">
            <a:avLst/>
          </a:prstGeom>
          <a:noFill/>
          <a:ln/>
        </p:spPr>
        <p:txBody>
          <a:bodyPr wrap="square" lIns="0" tIns="0" rIns="0" bIns="0" rtlCol="0" anchor="t"/>
          <a:lstStyle/>
          <a:p>
            <a:pPr indent="0" marL="0">
              <a:buNone/>
            </a:pPr>
            <a:r>
              <a:rPr lang="en-US" sz="1300" dirty="0">
                <a:solidFill>
                  <a:schemeClr val="accent6"/>
                </a:solidFill>
              </a:rPr>
              <a:t>Runs as the requester</a:t>
            </a:r>
            <a:endParaRPr lang="en-US" sz="1300" dirty="0"/>
          </a:p>
        </p:txBody>
      </p:sp>
      <p:pic>
        <p:nvPicPr>
          <p:cNvPr id="6" name="a1_zone0_i0" descr="preencoded.png">    </p:cNvPr>
          <p:cNvPicPr>
            <a:picLocks noChangeAspect="1"/>
          </p:cNvPicPr>
          <p:nvPr/>
        </p:nvPicPr>
        <p:blipFill>
          <a:blip r:embed="rId1"/>
          <a:stretch>
            <a:fillRect/>
          </a:stretch>
        </p:blipFill>
        <p:spPr>
          <a:xfrm>
            <a:off x="822960" y="2514600"/>
            <a:ext cx="329184" cy="329184"/>
          </a:xfrm>
          <a:prstGeom prst="rect">
            <a:avLst/>
          </a:prstGeom>
        </p:spPr>
      </p:pic>
      <p:sp>
        <p:nvSpPr>
          <p:cNvPr id="7" name="a1_zone0_t0"/>
          <p:cNvSpPr txBox="1"/>
          <p:nvPr/>
        </p:nvSpPr>
        <p:spPr>
          <a:xfrm>
            <a:off x="1325880" y="2468880"/>
            <a:ext cx="2514600" cy="640080"/>
          </a:xfrm>
          <a:prstGeom prst="rect">
            <a:avLst/>
          </a:prstGeom>
          <a:noFill/>
          <a:ln/>
        </p:spPr>
        <p:txBody>
          <a:bodyPr wrap="square" lIns="0" tIns="0" rIns="0" bIns="0" rtlCol="0" anchor="t"/>
          <a:lstStyle/>
          <a:p>
            <a:pPr indent="0" marL="0">
              <a:buNone/>
            </a:pPr>
            <a:r>
              <a:rPr lang="en-US" sz="1400" dirty="0">
                <a:solidFill>
                  <a:schemeClr val="tx2"/>
                </a:solidFill>
              </a:rPr>
              <a:t>Uses their own sign-in and standard licence</a:t>
            </a:r>
            <a:endParaRPr lang="en-US" sz="1400" dirty="0"/>
          </a:p>
        </p:txBody>
      </p:sp>
      <p:pic>
        <p:nvPicPr>
          <p:cNvPr id="8" name="a1_zone0_i1" descr="preencoded.png">    </p:cNvPr>
          <p:cNvPicPr>
            <a:picLocks noChangeAspect="1"/>
          </p:cNvPicPr>
          <p:nvPr/>
        </p:nvPicPr>
        <p:blipFill>
          <a:blip r:embed="rId2"/>
          <a:stretch>
            <a:fillRect/>
          </a:stretch>
        </p:blipFill>
        <p:spPr>
          <a:xfrm>
            <a:off x="822960" y="3227832"/>
            <a:ext cx="329184" cy="329184"/>
          </a:xfrm>
          <a:prstGeom prst="rect">
            <a:avLst/>
          </a:prstGeom>
        </p:spPr>
      </p:pic>
      <p:sp>
        <p:nvSpPr>
          <p:cNvPr id="9" name="a1_zone0_t1"/>
          <p:cNvSpPr txBox="1"/>
          <p:nvPr/>
        </p:nvSpPr>
        <p:spPr>
          <a:xfrm>
            <a:off x="1325880" y="3182112"/>
            <a:ext cx="2514600" cy="640080"/>
          </a:xfrm>
          <a:prstGeom prst="rect">
            <a:avLst/>
          </a:prstGeom>
          <a:noFill/>
          <a:ln/>
        </p:spPr>
        <p:txBody>
          <a:bodyPr wrap="square" lIns="0" tIns="0" rIns="0" bIns="0" rtlCol="0" anchor="t"/>
          <a:lstStyle/>
          <a:p>
            <a:pPr indent="0" marL="0">
              <a:buNone/>
            </a:pPr>
            <a:r>
              <a:rPr lang="en-US" sz="1400" dirty="0">
                <a:solidFill>
                  <a:schemeClr val="tx2"/>
                </a:solidFill>
              </a:rPr>
              <a:t>Can only create and read their own requests</a:t>
            </a:r>
            <a:endParaRPr lang="en-US" sz="1400" dirty="0"/>
          </a:p>
        </p:txBody>
      </p:sp>
      <p:pic>
        <p:nvPicPr>
          <p:cNvPr id="10" name="a1_zone0_i2" descr="preencoded.png">    </p:cNvPr>
          <p:cNvPicPr>
            <a:picLocks noChangeAspect="1"/>
          </p:cNvPicPr>
          <p:nvPr/>
        </p:nvPicPr>
        <p:blipFill>
          <a:blip r:embed="rId3"/>
          <a:stretch>
            <a:fillRect/>
          </a:stretch>
        </p:blipFill>
        <p:spPr>
          <a:xfrm>
            <a:off x="822960" y="3941064"/>
            <a:ext cx="329184" cy="329184"/>
          </a:xfrm>
          <a:prstGeom prst="rect">
            <a:avLst/>
          </a:prstGeom>
        </p:spPr>
      </p:pic>
      <p:sp>
        <p:nvSpPr>
          <p:cNvPr id="11" name="a1_zone0_t2"/>
          <p:cNvSpPr txBox="1"/>
          <p:nvPr/>
        </p:nvSpPr>
        <p:spPr>
          <a:xfrm>
            <a:off x="1325880" y="3895344"/>
            <a:ext cx="2514600" cy="640080"/>
          </a:xfrm>
          <a:prstGeom prst="rect">
            <a:avLst/>
          </a:prstGeom>
          <a:noFill/>
          <a:ln/>
        </p:spPr>
        <p:txBody>
          <a:bodyPr wrap="square" lIns="0" tIns="0" rIns="0" bIns="0" rtlCol="0" anchor="t"/>
          <a:lstStyle/>
          <a:p>
            <a:pPr indent="0" marL="0">
              <a:buNone/>
            </a:pPr>
            <a:r>
              <a:rPr lang="en-US" sz="1400" dirty="0">
                <a:solidFill>
                  <a:schemeClr val="tx2"/>
                </a:solidFill>
              </a:rPr>
              <a:t>Needs no Entra ID rights at all</a:t>
            </a:r>
            <a:endParaRPr lang="en-US" sz="1400" dirty="0"/>
          </a:p>
        </p:txBody>
      </p:sp>
      <p:sp>
        <p:nvSpPr>
          <p:cNvPr id="12" name="a2_arrow0"/>
          <p:cNvSpPr/>
          <p:nvPr/>
        </p:nvSpPr>
        <p:spPr>
          <a:xfrm>
            <a:off x="4041648" y="3063240"/>
            <a:ext cx="237744" cy="0"/>
          </a:xfrm>
          <a:prstGeom prst="line">
            <a:avLst/>
          </a:prstGeom>
          <a:noFill/>
          <a:ln w="25400">
            <a:solidFill>
              <a:schemeClr val="accent2"/>
            </a:solidFill>
            <a:prstDash val="solid"/>
            <a:tailEnd type="triangle"/>
          </a:ln>
        </p:spPr>
      </p:sp>
      <p:sp>
        <p:nvSpPr>
          <p:cNvPr id="13" name="a2_zone1_card"/>
          <p:cNvSpPr/>
          <p:nvPr/>
        </p:nvSpPr>
        <p:spPr>
          <a:xfrm>
            <a:off x="4297680" y="1325880"/>
            <a:ext cx="3474720" cy="3429000"/>
          </a:xfrm>
          <a:prstGeom prst="roundRect">
            <a:avLst>
              <a:gd name="adj" fmla="val 3200"/>
            </a:avLst>
          </a:prstGeom>
          <a:solidFill>
            <a:schemeClr val="bg2"/>
          </a:solidFill>
          <a:ln w="12700">
            <a:solidFill>
              <a:schemeClr val="bg2"/>
            </a:solidFill>
            <a:prstDash val="solid"/>
          </a:ln>
          <a:effectLst>
            <a:outerShdw sx="100000" sy="100000" kx="0" ky="0" algn="bl" rotWithShape="0" blurRad="76200" dist="25400" dir="5400000">
              <a:srgbClr val="7F9DB9">
                <a:alpha val="25000"/>
              </a:srgbClr>
            </a:outerShdw>
          </a:effectLst>
        </p:spPr>
      </p:sp>
      <p:sp>
        <p:nvSpPr>
          <p:cNvPr id="14" name="a2_zone1_head"/>
          <p:cNvSpPr txBox="1"/>
          <p:nvPr/>
        </p:nvSpPr>
        <p:spPr>
          <a:xfrm>
            <a:off x="4572000" y="1554480"/>
            <a:ext cx="2926080" cy="411480"/>
          </a:xfrm>
          <a:prstGeom prst="rect">
            <a:avLst/>
          </a:prstGeom>
          <a:noFill/>
          <a:ln/>
        </p:spPr>
        <p:txBody>
          <a:bodyPr wrap="square" lIns="0" tIns="0" rIns="0" bIns="0" rtlCol="0" anchor="t"/>
          <a:lstStyle/>
          <a:p>
            <a:pPr indent="0" marL="0">
              <a:buNone/>
            </a:pPr>
            <a:r>
              <a:rPr lang="en-US" sz="2000" b="1" dirty="0">
                <a:solidFill>
                  <a:schemeClr val="tx2"/>
                </a:solidFill>
              </a:rPr>
              <a:t>Approval gate</a:t>
            </a:r>
            <a:endParaRPr lang="en-US" sz="2000" dirty="0"/>
          </a:p>
        </p:txBody>
      </p:sp>
      <p:sp>
        <p:nvSpPr>
          <p:cNvPr id="15" name="a2_zone1_sub"/>
          <p:cNvSpPr txBox="1"/>
          <p:nvPr/>
        </p:nvSpPr>
        <p:spPr>
          <a:xfrm>
            <a:off x="4572000" y="1965960"/>
            <a:ext cx="2926080" cy="320040"/>
          </a:xfrm>
          <a:prstGeom prst="rect">
            <a:avLst/>
          </a:prstGeom>
          <a:noFill/>
          <a:ln/>
        </p:spPr>
        <p:txBody>
          <a:bodyPr wrap="square" lIns="0" tIns="0" rIns="0" bIns="0" rtlCol="0" anchor="t"/>
          <a:lstStyle/>
          <a:p>
            <a:pPr indent="0" marL="0">
              <a:buNone/>
            </a:pPr>
            <a:r>
              <a:rPr lang="en-US" sz="1300" dirty="0">
                <a:solidFill>
                  <a:schemeClr val="accent6"/>
                </a:solidFill>
              </a:rPr>
              <a:t>Lock, then two approvals</a:t>
            </a:r>
            <a:endParaRPr lang="en-US" sz="1300" dirty="0"/>
          </a:p>
        </p:txBody>
      </p:sp>
      <p:pic>
        <p:nvPicPr>
          <p:cNvPr id="16" name="a2_zone1_i0" descr="preencoded.png">    </p:cNvPr>
          <p:cNvPicPr>
            <a:picLocks noChangeAspect="1"/>
          </p:cNvPicPr>
          <p:nvPr/>
        </p:nvPicPr>
        <p:blipFill>
          <a:blip r:embed="rId4"/>
          <a:stretch>
            <a:fillRect/>
          </a:stretch>
        </p:blipFill>
        <p:spPr>
          <a:xfrm>
            <a:off x="4572000" y="2514600"/>
            <a:ext cx="329184" cy="329184"/>
          </a:xfrm>
          <a:prstGeom prst="rect">
            <a:avLst/>
          </a:prstGeom>
        </p:spPr>
      </p:pic>
      <p:sp>
        <p:nvSpPr>
          <p:cNvPr id="17" name="a2_zone1_t0"/>
          <p:cNvSpPr txBox="1"/>
          <p:nvPr/>
        </p:nvSpPr>
        <p:spPr>
          <a:xfrm>
            <a:off x="5074920" y="2468880"/>
            <a:ext cx="2514600" cy="640080"/>
          </a:xfrm>
          <a:prstGeom prst="rect">
            <a:avLst/>
          </a:prstGeom>
          <a:noFill/>
          <a:ln/>
        </p:spPr>
        <p:txBody>
          <a:bodyPr wrap="square" lIns="0" tIns="0" rIns="0" bIns="0" rtlCol="0" anchor="t"/>
          <a:lstStyle/>
          <a:p>
            <a:pPr indent="0" marL="0">
              <a:buNone/>
            </a:pPr>
            <a:r>
              <a:rPr lang="en-US" sz="1400" dirty="0">
                <a:solidFill>
                  <a:schemeClr val="tx2"/>
                </a:solidFill>
              </a:rPr>
              <a:t>Request locked: requester can no longer edit</a:t>
            </a:r>
            <a:endParaRPr lang="en-US" sz="1400" dirty="0"/>
          </a:p>
        </p:txBody>
      </p:sp>
      <p:pic>
        <p:nvPicPr>
          <p:cNvPr id="18" name="a2_zone1_i1" descr="preencoded.png">    </p:cNvPr>
          <p:cNvPicPr>
            <a:picLocks noChangeAspect="1"/>
          </p:cNvPicPr>
          <p:nvPr/>
        </p:nvPicPr>
        <p:blipFill>
          <a:blip r:embed="rId5"/>
          <a:stretch>
            <a:fillRect/>
          </a:stretch>
        </p:blipFill>
        <p:spPr>
          <a:xfrm>
            <a:off x="4572000" y="3227832"/>
            <a:ext cx="329184" cy="329184"/>
          </a:xfrm>
          <a:prstGeom prst="rect">
            <a:avLst/>
          </a:prstGeom>
        </p:spPr>
      </p:pic>
      <p:sp>
        <p:nvSpPr>
          <p:cNvPr id="19" name="a2_zone1_t1"/>
          <p:cNvSpPr txBox="1"/>
          <p:nvPr/>
        </p:nvSpPr>
        <p:spPr>
          <a:xfrm>
            <a:off x="5074920" y="3182112"/>
            <a:ext cx="2514600" cy="640080"/>
          </a:xfrm>
          <a:prstGeom prst="rect">
            <a:avLst/>
          </a:prstGeom>
          <a:noFill/>
          <a:ln/>
        </p:spPr>
        <p:txBody>
          <a:bodyPr wrap="square" lIns="0" tIns="0" rIns="0" bIns="0" rtlCol="0" anchor="t"/>
          <a:lstStyle/>
          <a:p>
            <a:pPr indent="0" marL="0">
              <a:buNone/>
            </a:pPr>
            <a:r>
              <a:rPr lang="en-US" sz="1400" dirty="0">
                <a:solidFill>
                  <a:schemeClr val="tx2"/>
                </a:solidFill>
              </a:rPr>
              <a:t>Snapshot of exactly what is approved</a:t>
            </a:r>
            <a:endParaRPr lang="en-US" sz="1400" dirty="0"/>
          </a:p>
        </p:txBody>
      </p:sp>
      <p:pic>
        <p:nvPicPr>
          <p:cNvPr id="20" name="a2_zone1_i2" descr="preencoded.png">    </p:cNvPr>
          <p:cNvPicPr>
            <a:picLocks noChangeAspect="1"/>
          </p:cNvPicPr>
          <p:nvPr/>
        </p:nvPicPr>
        <p:blipFill>
          <a:blip r:embed="rId6"/>
          <a:stretch>
            <a:fillRect/>
          </a:stretch>
        </p:blipFill>
        <p:spPr>
          <a:xfrm>
            <a:off x="4572000" y="3941064"/>
            <a:ext cx="329184" cy="329184"/>
          </a:xfrm>
          <a:prstGeom prst="rect">
            <a:avLst/>
          </a:prstGeom>
        </p:spPr>
      </p:pic>
      <p:sp>
        <p:nvSpPr>
          <p:cNvPr id="21" name="a2_zone1_t2"/>
          <p:cNvSpPr txBox="1"/>
          <p:nvPr/>
        </p:nvSpPr>
        <p:spPr>
          <a:xfrm>
            <a:off x="5074920" y="3895344"/>
            <a:ext cx="2514600" cy="640080"/>
          </a:xfrm>
          <a:prstGeom prst="rect">
            <a:avLst/>
          </a:prstGeom>
          <a:noFill/>
          <a:ln/>
        </p:spPr>
        <p:txBody>
          <a:bodyPr wrap="square" lIns="0" tIns="0" rIns="0" bIns="0" rtlCol="0" anchor="t"/>
          <a:lstStyle/>
          <a:p>
            <a:pPr indent="0" marL="0">
              <a:buNone/>
            </a:pPr>
            <a:r>
              <a:rPr lang="en-US" sz="1400" dirty="0">
                <a:solidFill>
                  <a:schemeClr val="tx2"/>
                </a:solidFill>
              </a:rPr>
              <a:t>Manager, then Entra ID team</a:t>
            </a:r>
            <a:endParaRPr lang="en-US" sz="1400" dirty="0"/>
          </a:p>
        </p:txBody>
      </p:sp>
      <p:sp>
        <p:nvSpPr>
          <p:cNvPr id="22" name="a3_arrow1"/>
          <p:cNvSpPr/>
          <p:nvPr/>
        </p:nvSpPr>
        <p:spPr>
          <a:xfrm>
            <a:off x="7790688" y="3063240"/>
            <a:ext cx="237744" cy="0"/>
          </a:xfrm>
          <a:prstGeom prst="line">
            <a:avLst/>
          </a:prstGeom>
          <a:noFill/>
          <a:ln w="25400">
            <a:solidFill>
              <a:schemeClr val="accent2"/>
            </a:solidFill>
            <a:prstDash val="solid"/>
            <a:tailEnd type="triangle"/>
          </a:ln>
        </p:spPr>
      </p:sp>
      <p:sp>
        <p:nvSpPr>
          <p:cNvPr id="23" name="a3_zone2_card"/>
          <p:cNvSpPr/>
          <p:nvPr/>
        </p:nvSpPr>
        <p:spPr>
          <a:xfrm>
            <a:off x="8046720" y="1325880"/>
            <a:ext cx="3474720" cy="3429000"/>
          </a:xfrm>
          <a:prstGeom prst="roundRect">
            <a:avLst>
              <a:gd name="adj" fmla="val 3200"/>
            </a:avLst>
          </a:prstGeom>
          <a:solidFill>
            <a:schemeClr val="accent1"/>
          </a:solidFill>
          <a:ln w="12700">
            <a:solidFill>
              <a:schemeClr val="accent1"/>
            </a:solidFill>
            <a:prstDash val="solid"/>
          </a:ln>
          <a:effectLst>
            <a:outerShdw sx="100000" sy="100000" kx="0" ky="0" algn="bl" rotWithShape="0" blurRad="76200" dist="25400" dir="5400000">
              <a:srgbClr val="7F9DB9">
                <a:alpha val="25000"/>
              </a:srgbClr>
            </a:outerShdw>
          </a:effectLst>
        </p:spPr>
      </p:sp>
      <p:sp>
        <p:nvSpPr>
          <p:cNvPr id="24" name="a3_zone2_head"/>
          <p:cNvSpPr txBox="1"/>
          <p:nvPr/>
        </p:nvSpPr>
        <p:spPr>
          <a:xfrm>
            <a:off x="8321040" y="1554480"/>
            <a:ext cx="2926080" cy="411480"/>
          </a:xfrm>
          <a:prstGeom prst="rect">
            <a:avLst/>
          </a:prstGeom>
          <a:noFill/>
          <a:ln/>
        </p:spPr>
        <p:txBody>
          <a:bodyPr wrap="square" lIns="0" tIns="0" rIns="0" bIns="0" rtlCol="0" anchor="t"/>
          <a:lstStyle/>
          <a:p>
            <a:pPr indent="0" marL="0">
              <a:buNone/>
            </a:pPr>
            <a:r>
              <a:rPr lang="en-US" sz="2000" b="1" dirty="0">
                <a:solidFill>
                  <a:schemeClr val="bg1"/>
                </a:solidFill>
              </a:rPr>
              <a:t>Execution side</a:t>
            </a:r>
            <a:endParaRPr lang="en-US" sz="2000" dirty="0"/>
          </a:p>
        </p:txBody>
      </p:sp>
      <p:sp>
        <p:nvSpPr>
          <p:cNvPr id="25" name="a3_zone2_sub"/>
          <p:cNvSpPr txBox="1"/>
          <p:nvPr/>
        </p:nvSpPr>
        <p:spPr>
          <a:xfrm>
            <a:off x="8321040" y="1965960"/>
            <a:ext cx="2926080" cy="320040"/>
          </a:xfrm>
          <a:prstGeom prst="rect">
            <a:avLst/>
          </a:prstGeom>
          <a:noFill/>
          <a:ln/>
        </p:spPr>
        <p:txBody>
          <a:bodyPr wrap="square" lIns="0" tIns="0" rIns="0" bIns="0" rtlCol="0" anchor="t"/>
          <a:lstStyle/>
          <a:p>
            <a:pPr indent="0" marL="0">
              <a:buNone/>
            </a:pPr>
            <a:r>
              <a:rPr lang="en-US" sz="1300" dirty="0">
                <a:solidFill>
                  <a:schemeClr val="bg1"/>
                </a:solidFill>
              </a:rPr>
              <a:t>Runs as the platform</a:t>
            </a:r>
            <a:endParaRPr lang="en-US" sz="1300" dirty="0"/>
          </a:p>
        </p:txBody>
      </p:sp>
      <p:pic>
        <p:nvPicPr>
          <p:cNvPr id="26" name="a3_zone2_i0" descr="preencoded.png">    </p:cNvPr>
          <p:cNvPicPr>
            <a:picLocks noChangeAspect="1"/>
          </p:cNvPicPr>
          <p:nvPr/>
        </p:nvPicPr>
        <p:blipFill>
          <a:blip r:embed="rId7"/>
          <a:stretch>
            <a:fillRect/>
          </a:stretch>
        </p:blipFill>
        <p:spPr>
          <a:xfrm>
            <a:off x="8321040" y="2514600"/>
            <a:ext cx="329184" cy="329184"/>
          </a:xfrm>
          <a:prstGeom prst="rect">
            <a:avLst/>
          </a:prstGeom>
        </p:spPr>
      </p:pic>
      <p:sp>
        <p:nvSpPr>
          <p:cNvPr id="27" name="a3_zone2_t0"/>
          <p:cNvSpPr txBox="1"/>
          <p:nvPr/>
        </p:nvSpPr>
        <p:spPr>
          <a:xfrm>
            <a:off x="8823960" y="2468880"/>
            <a:ext cx="2514600" cy="640080"/>
          </a:xfrm>
          <a:prstGeom prst="rect">
            <a:avLst/>
          </a:prstGeom>
          <a:noFill/>
          <a:ln/>
        </p:spPr>
        <p:txBody>
          <a:bodyPr wrap="square" lIns="0" tIns="0" rIns="0" bIns="0" rtlCol="0" anchor="t"/>
          <a:lstStyle/>
          <a:p>
            <a:pPr indent="0" marL="0">
              <a:buNone/>
            </a:pPr>
            <a:r>
              <a:rPr lang="en-US" sz="1400" dirty="0">
                <a:solidFill>
                  <a:schemeClr val="bg1"/>
                </a:solidFill>
              </a:rPr>
              <a:t>Flow account, separate from people</a:t>
            </a:r>
            <a:endParaRPr lang="en-US" sz="1400" dirty="0"/>
          </a:p>
        </p:txBody>
      </p:sp>
      <p:pic>
        <p:nvPicPr>
          <p:cNvPr id="28" name="a3_zone2_i1" descr="preencoded.png">    </p:cNvPr>
          <p:cNvPicPr>
            <a:picLocks noChangeAspect="1"/>
          </p:cNvPicPr>
          <p:nvPr/>
        </p:nvPicPr>
        <p:blipFill>
          <a:blip r:embed="rId8"/>
          <a:stretch>
            <a:fillRect/>
          </a:stretch>
        </p:blipFill>
        <p:spPr>
          <a:xfrm>
            <a:off x="8321040" y="3227832"/>
            <a:ext cx="329184" cy="329184"/>
          </a:xfrm>
          <a:prstGeom prst="rect">
            <a:avLst/>
          </a:prstGeom>
        </p:spPr>
      </p:pic>
      <p:sp>
        <p:nvSpPr>
          <p:cNvPr id="29" name="a3_zone2_t1"/>
          <p:cNvSpPr txBox="1"/>
          <p:nvPr/>
        </p:nvSpPr>
        <p:spPr>
          <a:xfrm>
            <a:off x="8823960" y="3182112"/>
            <a:ext cx="2514600" cy="640080"/>
          </a:xfrm>
          <a:prstGeom prst="rect">
            <a:avLst/>
          </a:prstGeom>
          <a:noFill/>
          <a:ln/>
        </p:spPr>
        <p:txBody>
          <a:bodyPr wrap="square" lIns="0" tIns="0" rIns="0" bIns="0" rtlCol="0" anchor="t"/>
          <a:lstStyle/>
          <a:p>
            <a:pPr indent="0" marL="0">
              <a:buNone/>
            </a:pPr>
            <a:r>
              <a:rPr lang="en-US" sz="1400" dirty="0">
                <a:solidFill>
                  <a:schemeClr val="bg1"/>
                </a:solidFill>
              </a:rPr>
              <a:t>App identity with a certificate, no secrets</a:t>
            </a:r>
            <a:endParaRPr lang="en-US" sz="1400" dirty="0"/>
          </a:p>
        </p:txBody>
      </p:sp>
      <p:pic>
        <p:nvPicPr>
          <p:cNvPr id="30" name="a3_zone2_i2" descr="preencoded.png">    </p:cNvPr>
          <p:cNvPicPr>
            <a:picLocks noChangeAspect="1"/>
          </p:cNvPicPr>
          <p:nvPr/>
        </p:nvPicPr>
        <p:blipFill>
          <a:blip r:embed="rId9"/>
          <a:stretch>
            <a:fillRect/>
          </a:stretch>
        </p:blipFill>
        <p:spPr>
          <a:xfrm>
            <a:off x="8321040" y="3941064"/>
            <a:ext cx="329184" cy="329184"/>
          </a:xfrm>
          <a:prstGeom prst="rect">
            <a:avLst/>
          </a:prstGeom>
        </p:spPr>
      </p:pic>
      <p:sp>
        <p:nvSpPr>
          <p:cNvPr id="31" name="a3_zone2_t2"/>
          <p:cNvSpPr txBox="1"/>
          <p:nvPr/>
        </p:nvSpPr>
        <p:spPr>
          <a:xfrm>
            <a:off x="8823960" y="3895344"/>
            <a:ext cx="2514600" cy="640080"/>
          </a:xfrm>
          <a:prstGeom prst="rect">
            <a:avLst/>
          </a:prstGeom>
          <a:noFill/>
          <a:ln/>
        </p:spPr>
        <p:txBody>
          <a:bodyPr wrap="square" lIns="0" tIns="0" rIns="0" bIns="0" rtlCol="0" anchor="t"/>
          <a:lstStyle/>
          <a:p>
            <a:pPr indent="0" marL="0">
              <a:buNone/>
            </a:pPr>
            <a:r>
              <a:rPr lang="en-US" sz="1400" dirty="0">
                <a:solidFill>
                  <a:schemeClr val="bg1"/>
                </a:solidFill>
              </a:rPr>
              <a:t>Only identity with Graph write permissions</a:t>
            </a:r>
            <a:endParaRPr lang="en-US" sz="1400" dirty="0"/>
          </a:p>
        </p:txBody>
      </p:sp>
      <p:sp>
        <p:nvSpPr>
          <p:cNvPr id="32" name="a4_guards_head"/>
          <p:cNvSpPr txBox="1"/>
          <p:nvPr/>
        </p:nvSpPr>
        <p:spPr>
          <a:xfrm>
            <a:off x="548640" y="4983480"/>
            <a:ext cx="8229600" cy="365760"/>
          </a:xfrm>
          <a:prstGeom prst="rect">
            <a:avLst/>
          </a:prstGeom>
          <a:noFill/>
          <a:ln/>
        </p:spPr>
        <p:txBody>
          <a:bodyPr wrap="square" lIns="0" tIns="0" rIns="0" bIns="0" rtlCol="0" anchor="t"/>
          <a:lstStyle/>
          <a:p>
            <a:pPr indent="0" marL="0">
              <a:buNone/>
            </a:pPr>
            <a:r>
              <a:rPr lang="en-US" sz="1600" b="1" dirty="0">
                <a:solidFill>
                  <a:schemeClr val="accent1"/>
                </a:solidFill>
              </a:rPr>
              <a:t>Guards the execution flow checks before it changes anything</a:t>
            </a:r>
            <a:endParaRPr lang="en-US" sz="1600" dirty="0"/>
          </a:p>
        </p:txBody>
      </p:sp>
      <p:sp>
        <p:nvSpPr>
          <p:cNvPr id="33" name="a4_guards_text"/>
          <p:cNvSpPr txBox="1"/>
          <p:nvPr/>
        </p:nvSpPr>
        <p:spPr>
          <a:xfrm>
            <a:off x="548640" y="5349240"/>
            <a:ext cx="11094415" cy="640080"/>
          </a:xfrm>
          <a:prstGeom prst="rect">
            <a:avLst/>
          </a:prstGeom>
          <a:noFill/>
          <a:ln/>
        </p:spPr>
        <p:txBody>
          <a:bodyPr wrap="square" lIns="0" tIns="0" rIns="0" bIns="0" rtlCol="0" anchor="t"/>
          <a:lstStyle/>
          <a:p>
            <a:pPr indent="0" marL="0">
              <a:buNone/>
            </a:pPr>
            <a:r>
              <a:rPr lang="en-US" sz="1400" dirty="0">
                <a:solidFill>
                  <a:schemeClr val="tx1"/>
                </a:solidFill>
              </a:rPr>
              <a:t>Requester is the item's built-in Created By (can't be faked)  ·  </a:t>
            </a:r>
            <a:pPr indent="0" marL="0">
              <a:buNone/>
            </a:pPr>
            <a:r>
              <a:rPr lang="en-US" sz="1400" dirty="0">
                <a:solidFill>
                  <a:schemeClr val="tx1"/>
                </a:solidFill>
              </a:rPr>
              <a:t>Last edit made by the flow account  ·  </a:t>
            </a:r>
            <a:pPr indent="0" marL="0">
              <a:buNone/>
            </a:pPr>
            <a:r>
              <a:rPr lang="en-US" sz="1400" dirty="0">
                <a:solidFill>
                  <a:schemeClr val="tx1"/>
                </a:solidFill>
              </a:rPr>
              <a:t>Both decisions Approved  ·  </a:t>
            </a:r>
            <a:pPr indent="0" marL="0">
              <a:buNone/>
            </a:pPr>
            <a:r>
              <a:rPr lang="en-US" sz="1400" dirty="0">
                <a:solidFill>
                  <a:schemeClr val="tx1"/>
                </a:solidFill>
              </a:rPr>
              <a:t>Owner tag names the requester or their group</a:t>
            </a:r>
            <a:endParaRPr lang="en-US" sz="14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timing>
    <p:tnLst>
      <p:par>
        <p:cTn id="1" dur="indefinite" restart="never" nodeType="tmRoot">
          <p:childTnLst>
            <p:seq concurrent="1" nextAc="seek">
              <p:cTn id="2" dur="indefinite" nodeType="mainSeq">
                <p:childTnLst>
                  <p:par>
                    <p:cTn id="30" fill="hold">
                      <p:stCondLst>
                        <p:cond delay="indefinite"/>
                      </p:stCondLst>
                      <p:childTnLst>
                        <p:par>
                          <p:cTn id="31"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400"/>
                                        <p:tgtEl>
                                          <p:spTgt spid="3"/>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400"/>
                                        <p:tgtEl>
                                          <p:spTgt spid="4"/>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400"/>
                                        <p:tgtEl>
                                          <p:spTgt spid="5"/>
                                        </p:tgtEl>
                                      </p:cBhvr>
                                    </p:animEffect>
                                  </p:childTnLst>
                                </p:cTn>
                              </p:par>
                              <p:par>
                                <p:cTn id="12" presetID="10" presetClass="entr" presetSubtype="0" fill="hold"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400"/>
                                        <p:tgtEl>
                                          <p:spTgt spid="6"/>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400"/>
                                        <p:tgtEl>
                                          <p:spTgt spid="7"/>
                                        </p:tgtEl>
                                      </p:cBhvr>
                                    </p:animEffect>
                                  </p:childTnLst>
                                </p:cTn>
                              </p:par>
                              <p:par>
                                <p:cTn id="18" presetID="10" presetClass="entr" presetSubtype="0" fill="hold"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400"/>
                                        <p:tgtEl>
                                          <p:spTgt spid="8"/>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400"/>
                                        <p:tgtEl>
                                          <p:spTgt spid="9"/>
                                        </p:tgtEl>
                                      </p:cBhvr>
                                    </p:animEffect>
                                  </p:childTnLst>
                                </p:cTn>
                              </p:par>
                              <p:par>
                                <p:cTn id="24" presetID="10" presetClass="entr" presetSubtype="0" fill="hold"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4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400"/>
                                        <p:tgtEl>
                                          <p:spTgt spid="11"/>
                                        </p:tgtEl>
                                      </p:cBhvr>
                                    </p:animEffect>
                                  </p:childTnLst>
                                </p:cTn>
                              </p:par>
                            </p:childTnLst>
                          </p:cTn>
                        </p:par>
                      </p:childTnLst>
                    </p:cTn>
                  </p:par>
                  <p:par>
                    <p:cTn id="62" fill="hold">
                      <p:stCondLst>
                        <p:cond delay="indefinite"/>
                      </p:stCondLst>
                      <p:childTnLst>
                        <p:par>
                          <p:cTn id="63"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400"/>
                                        <p:tgtEl>
                                          <p:spTgt spid="12"/>
                                        </p:tgtEl>
                                      </p:cBhvr>
                                    </p:animEffect>
                                  </p:childTnLst>
                                </p:cTn>
                              </p:par>
                              <p:par>
                                <p:cTn id="35" presetID="10" presetClass="entr" presetSubtype="0" fill="hold" nodeType="with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400"/>
                                        <p:tgtEl>
                                          <p:spTgt spid="13"/>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400"/>
                                        <p:tgtEl>
                                          <p:spTgt spid="14"/>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400"/>
                                        <p:tgtEl>
                                          <p:spTgt spid="15"/>
                                        </p:tgtEl>
                                      </p:cBhvr>
                                    </p:animEffect>
                                  </p:childTnLst>
                                </p:cTn>
                              </p:par>
                              <p:par>
                                <p:cTn id="44" presetID="10" presetClass="entr" presetSubtype="0" fill="hold" nodeType="with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400"/>
                                        <p:tgtEl>
                                          <p:spTgt spid="16"/>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00"/>
                                        <p:tgtEl>
                                          <p:spTgt spid="19"/>
                                        </p:tgtEl>
                                      </p:cBhvr>
                                    </p:animEffect>
                                  </p:childTnLst>
                                </p:cTn>
                              </p:par>
                              <p:par>
                                <p:cTn id="56" presetID="10" presetClass="entr" presetSubtype="0" fill="hold"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400"/>
                                        <p:tgtEl>
                                          <p:spTgt spid="21"/>
                                        </p:tgtEl>
                                      </p:cBhvr>
                                    </p:animEffect>
                                  </p:childTnLst>
                                </p:cTn>
                              </p:par>
                            </p:childTnLst>
                          </p:cTn>
                        </p:par>
                      </p:childTnLst>
                    </p:cTn>
                  </p:par>
                  <p:par>
                    <p:cTn id="94" fill="hold">
                      <p:stCondLst>
                        <p:cond delay="indefinite"/>
                      </p:stCondLst>
                      <p:childTnLst>
                        <p:par>
                          <p:cTn id="95"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2"/>
                                        </p:tgtEl>
                                        <p:attrNameLst>
                                          <p:attrName>style.visibility</p:attrName>
                                        </p:attrNameLst>
                                      </p:cBhvr>
                                      <p:to>
                                        <p:strVal val="visible"/>
                                      </p:to>
                                    </p:set>
                                    <p:animEffect transition="in" filter="fade">
                                      <p:cBhvr>
                                        <p:cTn id="66" dur="400"/>
                                        <p:tgtEl>
                                          <p:spTgt spid="22"/>
                                        </p:tgtEl>
                                      </p:cBhvr>
                                    </p:animEffect>
                                  </p:childTnLst>
                                </p:cTn>
                              </p:par>
                              <p:par>
                                <p:cTn id="67" presetID="10" presetClass="entr" presetSubtype="0" fill="hold" nodeType="withEffect">
                                  <p:stCondLst>
                                    <p:cond delay="0"/>
                                  </p:stCondLst>
                                  <p:childTnLst>
                                    <p:set>
                                      <p:cBhvr>
                                        <p:cTn id="68" dur="1" fill="hold">
                                          <p:stCondLst>
                                            <p:cond delay="0"/>
                                          </p:stCondLst>
                                        </p:cTn>
                                        <p:tgtEl>
                                          <p:spTgt spid="23"/>
                                        </p:tgtEl>
                                        <p:attrNameLst>
                                          <p:attrName>style.visibility</p:attrName>
                                        </p:attrNameLst>
                                      </p:cBhvr>
                                      <p:to>
                                        <p:strVal val="visible"/>
                                      </p:to>
                                    </p:set>
                                    <p:animEffect transition="in" filter="fade">
                                      <p:cBhvr>
                                        <p:cTn id="69" dur="400"/>
                                        <p:tgtEl>
                                          <p:spTgt spid="23"/>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4"/>
                                        </p:tgtEl>
                                        <p:attrNameLst>
                                          <p:attrName>style.visibility</p:attrName>
                                        </p:attrNameLst>
                                      </p:cBhvr>
                                      <p:to>
                                        <p:strVal val="visible"/>
                                      </p:to>
                                    </p:set>
                                    <p:animEffect transition="in" filter="fade">
                                      <p:cBhvr>
                                        <p:cTn id="72" dur="400"/>
                                        <p:tgtEl>
                                          <p:spTgt spid="24"/>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5"/>
                                        </p:tgtEl>
                                        <p:attrNameLst>
                                          <p:attrName>style.visibility</p:attrName>
                                        </p:attrNameLst>
                                      </p:cBhvr>
                                      <p:to>
                                        <p:strVal val="visible"/>
                                      </p:to>
                                    </p:set>
                                    <p:animEffect transition="in" filter="fade">
                                      <p:cBhvr>
                                        <p:cTn id="75" dur="400"/>
                                        <p:tgtEl>
                                          <p:spTgt spid="25"/>
                                        </p:tgtEl>
                                      </p:cBhvr>
                                    </p:animEffect>
                                  </p:childTnLst>
                                </p:cTn>
                              </p:par>
                              <p:par>
                                <p:cTn id="76" presetID="10" presetClass="entr" presetSubtype="0" fill="hold" nodeType="withEffect">
                                  <p:stCondLst>
                                    <p:cond delay="0"/>
                                  </p:stCondLst>
                                  <p:childTnLst>
                                    <p:set>
                                      <p:cBhvr>
                                        <p:cTn id="77" dur="1" fill="hold">
                                          <p:stCondLst>
                                            <p:cond delay="0"/>
                                          </p:stCondLst>
                                        </p:cTn>
                                        <p:tgtEl>
                                          <p:spTgt spid="26"/>
                                        </p:tgtEl>
                                        <p:attrNameLst>
                                          <p:attrName>style.visibility</p:attrName>
                                        </p:attrNameLst>
                                      </p:cBhvr>
                                      <p:to>
                                        <p:strVal val="visible"/>
                                      </p:to>
                                    </p:set>
                                    <p:animEffect transition="in" filter="fade">
                                      <p:cBhvr>
                                        <p:cTn id="78" dur="400"/>
                                        <p:tgtEl>
                                          <p:spTgt spid="26"/>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7"/>
                                        </p:tgtEl>
                                        <p:attrNameLst>
                                          <p:attrName>style.visibility</p:attrName>
                                        </p:attrNameLst>
                                      </p:cBhvr>
                                      <p:to>
                                        <p:strVal val="visible"/>
                                      </p:to>
                                    </p:set>
                                    <p:animEffect transition="in" filter="fade">
                                      <p:cBhvr>
                                        <p:cTn id="81" dur="400"/>
                                        <p:tgtEl>
                                          <p:spTgt spid="27"/>
                                        </p:tgtEl>
                                      </p:cBhvr>
                                    </p:animEffect>
                                  </p:childTnLst>
                                </p:cTn>
                              </p:par>
                              <p:par>
                                <p:cTn id="82" presetID="10" presetClass="entr" presetSubtype="0" fill="hold" nodeType="withEffect">
                                  <p:stCondLst>
                                    <p:cond delay="0"/>
                                  </p:stCondLst>
                                  <p:childTnLst>
                                    <p:set>
                                      <p:cBhvr>
                                        <p:cTn id="83" dur="1" fill="hold">
                                          <p:stCondLst>
                                            <p:cond delay="0"/>
                                          </p:stCondLst>
                                        </p:cTn>
                                        <p:tgtEl>
                                          <p:spTgt spid="28"/>
                                        </p:tgtEl>
                                        <p:attrNameLst>
                                          <p:attrName>style.visibility</p:attrName>
                                        </p:attrNameLst>
                                      </p:cBhvr>
                                      <p:to>
                                        <p:strVal val="visible"/>
                                      </p:to>
                                    </p:set>
                                    <p:animEffect transition="in" filter="fade">
                                      <p:cBhvr>
                                        <p:cTn id="84" dur="400"/>
                                        <p:tgtEl>
                                          <p:spTgt spid="28"/>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29"/>
                                        </p:tgtEl>
                                        <p:attrNameLst>
                                          <p:attrName>style.visibility</p:attrName>
                                        </p:attrNameLst>
                                      </p:cBhvr>
                                      <p:to>
                                        <p:strVal val="visible"/>
                                      </p:to>
                                    </p:set>
                                    <p:animEffect transition="in" filter="fade">
                                      <p:cBhvr>
                                        <p:cTn id="87" dur="400"/>
                                        <p:tgtEl>
                                          <p:spTgt spid="29"/>
                                        </p:tgtEl>
                                      </p:cBhvr>
                                    </p:animEffect>
                                  </p:childTnLst>
                                </p:cTn>
                              </p:par>
                              <p:par>
                                <p:cTn id="88" presetID="10" presetClass="entr" presetSubtype="0" fill="hold" nodeType="withEffect">
                                  <p:stCondLst>
                                    <p:cond delay="0"/>
                                  </p:stCondLst>
                                  <p:childTnLst>
                                    <p:set>
                                      <p:cBhvr>
                                        <p:cTn id="89" dur="1" fill="hold">
                                          <p:stCondLst>
                                            <p:cond delay="0"/>
                                          </p:stCondLst>
                                        </p:cTn>
                                        <p:tgtEl>
                                          <p:spTgt spid="30"/>
                                        </p:tgtEl>
                                        <p:attrNameLst>
                                          <p:attrName>style.visibility</p:attrName>
                                        </p:attrNameLst>
                                      </p:cBhvr>
                                      <p:to>
                                        <p:strVal val="visible"/>
                                      </p:to>
                                    </p:set>
                                    <p:animEffect transition="in" filter="fade">
                                      <p:cBhvr>
                                        <p:cTn id="90" dur="400"/>
                                        <p:tgtEl>
                                          <p:spTgt spid="30"/>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31"/>
                                        </p:tgtEl>
                                        <p:attrNameLst>
                                          <p:attrName>style.visibility</p:attrName>
                                        </p:attrNameLst>
                                      </p:cBhvr>
                                      <p:to>
                                        <p:strVal val="visible"/>
                                      </p:to>
                                    </p:set>
                                    <p:animEffect transition="in" filter="fade">
                                      <p:cBhvr>
                                        <p:cTn id="93" dur="400"/>
                                        <p:tgtEl>
                                          <p:spTgt spid="31"/>
                                        </p:tgtEl>
                                      </p:cBhvr>
                                    </p:animEffect>
                                  </p:childTnLst>
                                </p:cTn>
                              </p:par>
                            </p:childTnLst>
                          </p:cTn>
                        </p:par>
                      </p:childTnLst>
                    </p:cTn>
                  </p:par>
                  <p:par>
                    <p:cTn id="102" fill="hold">
                      <p:stCondLst>
                        <p:cond delay="indefinite"/>
                      </p:stCondLst>
                      <p:childTnLst>
                        <p:par>
                          <p:cTn id="103" fill="hold">
                            <p:stCondLst>
                              <p:cond delay="0"/>
                            </p:stCondLst>
                            <p:childTnLst>
                              <p:par>
                                <p:cTn id="96" presetID="10" presetClass="entr" presetSubtype="0" fill="hold" grpId="0" nodeType="clickEffect">
                                  <p:stCondLst>
                                    <p:cond delay="0"/>
                                  </p:stCondLst>
                                  <p:childTnLst>
                                    <p:set>
                                      <p:cBhvr>
                                        <p:cTn id="97" dur="1" fill="hold">
                                          <p:stCondLst>
                                            <p:cond delay="0"/>
                                          </p:stCondLst>
                                        </p:cTn>
                                        <p:tgtEl>
                                          <p:spTgt spid="32"/>
                                        </p:tgtEl>
                                        <p:attrNameLst>
                                          <p:attrName>style.visibility</p:attrName>
                                        </p:attrNameLst>
                                      </p:cBhvr>
                                      <p:to>
                                        <p:strVal val="visible"/>
                                      </p:to>
                                    </p:set>
                                    <p:animEffect transition="in" filter="fade">
                                      <p:cBhvr>
                                        <p:cTn id="98" dur="400"/>
                                        <p:tgtEl>
                                          <p:spTgt spid="32"/>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33"/>
                                        </p:tgtEl>
                                        <p:attrNameLst>
                                          <p:attrName>style.visibility</p:attrName>
                                        </p:attrNameLst>
                                      </p:cBhvr>
                                      <p:to>
                                        <p:strVal val="visible"/>
                                      </p:to>
                                    </p:set>
                                    <p:animEffect transition="in" filter="fade">
                                      <p:cBhvr>
                                        <p:cTn id="101" dur="4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7" grpId="0"/>
      <p:bldP spid="9" grpId="0"/>
      <p:bldP spid="11" grpId="0"/>
      <p:bldP spid="14" grpId="0"/>
      <p:bldP spid="15" grpId="0"/>
      <p:bldP spid="17" grpId="0"/>
      <p:bldP spid="19" grpId="0"/>
      <p:bldP spid="21" grpId="0"/>
      <p:bldP spid="24" grpId="0"/>
      <p:bldP spid="25" grpId="0"/>
      <p:bldP spid="27" grpId="0"/>
      <p:bldP spid="29" grpId="0"/>
      <p:bldP spid="31" grpId="0"/>
      <p:bldP spid="32" grpId="0"/>
      <p:bldP spid="33" grpId="0"/>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2"/>
                </a:solidFill>
              </a:rPr>
              <a:t>Core flow: register an application in one request</a:t>
            </a:r>
            <a:endParaRPr lang="en-US" sz="3000" dirty="0"/>
          </a:p>
        </p:txBody>
      </p:sp>
      <p:sp>
        <p:nvSpPr>
          <p:cNvPr id="3" name="a1_wiz0_frame"/>
          <p:cNvSpPr/>
          <p:nvPr/>
        </p:nvSpPr>
        <p:spPr>
          <a:xfrm>
            <a:off x="548640" y="1325880"/>
            <a:ext cx="2057400" cy="2423160"/>
          </a:xfrm>
          <a:prstGeom prst="roundRect">
            <a:avLst>
              <a:gd name="adj" fmla="val 3556"/>
            </a:avLst>
          </a:prstGeom>
          <a:solidFill>
            <a:schemeClr val="bg1"/>
          </a:solidFill>
          <a:ln w="15875">
            <a:solidFill>
              <a:schemeClr val="accent2"/>
            </a:solidFill>
            <a:prstDash val="dash"/>
          </a:ln>
        </p:spPr>
      </p:sp>
      <p:sp>
        <p:nvSpPr>
          <p:cNvPr id="4" name="a1_wiz0_bar"/>
          <p:cNvSpPr/>
          <p:nvPr/>
        </p:nvSpPr>
        <p:spPr>
          <a:xfrm>
            <a:off x="658368" y="1435608"/>
            <a:ext cx="1837944" cy="201168"/>
          </a:xfrm>
          <a:prstGeom prst="rect">
            <a:avLst/>
          </a:prstGeom>
          <a:solidFill>
            <a:schemeClr val="bg2"/>
          </a:solidFill>
          <a:ln w="12700">
            <a:solidFill>
              <a:schemeClr val="bg2"/>
            </a:solidFill>
            <a:prstDash val="solid"/>
          </a:ln>
        </p:spPr>
      </p:sp>
      <p:sp>
        <p:nvSpPr>
          <p:cNvPr id="5" name="a1_wiz0_label"/>
          <p:cNvSpPr txBox="1"/>
          <p:nvPr/>
        </p:nvSpPr>
        <p:spPr>
          <a:xfrm>
            <a:off x="685800" y="1783080"/>
            <a:ext cx="1783080" cy="1828800"/>
          </a:xfrm>
          <a:prstGeom prst="rect">
            <a:avLst/>
          </a:prstGeom>
          <a:noFill/>
          <a:ln/>
        </p:spPr>
        <p:txBody>
          <a:bodyPr wrap="square" lIns="0" tIns="0" rIns="0" bIns="0" rtlCol="0" anchor="ctr"/>
          <a:lstStyle/>
          <a:p>
            <a:pPr algn="ctr" indent="0" marL="0">
              <a:buNone/>
            </a:pPr>
            <a:r>
              <a:rPr lang="en-US" sz="1100" b="1" dirty="0">
                <a:solidFill>
                  <a:schemeClr val="accent6"/>
                </a:solidFill>
              </a:rPr>
              <a:t>Screenshot</a:t>
            </a:r>
            <a:endParaRPr lang="en-US" sz="1100" dirty="0"/>
          </a:p>
          <a:p>
            <a:pPr algn="ctr" indent="0" marL="0">
              <a:buNone/>
            </a:pPr>
            <a:r>
              <a:rPr lang="en-US" sz="1100" dirty="0">
                <a:solidFill>
                  <a:schemeClr val="accent6"/>
                </a:solidFill>
              </a:rPr>
              <a:t>Basics step</a:t>
            </a:r>
            <a:endParaRPr lang="en-US" sz="1100" dirty="0"/>
          </a:p>
        </p:txBody>
      </p:sp>
      <p:sp>
        <p:nvSpPr>
          <p:cNvPr id="6" name="a1_wiz0_num"/>
          <p:cNvSpPr/>
          <p:nvPr/>
        </p:nvSpPr>
        <p:spPr>
          <a:xfrm>
            <a:off x="548640" y="3931920"/>
            <a:ext cx="411480" cy="411480"/>
          </a:xfrm>
          <a:prstGeom prst="ellipse">
            <a:avLst/>
          </a:prstGeom>
          <a:solidFill>
            <a:schemeClr val="accent1"/>
          </a:solidFill>
          <a:ln w="12700">
            <a:solidFill>
              <a:schemeClr val="accent1"/>
            </a:solidFill>
            <a:prstDash val="solid"/>
          </a:ln>
        </p:spPr>
      </p:sp>
      <p:sp>
        <p:nvSpPr>
          <p:cNvPr id="7" name="a1_wiz0_numtext"/>
          <p:cNvSpPr txBox="1"/>
          <p:nvPr/>
        </p:nvSpPr>
        <p:spPr>
          <a:xfrm>
            <a:off x="548640" y="393192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8" name="a1_wiz0_title"/>
          <p:cNvSpPr txBox="1"/>
          <p:nvPr/>
        </p:nvSpPr>
        <p:spPr>
          <a:xfrm>
            <a:off x="1097280" y="3959352"/>
            <a:ext cx="1508760" cy="365760"/>
          </a:xfrm>
          <a:prstGeom prst="rect">
            <a:avLst/>
          </a:prstGeom>
          <a:noFill/>
          <a:ln/>
        </p:spPr>
        <p:txBody>
          <a:bodyPr wrap="square" lIns="0" tIns="0" rIns="0" bIns="0" rtlCol="0" anchor="t"/>
          <a:lstStyle/>
          <a:p>
            <a:pPr indent="0" marL="0">
              <a:buNone/>
            </a:pPr>
            <a:r>
              <a:rPr lang="en-US" sz="1500" b="1" dirty="0">
                <a:solidFill>
                  <a:schemeClr val="tx2"/>
                </a:solidFill>
              </a:rPr>
              <a:t>Basics</a:t>
            </a:r>
            <a:endParaRPr lang="en-US" sz="1500" dirty="0"/>
          </a:p>
        </p:txBody>
      </p:sp>
      <p:sp>
        <p:nvSpPr>
          <p:cNvPr id="9" name="a1_wiz0_text"/>
          <p:cNvSpPr txBox="1"/>
          <p:nvPr/>
        </p:nvSpPr>
        <p:spPr>
          <a:xfrm>
            <a:off x="548640" y="4434840"/>
            <a:ext cx="2057400" cy="1005840"/>
          </a:xfrm>
          <a:prstGeom prst="rect">
            <a:avLst/>
          </a:prstGeom>
          <a:noFill/>
          <a:ln/>
        </p:spPr>
        <p:txBody>
          <a:bodyPr wrap="square" lIns="0" tIns="0" rIns="0" bIns="0" rtlCol="0" anchor="t"/>
          <a:lstStyle/>
          <a:p>
            <a:pPr indent="0" marL="0">
              <a:buNone/>
            </a:pPr>
            <a:r>
              <a:rPr lang="en-US" sz="1300" dirty="0">
                <a:solidFill>
                  <a:schemeClr val="tx1"/>
                </a:solidFill>
              </a:rPr>
              <a:t>Name convention, appCatID, environment, optional owning group</a:t>
            </a:r>
            <a:endParaRPr lang="en-US" sz="1300" dirty="0"/>
          </a:p>
        </p:txBody>
      </p:sp>
      <p:sp>
        <p:nvSpPr>
          <p:cNvPr id="10" name="a2_wiz1_frame"/>
          <p:cNvSpPr/>
          <p:nvPr/>
        </p:nvSpPr>
        <p:spPr>
          <a:xfrm>
            <a:off x="2788920" y="1325880"/>
            <a:ext cx="2057400" cy="2423160"/>
          </a:xfrm>
          <a:prstGeom prst="roundRect">
            <a:avLst>
              <a:gd name="adj" fmla="val 3556"/>
            </a:avLst>
          </a:prstGeom>
          <a:solidFill>
            <a:schemeClr val="bg1"/>
          </a:solidFill>
          <a:ln w="15875">
            <a:solidFill>
              <a:schemeClr val="accent2"/>
            </a:solidFill>
            <a:prstDash val="dash"/>
          </a:ln>
        </p:spPr>
      </p:sp>
      <p:sp>
        <p:nvSpPr>
          <p:cNvPr id="11" name="a2_wiz1_bar"/>
          <p:cNvSpPr/>
          <p:nvPr/>
        </p:nvSpPr>
        <p:spPr>
          <a:xfrm>
            <a:off x="2898648" y="1435608"/>
            <a:ext cx="1837944" cy="201168"/>
          </a:xfrm>
          <a:prstGeom prst="rect">
            <a:avLst/>
          </a:prstGeom>
          <a:solidFill>
            <a:schemeClr val="bg2"/>
          </a:solidFill>
          <a:ln w="12700">
            <a:solidFill>
              <a:schemeClr val="bg2"/>
            </a:solidFill>
            <a:prstDash val="solid"/>
          </a:ln>
        </p:spPr>
      </p:sp>
      <p:sp>
        <p:nvSpPr>
          <p:cNvPr id="12" name="a2_wiz1_label"/>
          <p:cNvSpPr txBox="1"/>
          <p:nvPr/>
        </p:nvSpPr>
        <p:spPr>
          <a:xfrm>
            <a:off x="2926080" y="1783080"/>
            <a:ext cx="1783080" cy="1828800"/>
          </a:xfrm>
          <a:prstGeom prst="rect">
            <a:avLst/>
          </a:prstGeom>
          <a:noFill/>
          <a:ln/>
        </p:spPr>
        <p:txBody>
          <a:bodyPr wrap="square" lIns="0" tIns="0" rIns="0" bIns="0" rtlCol="0" anchor="ctr"/>
          <a:lstStyle/>
          <a:p>
            <a:pPr algn="ctr" indent="0" marL="0">
              <a:buNone/>
            </a:pPr>
            <a:r>
              <a:rPr lang="en-US" sz="1100" b="1" dirty="0">
                <a:solidFill>
                  <a:schemeClr val="accent6"/>
                </a:solidFill>
              </a:rPr>
              <a:t>Screenshot</a:t>
            </a:r>
            <a:endParaRPr lang="en-US" sz="1100" dirty="0"/>
          </a:p>
          <a:p>
            <a:pPr algn="ctr" indent="0" marL="0">
              <a:buNone/>
            </a:pPr>
            <a:r>
              <a:rPr lang="en-US" sz="1100" dirty="0">
                <a:solidFill>
                  <a:schemeClr val="accent6"/>
                </a:solidFill>
              </a:rPr>
              <a:t>Expose an API step</a:t>
            </a:r>
            <a:endParaRPr lang="en-US" sz="1100" dirty="0"/>
          </a:p>
        </p:txBody>
      </p:sp>
      <p:sp>
        <p:nvSpPr>
          <p:cNvPr id="13" name="a2_wiz1_num"/>
          <p:cNvSpPr/>
          <p:nvPr/>
        </p:nvSpPr>
        <p:spPr>
          <a:xfrm>
            <a:off x="2788920" y="3931920"/>
            <a:ext cx="411480" cy="411480"/>
          </a:xfrm>
          <a:prstGeom prst="ellipse">
            <a:avLst/>
          </a:prstGeom>
          <a:solidFill>
            <a:schemeClr val="accent1"/>
          </a:solidFill>
          <a:ln w="12700">
            <a:solidFill>
              <a:schemeClr val="accent1"/>
            </a:solidFill>
            <a:prstDash val="solid"/>
          </a:ln>
        </p:spPr>
      </p:sp>
      <p:sp>
        <p:nvSpPr>
          <p:cNvPr id="14" name="a2_wiz1_numtext"/>
          <p:cNvSpPr txBox="1"/>
          <p:nvPr/>
        </p:nvSpPr>
        <p:spPr>
          <a:xfrm>
            <a:off x="2788920" y="393192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5" name="a2_wiz1_title"/>
          <p:cNvSpPr txBox="1"/>
          <p:nvPr/>
        </p:nvSpPr>
        <p:spPr>
          <a:xfrm>
            <a:off x="3337560" y="3959352"/>
            <a:ext cx="1508760" cy="365760"/>
          </a:xfrm>
          <a:prstGeom prst="rect">
            <a:avLst/>
          </a:prstGeom>
          <a:noFill/>
          <a:ln/>
        </p:spPr>
        <p:txBody>
          <a:bodyPr wrap="square" lIns="0" tIns="0" rIns="0" bIns="0" rtlCol="0" anchor="t"/>
          <a:lstStyle/>
          <a:p>
            <a:pPr indent="0" marL="0">
              <a:buNone/>
            </a:pPr>
            <a:r>
              <a:rPr lang="en-US" sz="1500" b="1" dirty="0">
                <a:solidFill>
                  <a:schemeClr val="tx2"/>
                </a:solidFill>
              </a:rPr>
              <a:t>Expose an API</a:t>
            </a:r>
            <a:endParaRPr lang="en-US" sz="1500" dirty="0"/>
          </a:p>
        </p:txBody>
      </p:sp>
      <p:sp>
        <p:nvSpPr>
          <p:cNvPr id="16" name="a2_wiz1_text"/>
          <p:cNvSpPr txBox="1"/>
          <p:nvPr/>
        </p:nvSpPr>
        <p:spPr>
          <a:xfrm>
            <a:off x="2788920" y="4434840"/>
            <a:ext cx="2057400" cy="1005840"/>
          </a:xfrm>
          <a:prstGeom prst="rect">
            <a:avLst/>
          </a:prstGeom>
          <a:noFill/>
          <a:ln/>
        </p:spPr>
        <p:txBody>
          <a:bodyPr wrap="square" lIns="0" tIns="0" rIns="0" bIns="0" rtlCol="0" anchor="t"/>
          <a:lstStyle/>
          <a:p>
            <a:pPr indent="0" marL="0">
              <a:buNone/>
            </a:pPr>
            <a:r>
              <a:rPr lang="en-US" sz="1300" dirty="0">
                <a:solidFill>
                  <a:schemeClr val="tx1"/>
                </a:solidFill>
              </a:rPr>
              <a:t>Application ID URI, scopes, token claims</a:t>
            </a:r>
            <a:endParaRPr lang="en-US" sz="1300" dirty="0"/>
          </a:p>
        </p:txBody>
      </p:sp>
      <p:sp>
        <p:nvSpPr>
          <p:cNvPr id="17" name="a3_wiz2_frame"/>
          <p:cNvSpPr/>
          <p:nvPr/>
        </p:nvSpPr>
        <p:spPr>
          <a:xfrm>
            <a:off x="5029200" y="1325880"/>
            <a:ext cx="2057400" cy="2423160"/>
          </a:xfrm>
          <a:prstGeom prst="roundRect">
            <a:avLst>
              <a:gd name="adj" fmla="val 3556"/>
            </a:avLst>
          </a:prstGeom>
          <a:solidFill>
            <a:schemeClr val="bg1"/>
          </a:solidFill>
          <a:ln w="15875">
            <a:solidFill>
              <a:schemeClr val="accent2"/>
            </a:solidFill>
            <a:prstDash val="dash"/>
          </a:ln>
        </p:spPr>
      </p:sp>
      <p:sp>
        <p:nvSpPr>
          <p:cNvPr id="18" name="a3_wiz2_bar"/>
          <p:cNvSpPr/>
          <p:nvPr/>
        </p:nvSpPr>
        <p:spPr>
          <a:xfrm>
            <a:off x="5138928" y="1435608"/>
            <a:ext cx="1837944" cy="201168"/>
          </a:xfrm>
          <a:prstGeom prst="rect">
            <a:avLst/>
          </a:prstGeom>
          <a:solidFill>
            <a:schemeClr val="bg2"/>
          </a:solidFill>
          <a:ln w="12700">
            <a:solidFill>
              <a:schemeClr val="bg2"/>
            </a:solidFill>
            <a:prstDash val="solid"/>
          </a:ln>
        </p:spPr>
      </p:sp>
      <p:sp>
        <p:nvSpPr>
          <p:cNvPr id="19" name="a3_wiz2_label"/>
          <p:cNvSpPr txBox="1"/>
          <p:nvPr/>
        </p:nvSpPr>
        <p:spPr>
          <a:xfrm>
            <a:off x="5166360" y="1783080"/>
            <a:ext cx="1783080" cy="1828800"/>
          </a:xfrm>
          <a:prstGeom prst="rect">
            <a:avLst/>
          </a:prstGeom>
          <a:noFill/>
          <a:ln/>
        </p:spPr>
        <p:txBody>
          <a:bodyPr wrap="square" lIns="0" tIns="0" rIns="0" bIns="0" rtlCol="0" anchor="ctr"/>
          <a:lstStyle/>
          <a:p>
            <a:pPr algn="ctr" indent="0" marL="0">
              <a:buNone/>
            </a:pPr>
            <a:r>
              <a:rPr lang="en-US" sz="1100" b="1" dirty="0">
                <a:solidFill>
                  <a:schemeClr val="accent6"/>
                </a:solidFill>
              </a:rPr>
              <a:t>Screenshot</a:t>
            </a:r>
            <a:endParaRPr lang="en-US" sz="1100" dirty="0"/>
          </a:p>
          <a:p>
            <a:pPr algn="ctr" indent="0" marL="0">
              <a:buNone/>
            </a:pPr>
            <a:r>
              <a:rPr lang="en-US" sz="1100" dirty="0">
                <a:solidFill>
                  <a:schemeClr val="accent6"/>
                </a:solidFill>
              </a:rPr>
              <a:t>App roles step</a:t>
            </a:r>
            <a:endParaRPr lang="en-US" sz="1100" dirty="0"/>
          </a:p>
        </p:txBody>
      </p:sp>
      <p:sp>
        <p:nvSpPr>
          <p:cNvPr id="20" name="a3_wiz2_num"/>
          <p:cNvSpPr/>
          <p:nvPr/>
        </p:nvSpPr>
        <p:spPr>
          <a:xfrm>
            <a:off x="5029200" y="3931920"/>
            <a:ext cx="411480" cy="411480"/>
          </a:xfrm>
          <a:prstGeom prst="ellipse">
            <a:avLst/>
          </a:prstGeom>
          <a:solidFill>
            <a:schemeClr val="accent1"/>
          </a:solidFill>
          <a:ln w="12700">
            <a:solidFill>
              <a:schemeClr val="accent1"/>
            </a:solidFill>
            <a:prstDash val="solid"/>
          </a:ln>
        </p:spPr>
      </p:sp>
      <p:sp>
        <p:nvSpPr>
          <p:cNvPr id="21" name="a3_wiz2_numtext"/>
          <p:cNvSpPr txBox="1"/>
          <p:nvPr/>
        </p:nvSpPr>
        <p:spPr>
          <a:xfrm>
            <a:off x="5029200" y="393192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2" name="a3_wiz2_title"/>
          <p:cNvSpPr txBox="1"/>
          <p:nvPr/>
        </p:nvSpPr>
        <p:spPr>
          <a:xfrm>
            <a:off x="5577840" y="3959352"/>
            <a:ext cx="1508760" cy="365760"/>
          </a:xfrm>
          <a:prstGeom prst="rect">
            <a:avLst/>
          </a:prstGeom>
          <a:noFill/>
          <a:ln/>
        </p:spPr>
        <p:txBody>
          <a:bodyPr wrap="square" lIns="0" tIns="0" rIns="0" bIns="0" rtlCol="0" anchor="t"/>
          <a:lstStyle/>
          <a:p>
            <a:pPr indent="0" marL="0">
              <a:buNone/>
            </a:pPr>
            <a:r>
              <a:rPr lang="en-US" sz="1500" b="1" dirty="0">
                <a:solidFill>
                  <a:schemeClr val="tx2"/>
                </a:solidFill>
              </a:rPr>
              <a:t>App roles</a:t>
            </a:r>
            <a:endParaRPr lang="en-US" sz="1500" dirty="0"/>
          </a:p>
        </p:txBody>
      </p:sp>
      <p:sp>
        <p:nvSpPr>
          <p:cNvPr id="23" name="a3_wiz2_text"/>
          <p:cNvSpPr txBox="1"/>
          <p:nvPr/>
        </p:nvSpPr>
        <p:spPr>
          <a:xfrm>
            <a:off x="5029200" y="4434840"/>
            <a:ext cx="2057400" cy="1005840"/>
          </a:xfrm>
          <a:prstGeom prst="rect">
            <a:avLst/>
          </a:prstGeom>
          <a:noFill/>
          <a:ln/>
        </p:spPr>
        <p:txBody>
          <a:bodyPr wrap="square" lIns="0" tIns="0" rIns="0" bIns="0" rtlCol="0" anchor="t"/>
          <a:lstStyle/>
          <a:p>
            <a:pPr indent="0" marL="0">
              <a:buNone/>
            </a:pPr>
            <a:r>
              <a:rPr lang="en-US" sz="1300" dirty="0">
                <a:solidFill>
                  <a:schemeClr val="tx1"/>
                </a:solidFill>
              </a:rPr>
              <a:t>User / Admin roles, each held by a group</a:t>
            </a:r>
            <a:endParaRPr lang="en-US" sz="1300" dirty="0"/>
          </a:p>
        </p:txBody>
      </p:sp>
      <p:sp>
        <p:nvSpPr>
          <p:cNvPr id="24" name="a4_wiz3_frame"/>
          <p:cNvSpPr/>
          <p:nvPr/>
        </p:nvSpPr>
        <p:spPr>
          <a:xfrm>
            <a:off x="7269480" y="1325880"/>
            <a:ext cx="2057400" cy="2423160"/>
          </a:xfrm>
          <a:prstGeom prst="roundRect">
            <a:avLst>
              <a:gd name="adj" fmla="val 3556"/>
            </a:avLst>
          </a:prstGeom>
          <a:solidFill>
            <a:schemeClr val="bg1"/>
          </a:solidFill>
          <a:ln w="15875">
            <a:solidFill>
              <a:schemeClr val="accent2"/>
            </a:solidFill>
            <a:prstDash val="dash"/>
          </a:ln>
        </p:spPr>
      </p:sp>
      <p:sp>
        <p:nvSpPr>
          <p:cNvPr id="25" name="a4_wiz3_bar"/>
          <p:cNvSpPr/>
          <p:nvPr/>
        </p:nvSpPr>
        <p:spPr>
          <a:xfrm>
            <a:off x="7379208" y="1435608"/>
            <a:ext cx="1837944" cy="201168"/>
          </a:xfrm>
          <a:prstGeom prst="rect">
            <a:avLst/>
          </a:prstGeom>
          <a:solidFill>
            <a:schemeClr val="bg2"/>
          </a:solidFill>
          <a:ln w="12700">
            <a:solidFill>
              <a:schemeClr val="bg2"/>
            </a:solidFill>
            <a:prstDash val="solid"/>
          </a:ln>
        </p:spPr>
      </p:sp>
      <p:sp>
        <p:nvSpPr>
          <p:cNvPr id="26" name="a4_wiz3_label"/>
          <p:cNvSpPr txBox="1"/>
          <p:nvPr/>
        </p:nvSpPr>
        <p:spPr>
          <a:xfrm>
            <a:off x="7406640" y="1783080"/>
            <a:ext cx="1783080" cy="1828800"/>
          </a:xfrm>
          <a:prstGeom prst="rect">
            <a:avLst/>
          </a:prstGeom>
          <a:noFill/>
          <a:ln/>
        </p:spPr>
        <p:txBody>
          <a:bodyPr wrap="square" lIns="0" tIns="0" rIns="0" bIns="0" rtlCol="0" anchor="ctr"/>
          <a:lstStyle/>
          <a:p>
            <a:pPr algn="ctr" indent="0" marL="0">
              <a:buNone/>
            </a:pPr>
            <a:r>
              <a:rPr lang="en-US" sz="1100" b="1" dirty="0">
                <a:solidFill>
                  <a:schemeClr val="accent6"/>
                </a:solidFill>
              </a:rPr>
              <a:t>Screenshot</a:t>
            </a:r>
            <a:endParaRPr lang="en-US" sz="1100" dirty="0"/>
          </a:p>
          <a:p>
            <a:pPr algn="ctr" indent="0" marL="0">
              <a:buNone/>
            </a:pPr>
            <a:r>
              <a:rPr lang="en-US" sz="1100" dirty="0">
                <a:solidFill>
                  <a:schemeClr val="accent6"/>
                </a:solidFill>
              </a:rPr>
              <a:t>Enterprise app step</a:t>
            </a:r>
            <a:endParaRPr lang="en-US" sz="1100" dirty="0"/>
          </a:p>
        </p:txBody>
      </p:sp>
      <p:sp>
        <p:nvSpPr>
          <p:cNvPr id="27" name="a4_wiz3_num"/>
          <p:cNvSpPr/>
          <p:nvPr/>
        </p:nvSpPr>
        <p:spPr>
          <a:xfrm>
            <a:off x="7269480" y="3931920"/>
            <a:ext cx="411480" cy="411480"/>
          </a:xfrm>
          <a:prstGeom prst="ellipse">
            <a:avLst/>
          </a:prstGeom>
          <a:solidFill>
            <a:schemeClr val="accent1"/>
          </a:solidFill>
          <a:ln w="12700">
            <a:solidFill>
              <a:schemeClr val="accent1"/>
            </a:solidFill>
            <a:prstDash val="solid"/>
          </a:ln>
        </p:spPr>
      </p:sp>
      <p:sp>
        <p:nvSpPr>
          <p:cNvPr id="28" name="a4_wiz3_numtext"/>
          <p:cNvSpPr txBox="1"/>
          <p:nvPr/>
        </p:nvSpPr>
        <p:spPr>
          <a:xfrm>
            <a:off x="7269480" y="393192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9" name="a4_wiz3_title"/>
          <p:cNvSpPr txBox="1"/>
          <p:nvPr/>
        </p:nvSpPr>
        <p:spPr>
          <a:xfrm>
            <a:off x="7818120" y="3959352"/>
            <a:ext cx="1508760" cy="365760"/>
          </a:xfrm>
          <a:prstGeom prst="rect">
            <a:avLst/>
          </a:prstGeom>
          <a:noFill/>
          <a:ln/>
        </p:spPr>
        <p:txBody>
          <a:bodyPr wrap="square" lIns="0" tIns="0" rIns="0" bIns="0" rtlCol="0" anchor="t"/>
          <a:lstStyle/>
          <a:p>
            <a:pPr indent="0" marL="0">
              <a:buNone/>
            </a:pPr>
            <a:r>
              <a:rPr lang="en-US" sz="1500" b="1" dirty="0">
                <a:solidFill>
                  <a:schemeClr val="tx2"/>
                </a:solidFill>
              </a:rPr>
              <a:t>Enterprise app</a:t>
            </a:r>
            <a:endParaRPr lang="en-US" sz="1500" dirty="0"/>
          </a:p>
        </p:txBody>
      </p:sp>
      <p:sp>
        <p:nvSpPr>
          <p:cNvPr id="30" name="a4_wiz3_text"/>
          <p:cNvSpPr txBox="1"/>
          <p:nvPr/>
        </p:nvSpPr>
        <p:spPr>
          <a:xfrm>
            <a:off x="7269480" y="4434840"/>
            <a:ext cx="2057400" cy="1005840"/>
          </a:xfrm>
          <a:prstGeom prst="rect">
            <a:avLst/>
          </a:prstGeom>
          <a:noFill/>
          <a:ln/>
        </p:spPr>
        <p:txBody>
          <a:bodyPr wrap="square" lIns="0" tIns="0" rIns="0" bIns="0" rtlCol="0" anchor="t"/>
          <a:lstStyle/>
          <a:p>
            <a:pPr indent="0" marL="0">
              <a:buNone/>
            </a:pPr>
            <a:r>
              <a:rPr lang="en-US" sz="1300" dirty="0">
                <a:solidFill>
                  <a:schemeClr val="tx1"/>
                </a:solidFill>
              </a:rPr>
              <a:t>Assignment required, account types, tags</a:t>
            </a:r>
            <a:endParaRPr lang="en-US" sz="1300" dirty="0"/>
          </a:p>
        </p:txBody>
      </p:sp>
      <p:sp>
        <p:nvSpPr>
          <p:cNvPr id="31" name="a5_wiz4_frame"/>
          <p:cNvSpPr/>
          <p:nvPr/>
        </p:nvSpPr>
        <p:spPr>
          <a:xfrm>
            <a:off x="9509760" y="1325880"/>
            <a:ext cx="2057400" cy="2423160"/>
          </a:xfrm>
          <a:prstGeom prst="roundRect">
            <a:avLst>
              <a:gd name="adj" fmla="val 3556"/>
            </a:avLst>
          </a:prstGeom>
          <a:solidFill>
            <a:schemeClr val="bg1"/>
          </a:solidFill>
          <a:ln w="15875">
            <a:solidFill>
              <a:schemeClr val="accent2"/>
            </a:solidFill>
            <a:prstDash val="dash"/>
          </a:ln>
        </p:spPr>
      </p:sp>
      <p:sp>
        <p:nvSpPr>
          <p:cNvPr id="32" name="a5_wiz4_bar"/>
          <p:cNvSpPr/>
          <p:nvPr/>
        </p:nvSpPr>
        <p:spPr>
          <a:xfrm>
            <a:off x="9619488" y="1435608"/>
            <a:ext cx="1837944" cy="201168"/>
          </a:xfrm>
          <a:prstGeom prst="rect">
            <a:avLst/>
          </a:prstGeom>
          <a:solidFill>
            <a:schemeClr val="bg2"/>
          </a:solidFill>
          <a:ln w="12700">
            <a:solidFill>
              <a:schemeClr val="bg2"/>
            </a:solidFill>
            <a:prstDash val="solid"/>
          </a:ln>
        </p:spPr>
      </p:sp>
      <p:sp>
        <p:nvSpPr>
          <p:cNvPr id="33" name="a5_wiz4_label"/>
          <p:cNvSpPr txBox="1"/>
          <p:nvPr/>
        </p:nvSpPr>
        <p:spPr>
          <a:xfrm>
            <a:off x="9646920" y="1783080"/>
            <a:ext cx="1783080" cy="1828800"/>
          </a:xfrm>
          <a:prstGeom prst="rect">
            <a:avLst/>
          </a:prstGeom>
          <a:noFill/>
          <a:ln/>
        </p:spPr>
        <p:txBody>
          <a:bodyPr wrap="square" lIns="0" tIns="0" rIns="0" bIns="0" rtlCol="0" anchor="ctr"/>
          <a:lstStyle/>
          <a:p>
            <a:pPr algn="ctr" indent="0" marL="0">
              <a:buNone/>
            </a:pPr>
            <a:r>
              <a:rPr lang="en-US" sz="1100" b="1" dirty="0">
                <a:solidFill>
                  <a:schemeClr val="accent6"/>
                </a:solidFill>
              </a:rPr>
              <a:t>Screenshot</a:t>
            </a:r>
            <a:endParaRPr lang="en-US" sz="1100" dirty="0"/>
          </a:p>
          <a:p>
            <a:pPr algn="ctr" indent="0" marL="0">
              <a:buNone/>
            </a:pPr>
            <a:r>
              <a:rPr lang="en-US" sz="1100" dirty="0">
                <a:solidFill>
                  <a:schemeClr val="accent6"/>
                </a:solidFill>
              </a:rPr>
              <a:t>Review + submit step</a:t>
            </a:r>
            <a:endParaRPr lang="en-US" sz="1100" dirty="0"/>
          </a:p>
        </p:txBody>
      </p:sp>
      <p:sp>
        <p:nvSpPr>
          <p:cNvPr id="34" name="a5_wiz4_num"/>
          <p:cNvSpPr/>
          <p:nvPr/>
        </p:nvSpPr>
        <p:spPr>
          <a:xfrm>
            <a:off x="9509760" y="3931920"/>
            <a:ext cx="411480" cy="411480"/>
          </a:xfrm>
          <a:prstGeom prst="ellipse">
            <a:avLst/>
          </a:prstGeom>
          <a:solidFill>
            <a:schemeClr val="accent1"/>
          </a:solidFill>
          <a:ln w="12700">
            <a:solidFill>
              <a:schemeClr val="accent1"/>
            </a:solidFill>
            <a:prstDash val="solid"/>
          </a:ln>
        </p:spPr>
      </p:sp>
      <p:sp>
        <p:nvSpPr>
          <p:cNvPr id="35" name="a5_wiz4_numtext"/>
          <p:cNvSpPr txBox="1"/>
          <p:nvPr/>
        </p:nvSpPr>
        <p:spPr>
          <a:xfrm>
            <a:off x="9509760" y="393192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36" name="a5_wiz4_title"/>
          <p:cNvSpPr txBox="1"/>
          <p:nvPr/>
        </p:nvSpPr>
        <p:spPr>
          <a:xfrm>
            <a:off x="10058400" y="3959352"/>
            <a:ext cx="1508760" cy="365760"/>
          </a:xfrm>
          <a:prstGeom prst="rect">
            <a:avLst/>
          </a:prstGeom>
          <a:noFill/>
          <a:ln/>
        </p:spPr>
        <p:txBody>
          <a:bodyPr wrap="square" lIns="0" tIns="0" rIns="0" bIns="0" rtlCol="0" anchor="t"/>
          <a:lstStyle/>
          <a:p>
            <a:pPr indent="0" marL="0">
              <a:buNone/>
            </a:pPr>
            <a:r>
              <a:rPr lang="en-US" sz="1500" b="1" dirty="0">
                <a:solidFill>
                  <a:schemeClr val="tx2"/>
                </a:solidFill>
              </a:rPr>
              <a:t>Review + submit</a:t>
            </a:r>
            <a:endParaRPr lang="en-US" sz="1500" dirty="0"/>
          </a:p>
        </p:txBody>
      </p:sp>
      <p:sp>
        <p:nvSpPr>
          <p:cNvPr id="37" name="a5_wiz4_text"/>
          <p:cNvSpPr txBox="1"/>
          <p:nvPr/>
        </p:nvSpPr>
        <p:spPr>
          <a:xfrm>
            <a:off x="9509760" y="4434840"/>
            <a:ext cx="2057400" cy="1005840"/>
          </a:xfrm>
          <a:prstGeom prst="rect">
            <a:avLst/>
          </a:prstGeom>
          <a:noFill/>
          <a:ln/>
        </p:spPr>
        <p:txBody>
          <a:bodyPr wrap="square" lIns="0" tIns="0" rIns="0" bIns="0" rtlCol="0" anchor="t"/>
          <a:lstStyle/>
          <a:p>
            <a:pPr indent="0" marL="0">
              <a:buNone/>
            </a:pPr>
            <a:r>
              <a:rPr lang="en-US" sz="1300" dirty="0">
                <a:solidFill>
                  <a:schemeClr val="tx1"/>
                </a:solidFill>
              </a:rPr>
              <a:t>Summary, then manager and Entra approvals</a:t>
            </a:r>
            <a:endParaRPr lang="en-US" sz="1300" dirty="0"/>
          </a:p>
        </p:txBody>
      </p:sp>
      <p:sp>
        <p:nvSpPr>
          <p:cNvPr id="38" name="shot_hint"/>
          <p:cNvSpPr txBox="1"/>
          <p:nvPr/>
        </p:nvSpPr>
        <p:spPr>
          <a:xfrm>
            <a:off x="548640" y="5760720"/>
            <a:ext cx="11094415" cy="320040"/>
          </a:xfrm>
          <a:prstGeom prst="rect">
            <a:avLst/>
          </a:prstGeom>
          <a:noFill/>
          <a:ln/>
        </p:spPr>
        <p:txBody>
          <a:bodyPr wrap="square" lIns="0" tIns="0" rIns="0" bIns="0" rtlCol="0" anchor="t"/>
          <a:lstStyle/>
          <a:p>
            <a:pPr indent="0" marL="0">
              <a:buNone/>
            </a:pPr>
            <a:r>
              <a:rPr lang="en-US" sz="1100" dirty="0">
                <a:solidFill>
                  <a:schemeClr val="accent6"/>
                </a:solidFill>
              </a:rPr>
              <a:t>Replace each frame with a screenshot of the matching wizard step (Insert &gt; Pictures, then send the frame to back or delete it).</a:t>
            </a:r>
            <a:endParaRPr lang="en-US" sz="11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timing>
    <p:tnLst>
      <p:par>
        <p:cTn id="1" dur="indefinite" restart="never" nodeType="tmRoot">
          <p:childTnLst>
            <p:seq concurrent="1" nextAc="seek">
              <p:cTn id="2" dur="indefinite" nodeType="mainSeq">
                <p:childTnLst>
                  <p:par>
                    <p:cTn id="24" fill="hold">
                      <p:stCondLst>
                        <p:cond delay="indefinite"/>
                      </p:stCondLst>
                      <p:childTnLst>
                        <p:par>
                          <p:cTn id="25"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400"/>
                                        <p:tgtEl>
                                          <p:spTgt spid="3"/>
                                        </p:tgtEl>
                                      </p:cBhvr>
                                    </p:animEffect>
                                  </p:childTnLst>
                                </p:cTn>
                              </p:par>
                              <p:par>
                                <p:cTn id="6" presetID="10" presetClass="entr" presetSubtype="0" fill="hold" nodeType="withEffect">
                                  <p:stCondLst>
                                    <p:cond delay="0"/>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400"/>
                                        <p:tgtEl>
                                          <p:spTgt spid="4"/>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400"/>
                                        <p:tgtEl>
                                          <p:spTgt spid="5"/>
                                        </p:tgtEl>
                                      </p:cBhvr>
                                    </p:animEffect>
                                  </p:childTnLst>
                                </p:cTn>
                              </p:par>
                              <p:par>
                                <p:cTn id="12" presetID="10" presetClass="entr" presetSubtype="0" fill="hold"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400"/>
                                        <p:tgtEl>
                                          <p:spTgt spid="6"/>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400"/>
                                        <p:tgtEl>
                                          <p:spTgt spid="7"/>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400"/>
                                        <p:tgtEl>
                                          <p:spTgt spid="8"/>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400"/>
                                        <p:tgtEl>
                                          <p:spTgt spid="9"/>
                                        </p:tgtEl>
                                      </p:cBhvr>
                                    </p:animEffect>
                                  </p:childTnLst>
                                </p:cTn>
                              </p:par>
                            </p:childTnLst>
                          </p:cTn>
                        </p:par>
                      </p:childTnLst>
                    </p:cTn>
                  </p:par>
                  <p:par>
                    <p:cTn id="47" fill="hold">
                      <p:stCondLst>
                        <p:cond delay="indefinite"/>
                      </p:stCondLst>
                      <p:childTnLst>
                        <p:par>
                          <p:cTn id="48"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400"/>
                                        <p:tgtEl>
                                          <p:spTgt spid="10"/>
                                        </p:tgtEl>
                                      </p:cBhvr>
                                    </p:animEffect>
                                  </p:childTnLst>
                                </p:cTn>
                              </p:par>
                              <p:par>
                                <p:cTn id="29" presetID="10" presetClass="entr" presetSubtype="0" fill="hold" nodeType="with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400"/>
                                        <p:tgtEl>
                                          <p:spTgt spid="1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400"/>
                                        <p:tgtEl>
                                          <p:spTgt spid="12"/>
                                        </p:tgtEl>
                                      </p:cBhvr>
                                    </p:animEffect>
                                  </p:childTnLst>
                                </p:cTn>
                              </p:par>
                              <p:par>
                                <p:cTn id="35" presetID="10" presetClass="entr" presetSubtype="0" fill="hold" nodeType="with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400"/>
                                        <p:tgtEl>
                                          <p:spTgt spid="13"/>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400"/>
                                        <p:tgtEl>
                                          <p:spTgt spid="14"/>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400"/>
                                        <p:tgtEl>
                                          <p:spTgt spid="15"/>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400"/>
                                        <p:tgtEl>
                                          <p:spTgt spid="16"/>
                                        </p:tgtEl>
                                      </p:cBhvr>
                                    </p:animEffect>
                                  </p:childTnLst>
                                </p:cTn>
                              </p:par>
                            </p:childTnLst>
                          </p:cTn>
                        </p:par>
                      </p:childTnLst>
                    </p:cTn>
                  </p:par>
                  <p:par>
                    <p:cTn id="70" fill="hold">
                      <p:stCondLst>
                        <p:cond delay="indefinite"/>
                      </p:stCondLst>
                      <p:childTnLst>
                        <p:par>
                          <p:cTn id="71"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17"/>
                                        </p:tgtEl>
                                        <p:attrNameLst>
                                          <p:attrName>style.visibility</p:attrName>
                                        </p:attrNameLst>
                                      </p:cBhvr>
                                      <p:to>
                                        <p:strVal val="visible"/>
                                      </p:to>
                                    </p:set>
                                    <p:animEffect transition="in" filter="fade">
                                      <p:cBhvr>
                                        <p:cTn id="51" dur="400"/>
                                        <p:tgtEl>
                                          <p:spTgt spid="17"/>
                                        </p:tgtEl>
                                      </p:cBhvr>
                                    </p:animEffect>
                                  </p:childTnLst>
                                </p:cTn>
                              </p:par>
                              <p:par>
                                <p:cTn id="52" presetID="10" presetClass="entr" presetSubtype="0" fill="hold" nodeType="withEffect">
                                  <p:stCondLst>
                                    <p:cond delay="0"/>
                                  </p:stCondLst>
                                  <p:childTnLst>
                                    <p:set>
                                      <p:cBhvr>
                                        <p:cTn id="53" dur="1" fill="hold">
                                          <p:stCondLst>
                                            <p:cond delay="0"/>
                                          </p:stCondLst>
                                        </p:cTn>
                                        <p:tgtEl>
                                          <p:spTgt spid="18"/>
                                        </p:tgtEl>
                                        <p:attrNameLst>
                                          <p:attrName>style.visibility</p:attrName>
                                        </p:attrNameLst>
                                      </p:cBhvr>
                                      <p:to>
                                        <p:strVal val="visible"/>
                                      </p:to>
                                    </p:set>
                                    <p:animEffect transition="in" filter="fade">
                                      <p:cBhvr>
                                        <p:cTn id="54" dur="400"/>
                                        <p:tgtEl>
                                          <p:spTgt spid="18"/>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fade">
                                      <p:cBhvr>
                                        <p:cTn id="57" dur="400"/>
                                        <p:tgtEl>
                                          <p:spTgt spid="19"/>
                                        </p:tgtEl>
                                      </p:cBhvr>
                                    </p:animEffect>
                                  </p:childTnLst>
                                </p:cTn>
                              </p:par>
                              <p:par>
                                <p:cTn id="58" presetID="10" presetClass="entr" presetSubtype="0" fill="hold" nodeType="withEffect">
                                  <p:stCondLst>
                                    <p:cond delay="0"/>
                                  </p:stCondLst>
                                  <p:childTnLst>
                                    <p:set>
                                      <p:cBhvr>
                                        <p:cTn id="59" dur="1" fill="hold">
                                          <p:stCondLst>
                                            <p:cond delay="0"/>
                                          </p:stCondLst>
                                        </p:cTn>
                                        <p:tgtEl>
                                          <p:spTgt spid="20"/>
                                        </p:tgtEl>
                                        <p:attrNameLst>
                                          <p:attrName>style.visibility</p:attrName>
                                        </p:attrNameLst>
                                      </p:cBhvr>
                                      <p:to>
                                        <p:strVal val="visible"/>
                                      </p:to>
                                    </p:set>
                                    <p:animEffect transition="in" filter="fade">
                                      <p:cBhvr>
                                        <p:cTn id="60" dur="400"/>
                                        <p:tgtEl>
                                          <p:spTgt spid="20"/>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400"/>
                                        <p:tgtEl>
                                          <p:spTgt spid="21"/>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2"/>
                                        </p:tgtEl>
                                        <p:attrNameLst>
                                          <p:attrName>style.visibility</p:attrName>
                                        </p:attrNameLst>
                                      </p:cBhvr>
                                      <p:to>
                                        <p:strVal val="visible"/>
                                      </p:to>
                                    </p:set>
                                    <p:animEffect transition="in" filter="fade">
                                      <p:cBhvr>
                                        <p:cTn id="66" dur="400"/>
                                        <p:tgtEl>
                                          <p:spTgt spid="22"/>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3"/>
                                        </p:tgtEl>
                                        <p:attrNameLst>
                                          <p:attrName>style.visibility</p:attrName>
                                        </p:attrNameLst>
                                      </p:cBhvr>
                                      <p:to>
                                        <p:strVal val="visible"/>
                                      </p:to>
                                    </p:set>
                                    <p:animEffect transition="in" filter="fade">
                                      <p:cBhvr>
                                        <p:cTn id="69" dur="400"/>
                                        <p:tgtEl>
                                          <p:spTgt spid="23"/>
                                        </p:tgtEl>
                                      </p:cBhvr>
                                    </p:animEffect>
                                  </p:childTnLst>
                                </p:cTn>
                              </p:par>
                            </p:childTnLst>
                          </p:cTn>
                        </p:par>
                      </p:childTnLst>
                    </p:cTn>
                  </p:par>
                  <p:par>
                    <p:cTn id="93" fill="hold">
                      <p:stCondLst>
                        <p:cond delay="indefinite"/>
                      </p:stCondLst>
                      <p:childTnLst>
                        <p:par>
                          <p:cTn id="94" fill="hold">
                            <p:stCondLst>
                              <p:cond delay="0"/>
                            </p:stCondLst>
                            <p:childTnLst>
                              <p:par>
                                <p:cTn id="72" presetID="10" presetClass="entr" presetSubtype="0" fill="hold" nodeType="clickEffect">
                                  <p:stCondLst>
                                    <p:cond delay="0"/>
                                  </p:stCondLst>
                                  <p:childTnLst>
                                    <p:set>
                                      <p:cBhvr>
                                        <p:cTn id="73" dur="1" fill="hold">
                                          <p:stCondLst>
                                            <p:cond delay="0"/>
                                          </p:stCondLst>
                                        </p:cTn>
                                        <p:tgtEl>
                                          <p:spTgt spid="24"/>
                                        </p:tgtEl>
                                        <p:attrNameLst>
                                          <p:attrName>style.visibility</p:attrName>
                                        </p:attrNameLst>
                                      </p:cBhvr>
                                      <p:to>
                                        <p:strVal val="visible"/>
                                      </p:to>
                                    </p:set>
                                    <p:animEffect transition="in" filter="fade">
                                      <p:cBhvr>
                                        <p:cTn id="74" dur="400"/>
                                        <p:tgtEl>
                                          <p:spTgt spid="24"/>
                                        </p:tgtEl>
                                      </p:cBhvr>
                                    </p:animEffect>
                                  </p:childTnLst>
                                </p:cTn>
                              </p:par>
                              <p:par>
                                <p:cTn id="75" presetID="10" presetClass="entr" presetSubtype="0" fill="hold" nodeType="withEffect">
                                  <p:stCondLst>
                                    <p:cond delay="0"/>
                                  </p:stCondLst>
                                  <p:childTnLst>
                                    <p:set>
                                      <p:cBhvr>
                                        <p:cTn id="76" dur="1" fill="hold">
                                          <p:stCondLst>
                                            <p:cond delay="0"/>
                                          </p:stCondLst>
                                        </p:cTn>
                                        <p:tgtEl>
                                          <p:spTgt spid="25"/>
                                        </p:tgtEl>
                                        <p:attrNameLst>
                                          <p:attrName>style.visibility</p:attrName>
                                        </p:attrNameLst>
                                      </p:cBhvr>
                                      <p:to>
                                        <p:strVal val="visible"/>
                                      </p:to>
                                    </p:set>
                                    <p:animEffect transition="in" filter="fade">
                                      <p:cBhvr>
                                        <p:cTn id="77" dur="400"/>
                                        <p:tgtEl>
                                          <p:spTgt spid="25"/>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6"/>
                                        </p:tgtEl>
                                        <p:attrNameLst>
                                          <p:attrName>style.visibility</p:attrName>
                                        </p:attrNameLst>
                                      </p:cBhvr>
                                      <p:to>
                                        <p:strVal val="visible"/>
                                      </p:to>
                                    </p:set>
                                    <p:animEffect transition="in" filter="fade">
                                      <p:cBhvr>
                                        <p:cTn id="80" dur="400"/>
                                        <p:tgtEl>
                                          <p:spTgt spid="26"/>
                                        </p:tgtEl>
                                      </p:cBhvr>
                                    </p:animEffect>
                                  </p:childTnLst>
                                </p:cTn>
                              </p:par>
                              <p:par>
                                <p:cTn id="81" presetID="10" presetClass="entr" presetSubtype="0" fill="hold" nodeType="withEffect">
                                  <p:stCondLst>
                                    <p:cond delay="0"/>
                                  </p:stCondLst>
                                  <p:childTnLst>
                                    <p:set>
                                      <p:cBhvr>
                                        <p:cTn id="82" dur="1" fill="hold">
                                          <p:stCondLst>
                                            <p:cond delay="0"/>
                                          </p:stCondLst>
                                        </p:cTn>
                                        <p:tgtEl>
                                          <p:spTgt spid="27"/>
                                        </p:tgtEl>
                                        <p:attrNameLst>
                                          <p:attrName>style.visibility</p:attrName>
                                        </p:attrNameLst>
                                      </p:cBhvr>
                                      <p:to>
                                        <p:strVal val="visible"/>
                                      </p:to>
                                    </p:set>
                                    <p:animEffect transition="in" filter="fade">
                                      <p:cBhvr>
                                        <p:cTn id="83" dur="400"/>
                                        <p:tgtEl>
                                          <p:spTgt spid="27"/>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28"/>
                                        </p:tgtEl>
                                        <p:attrNameLst>
                                          <p:attrName>style.visibility</p:attrName>
                                        </p:attrNameLst>
                                      </p:cBhvr>
                                      <p:to>
                                        <p:strVal val="visible"/>
                                      </p:to>
                                    </p:set>
                                    <p:animEffect transition="in" filter="fade">
                                      <p:cBhvr>
                                        <p:cTn id="86" dur="400"/>
                                        <p:tgtEl>
                                          <p:spTgt spid="28"/>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29"/>
                                        </p:tgtEl>
                                        <p:attrNameLst>
                                          <p:attrName>style.visibility</p:attrName>
                                        </p:attrNameLst>
                                      </p:cBhvr>
                                      <p:to>
                                        <p:strVal val="visible"/>
                                      </p:to>
                                    </p:set>
                                    <p:animEffect transition="in" filter="fade">
                                      <p:cBhvr>
                                        <p:cTn id="89" dur="400"/>
                                        <p:tgtEl>
                                          <p:spTgt spid="29"/>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30"/>
                                        </p:tgtEl>
                                        <p:attrNameLst>
                                          <p:attrName>style.visibility</p:attrName>
                                        </p:attrNameLst>
                                      </p:cBhvr>
                                      <p:to>
                                        <p:strVal val="visible"/>
                                      </p:to>
                                    </p:set>
                                    <p:animEffect transition="in" filter="fade">
                                      <p:cBhvr>
                                        <p:cTn id="92" dur="400"/>
                                        <p:tgtEl>
                                          <p:spTgt spid="30"/>
                                        </p:tgtEl>
                                      </p:cBhvr>
                                    </p:animEffect>
                                  </p:childTnLst>
                                </p:cTn>
                              </p:par>
                            </p:childTnLst>
                          </p:cTn>
                        </p:par>
                      </p:childTnLst>
                    </p:cTn>
                  </p:par>
                  <p:par>
                    <p:cTn id="116" fill="hold">
                      <p:stCondLst>
                        <p:cond delay="indefinite"/>
                      </p:stCondLst>
                      <p:childTnLst>
                        <p:par>
                          <p:cTn id="117" fill="hold">
                            <p:stCondLst>
                              <p:cond delay="0"/>
                            </p:stCondLst>
                            <p:childTnLst>
                              <p:par>
                                <p:cTn id="95" presetID="10" presetClass="entr" presetSubtype="0" fill="hold" nodeType="clickEffect">
                                  <p:stCondLst>
                                    <p:cond delay="0"/>
                                  </p:stCondLst>
                                  <p:childTnLst>
                                    <p:set>
                                      <p:cBhvr>
                                        <p:cTn id="96" dur="1" fill="hold">
                                          <p:stCondLst>
                                            <p:cond delay="0"/>
                                          </p:stCondLst>
                                        </p:cTn>
                                        <p:tgtEl>
                                          <p:spTgt spid="31"/>
                                        </p:tgtEl>
                                        <p:attrNameLst>
                                          <p:attrName>style.visibility</p:attrName>
                                        </p:attrNameLst>
                                      </p:cBhvr>
                                      <p:to>
                                        <p:strVal val="visible"/>
                                      </p:to>
                                    </p:set>
                                    <p:animEffect transition="in" filter="fade">
                                      <p:cBhvr>
                                        <p:cTn id="97" dur="400"/>
                                        <p:tgtEl>
                                          <p:spTgt spid="31"/>
                                        </p:tgtEl>
                                      </p:cBhvr>
                                    </p:animEffect>
                                  </p:childTnLst>
                                </p:cTn>
                              </p:par>
                              <p:par>
                                <p:cTn id="98" presetID="10" presetClass="entr" presetSubtype="0" fill="hold" nodeType="withEffect">
                                  <p:stCondLst>
                                    <p:cond delay="0"/>
                                  </p:stCondLst>
                                  <p:childTnLst>
                                    <p:set>
                                      <p:cBhvr>
                                        <p:cTn id="99" dur="1" fill="hold">
                                          <p:stCondLst>
                                            <p:cond delay="0"/>
                                          </p:stCondLst>
                                        </p:cTn>
                                        <p:tgtEl>
                                          <p:spTgt spid="32"/>
                                        </p:tgtEl>
                                        <p:attrNameLst>
                                          <p:attrName>style.visibility</p:attrName>
                                        </p:attrNameLst>
                                      </p:cBhvr>
                                      <p:to>
                                        <p:strVal val="visible"/>
                                      </p:to>
                                    </p:set>
                                    <p:animEffect transition="in" filter="fade">
                                      <p:cBhvr>
                                        <p:cTn id="100" dur="400"/>
                                        <p:tgtEl>
                                          <p:spTgt spid="32"/>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33"/>
                                        </p:tgtEl>
                                        <p:attrNameLst>
                                          <p:attrName>style.visibility</p:attrName>
                                        </p:attrNameLst>
                                      </p:cBhvr>
                                      <p:to>
                                        <p:strVal val="visible"/>
                                      </p:to>
                                    </p:set>
                                    <p:animEffect transition="in" filter="fade">
                                      <p:cBhvr>
                                        <p:cTn id="103" dur="400"/>
                                        <p:tgtEl>
                                          <p:spTgt spid="33"/>
                                        </p:tgtEl>
                                      </p:cBhvr>
                                    </p:animEffect>
                                  </p:childTnLst>
                                </p:cTn>
                              </p:par>
                              <p:par>
                                <p:cTn id="104" presetID="10" presetClass="entr" presetSubtype="0" fill="hold" nodeType="withEffect">
                                  <p:stCondLst>
                                    <p:cond delay="0"/>
                                  </p:stCondLst>
                                  <p:childTnLst>
                                    <p:set>
                                      <p:cBhvr>
                                        <p:cTn id="105" dur="1" fill="hold">
                                          <p:stCondLst>
                                            <p:cond delay="0"/>
                                          </p:stCondLst>
                                        </p:cTn>
                                        <p:tgtEl>
                                          <p:spTgt spid="34"/>
                                        </p:tgtEl>
                                        <p:attrNameLst>
                                          <p:attrName>style.visibility</p:attrName>
                                        </p:attrNameLst>
                                      </p:cBhvr>
                                      <p:to>
                                        <p:strVal val="visible"/>
                                      </p:to>
                                    </p:set>
                                    <p:animEffect transition="in" filter="fade">
                                      <p:cBhvr>
                                        <p:cTn id="106" dur="400"/>
                                        <p:tgtEl>
                                          <p:spTgt spid="34"/>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35"/>
                                        </p:tgtEl>
                                        <p:attrNameLst>
                                          <p:attrName>style.visibility</p:attrName>
                                        </p:attrNameLst>
                                      </p:cBhvr>
                                      <p:to>
                                        <p:strVal val="visible"/>
                                      </p:to>
                                    </p:set>
                                    <p:animEffect transition="in" filter="fade">
                                      <p:cBhvr>
                                        <p:cTn id="109" dur="400"/>
                                        <p:tgtEl>
                                          <p:spTgt spid="35"/>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36"/>
                                        </p:tgtEl>
                                        <p:attrNameLst>
                                          <p:attrName>style.visibility</p:attrName>
                                        </p:attrNameLst>
                                      </p:cBhvr>
                                      <p:to>
                                        <p:strVal val="visible"/>
                                      </p:to>
                                    </p:set>
                                    <p:animEffect transition="in" filter="fade">
                                      <p:cBhvr>
                                        <p:cTn id="112" dur="400"/>
                                        <p:tgtEl>
                                          <p:spTgt spid="36"/>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37"/>
                                        </p:tgtEl>
                                        <p:attrNameLst>
                                          <p:attrName>style.visibility</p:attrName>
                                        </p:attrNameLst>
                                      </p:cBhvr>
                                      <p:to>
                                        <p:strVal val="visible"/>
                                      </p:to>
                                    </p:set>
                                    <p:animEffect transition="in" filter="fade">
                                      <p:cBhvr>
                                        <p:cTn id="115" dur="4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p:bldP spid="9" grpId="0"/>
      <p:bldP spid="12" grpId="0"/>
      <p:bldP spid="14" grpId="0"/>
      <p:bldP spid="15" grpId="0"/>
      <p:bldP spid="16" grpId="0"/>
      <p:bldP spid="19" grpId="0"/>
      <p:bldP spid="21" grpId="0"/>
      <p:bldP spid="22" grpId="0"/>
      <p:bldP spid="23" grpId="0"/>
      <p:bldP spid="26" grpId="0"/>
      <p:bldP spid="28" grpId="0"/>
      <p:bldP spid="29" grpId="0"/>
      <p:bldP spid="30" grpId="0"/>
      <p:bldP spid="33" grpId="0"/>
      <p:bldP spid="35" grpId="0"/>
      <p:bldP spid="36" grpId="0"/>
      <p:bldP spid="37" grpId="0"/>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2"/>
                </a:solidFill>
              </a:rPr>
              <a:t>What one request delivers</a:t>
            </a:r>
            <a:endParaRPr lang="en-US" sz="3000" dirty="0"/>
          </a:p>
        </p:txBody>
      </p:sp>
      <p:sp>
        <p:nvSpPr>
          <p:cNvPr id="3" name="a1_del0_card"/>
          <p:cNvSpPr/>
          <p:nvPr/>
        </p:nvSpPr>
        <p:spPr>
          <a:xfrm>
            <a:off x="548640" y="1371600"/>
            <a:ext cx="2606040" cy="1965960"/>
          </a:xfrm>
          <a:prstGeom prst="roundRect">
            <a:avLst>
              <a:gd name="adj" fmla="val 5581"/>
            </a:avLst>
          </a:prstGeom>
          <a:solidFill>
            <a:schemeClr val="bg2"/>
          </a:solidFill>
          <a:ln w="12700">
            <a:solidFill>
              <a:schemeClr val="bg2"/>
            </a:solidFill>
            <a:prstDash val="solid"/>
          </a:ln>
          <a:effectLst>
            <a:outerShdw sx="100000" sy="100000" kx="0" ky="0" algn="bl" rotWithShape="0" blurRad="76200" dist="25400" dir="5400000">
              <a:srgbClr val="7F9DB9">
                <a:alpha val="25000"/>
              </a:srgbClr>
            </a:outerShdw>
          </a:effectLst>
        </p:spPr>
      </p:sp>
      <p:sp>
        <p:nvSpPr>
          <p:cNvPr id="4" name="a1_del0_circle"/>
          <p:cNvSpPr/>
          <p:nvPr/>
        </p:nvSpPr>
        <p:spPr>
          <a:xfrm>
            <a:off x="822960" y="1645920"/>
            <a:ext cx="640080" cy="640080"/>
          </a:xfrm>
          <a:prstGeom prst="ellipse">
            <a:avLst/>
          </a:prstGeom>
          <a:solidFill>
            <a:schemeClr val="accent1"/>
          </a:solidFill>
          <a:ln w="12700">
            <a:solidFill>
              <a:schemeClr val="accent1"/>
            </a:solidFill>
            <a:prstDash val="solid"/>
          </a:ln>
        </p:spPr>
      </p:sp>
      <p:pic>
        <p:nvPicPr>
          <p:cNvPr id="5" name="a1_del0_icon" descr="preencoded.png">    </p:cNvPr>
          <p:cNvPicPr>
            <a:picLocks noChangeAspect="1"/>
          </p:cNvPicPr>
          <p:nvPr/>
        </p:nvPicPr>
        <p:blipFill>
          <a:blip r:embed="rId1"/>
          <a:stretch>
            <a:fillRect/>
          </a:stretch>
        </p:blipFill>
        <p:spPr>
          <a:xfrm>
            <a:off x="976579" y="1799539"/>
            <a:ext cx="332842" cy="332842"/>
          </a:xfrm>
          <a:prstGeom prst="rect">
            <a:avLst/>
          </a:prstGeom>
        </p:spPr>
      </p:pic>
      <p:sp>
        <p:nvSpPr>
          <p:cNvPr id="6" name="a1_del0_title"/>
          <p:cNvSpPr txBox="1"/>
          <p:nvPr/>
        </p:nvSpPr>
        <p:spPr>
          <a:xfrm>
            <a:off x="822960" y="2377440"/>
            <a:ext cx="2194560" cy="365760"/>
          </a:xfrm>
          <a:prstGeom prst="rect">
            <a:avLst/>
          </a:prstGeom>
          <a:noFill/>
          <a:ln/>
        </p:spPr>
        <p:txBody>
          <a:bodyPr wrap="square" lIns="0" tIns="0" rIns="0" bIns="0" rtlCol="0" anchor="t"/>
          <a:lstStyle/>
          <a:p>
            <a:pPr indent="0" marL="0">
              <a:buNone/>
            </a:pPr>
            <a:r>
              <a:rPr lang="en-US" sz="1600" b="1" dirty="0">
                <a:solidFill>
                  <a:schemeClr val="tx2"/>
                </a:solidFill>
              </a:rPr>
              <a:t>Standard name</a:t>
            </a:r>
            <a:endParaRPr lang="en-US" sz="1600" dirty="0"/>
          </a:p>
        </p:txBody>
      </p:sp>
      <p:sp>
        <p:nvSpPr>
          <p:cNvPr id="7" name="a1_del0_text"/>
          <p:cNvSpPr txBox="1"/>
          <p:nvPr/>
        </p:nvSpPr>
        <p:spPr>
          <a:xfrm>
            <a:off x="822960" y="2743200"/>
            <a:ext cx="2194560" cy="548640"/>
          </a:xfrm>
          <a:prstGeom prst="rect">
            <a:avLst/>
          </a:prstGeom>
          <a:noFill/>
          <a:ln/>
        </p:spPr>
        <p:txBody>
          <a:bodyPr wrap="square" lIns="0" tIns="0" rIns="0" bIns="0" rtlCol="0" anchor="t"/>
          <a:lstStyle/>
          <a:p>
            <a:pPr indent="0" marL="0">
              <a:buNone/>
            </a:pPr>
            <a:r>
              <a:rPr lang="en-US" sz="1300" dirty="0">
                <a:solidFill>
                  <a:schemeClr val="tx1"/>
                </a:solidFill>
              </a:rPr>
              <a:t>APPCAT-ENV-BOR-name, prefix enforced</a:t>
            </a:r>
            <a:endParaRPr lang="en-US" sz="1300" dirty="0"/>
          </a:p>
        </p:txBody>
      </p:sp>
      <p:sp>
        <p:nvSpPr>
          <p:cNvPr id="8" name="a1_del1_card"/>
          <p:cNvSpPr/>
          <p:nvPr/>
        </p:nvSpPr>
        <p:spPr>
          <a:xfrm>
            <a:off x="3355848" y="1371600"/>
            <a:ext cx="2606040" cy="1965960"/>
          </a:xfrm>
          <a:prstGeom prst="roundRect">
            <a:avLst>
              <a:gd name="adj" fmla="val 5581"/>
            </a:avLst>
          </a:prstGeom>
          <a:solidFill>
            <a:schemeClr val="bg2"/>
          </a:solidFill>
          <a:ln w="12700">
            <a:solidFill>
              <a:schemeClr val="bg2"/>
            </a:solidFill>
            <a:prstDash val="solid"/>
          </a:ln>
          <a:effectLst>
            <a:outerShdw sx="100000" sy="100000" kx="0" ky="0" algn="bl" rotWithShape="0" blurRad="76200" dist="25400" dir="5400000">
              <a:srgbClr val="7F9DB9">
                <a:alpha val="25000"/>
              </a:srgbClr>
            </a:outerShdw>
          </a:effectLst>
        </p:spPr>
      </p:sp>
      <p:sp>
        <p:nvSpPr>
          <p:cNvPr id="9" name="a1_del1_circle"/>
          <p:cNvSpPr/>
          <p:nvPr/>
        </p:nvSpPr>
        <p:spPr>
          <a:xfrm>
            <a:off x="3630168" y="1645920"/>
            <a:ext cx="640080" cy="640080"/>
          </a:xfrm>
          <a:prstGeom prst="ellipse">
            <a:avLst/>
          </a:prstGeom>
          <a:solidFill>
            <a:schemeClr val="accent1"/>
          </a:solidFill>
          <a:ln w="12700">
            <a:solidFill>
              <a:schemeClr val="accent1"/>
            </a:solidFill>
            <a:prstDash val="solid"/>
          </a:ln>
        </p:spPr>
      </p:sp>
      <p:pic>
        <p:nvPicPr>
          <p:cNvPr id="10" name="a1_del1_icon" descr="preencoded.png">    </p:cNvPr>
          <p:cNvPicPr>
            <a:picLocks noChangeAspect="1"/>
          </p:cNvPicPr>
          <p:nvPr/>
        </p:nvPicPr>
        <p:blipFill>
          <a:blip r:embed="rId2"/>
          <a:stretch>
            <a:fillRect/>
          </a:stretch>
        </p:blipFill>
        <p:spPr>
          <a:xfrm>
            <a:off x="3783787" y="1799539"/>
            <a:ext cx="332842" cy="332842"/>
          </a:xfrm>
          <a:prstGeom prst="rect">
            <a:avLst/>
          </a:prstGeom>
        </p:spPr>
      </p:pic>
      <p:sp>
        <p:nvSpPr>
          <p:cNvPr id="11" name="a1_del1_title"/>
          <p:cNvSpPr txBox="1"/>
          <p:nvPr/>
        </p:nvSpPr>
        <p:spPr>
          <a:xfrm>
            <a:off x="3630168" y="2377440"/>
            <a:ext cx="2194560" cy="365760"/>
          </a:xfrm>
          <a:prstGeom prst="rect">
            <a:avLst/>
          </a:prstGeom>
          <a:noFill/>
          <a:ln/>
        </p:spPr>
        <p:txBody>
          <a:bodyPr wrap="square" lIns="0" tIns="0" rIns="0" bIns="0" rtlCol="0" anchor="t"/>
          <a:lstStyle/>
          <a:p>
            <a:pPr indent="0" marL="0">
              <a:buNone/>
            </a:pPr>
            <a:r>
              <a:rPr lang="en-US" sz="1600" b="1" dirty="0">
                <a:solidFill>
                  <a:schemeClr val="tx2"/>
                </a:solidFill>
              </a:rPr>
              <a:t>Application ID URI</a:t>
            </a:r>
            <a:endParaRPr lang="en-US" sz="1600" dirty="0"/>
          </a:p>
        </p:txBody>
      </p:sp>
      <p:sp>
        <p:nvSpPr>
          <p:cNvPr id="12" name="a1_del1_text"/>
          <p:cNvSpPr txBox="1"/>
          <p:nvPr/>
        </p:nvSpPr>
        <p:spPr>
          <a:xfrm>
            <a:off x="3630168" y="2743200"/>
            <a:ext cx="2194560" cy="548640"/>
          </a:xfrm>
          <a:prstGeom prst="rect">
            <a:avLst/>
          </a:prstGeom>
          <a:noFill/>
          <a:ln/>
        </p:spPr>
        <p:txBody>
          <a:bodyPr wrap="square" lIns="0" tIns="0" rIns="0" bIns="0" rtlCol="0" anchor="t"/>
          <a:lstStyle/>
          <a:p>
            <a:pPr indent="0" marL="0">
              <a:buNone/>
            </a:pPr>
            <a:r>
              <a:rPr lang="en-US" sz="1300" dirty="0">
                <a:solidFill>
                  <a:schemeClr val="tx1"/>
                </a:solidFill>
              </a:rPr>
              <a:t>api://{appId} or custom</a:t>
            </a:r>
            <a:endParaRPr lang="en-US" sz="1300" dirty="0"/>
          </a:p>
        </p:txBody>
      </p:sp>
      <p:sp>
        <p:nvSpPr>
          <p:cNvPr id="13" name="a1_del2_card"/>
          <p:cNvSpPr/>
          <p:nvPr/>
        </p:nvSpPr>
        <p:spPr>
          <a:xfrm>
            <a:off x="6163056" y="1371600"/>
            <a:ext cx="2606040" cy="1965960"/>
          </a:xfrm>
          <a:prstGeom prst="roundRect">
            <a:avLst>
              <a:gd name="adj" fmla="val 5581"/>
            </a:avLst>
          </a:prstGeom>
          <a:solidFill>
            <a:schemeClr val="bg2"/>
          </a:solidFill>
          <a:ln w="12700">
            <a:solidFill>
              <a:schemeClr val="bg2"/>
            </a:solidFill>
            <a:prstDash val="solid"/>
          </a:ln>
          <a:effectLst>
            <a:outerShdw sx="100000" sy="100000" kx="0" ky="0" algn="bl" rotWithShape="0" blurRad="76200" dist="25400" dir="5400000">
              <a:srgbClr val="7F9DB9">
                <a:alpha val="25000"/>
              </a:srgbClr>
            </a:outerShdw>
          </a:effectLst>
        </p:spPr>
      </p:sp>
      <p:sp>
        <p:nvSpPr>
          <p:cNvPr id="14" name="a1_del2_circle"/>
          <p:cNvSpPr/>
          <p:nvPr/>
        </p:nvSpPr>
        <p:spPr>
          <a:xfrm>
            <a:off x="6437376" y="1645920"/>
            <a:ext cx="640080" cy="640080"/>
          </a:xfrm>
          <a:prstGeom prst="ellipse">
            <a:avLst/>
          </a:prstGeom>
          <a:solidFill>
            <a:schemeClr val="accent1"/>
          </a:solidFill>
          <a:ln w="12700">
            <a:solidFill>
              <a:schemeClr val="accent1"/>
            </a:solidFill>
            <a:prstDash val="solid"/>
          </a:ln>
        </p:spPr>
      </p:sp>
      <p:pic>
        <p:nvPicPr>
          <p:cNvPr id="15" name="a1_del2_icon" descr="preencoded.png">    </p:cNvPr>
          <p:cNvPicPr>
            <a:picLocks noChangeAspect="1"/>
          </p:cNvPicPr>
          <p:nvPr/>
        </p:nvPicPr>
        <p:blipFill>
          <a:blip r:embed="rId3"/>
          <a:stretch>
            <a:fillRect/>
          </a:stretch>
        </p:blipFill>
        <p:spPr>
          <a:xfrm>
            <a:off x="6590995" y="1799539"/>
            <a:ext cx="332842" cy="332842"/>
          </a:xfrm>
          <a:prstGeom prst="rect">
            <a:avLst/>
          </a:prstGeom>
        </p:spPr>
      </p:pic>
      <p:sp>
        <p:nvSpPr>
          <p:cNvPr id="16" name="a1_del2_title"/>
          <p:cNvSpPr txBox="1"/>
          <p:nvPr/>
        </p:nvSpPr>
        <p:spPr>
          <a:xfrm>
            <a:off x="6437376" y="2377440"/>
            <a:ext cx="2194560" cy="365760"/>
          </a:xfrm>
          <a:prstGeom prst="rect">
            <a:avLst/>
          </a:prstGeom>
          <a:noFill/>
          <a:ln/>
        </p:spPr>
        <p:txBody>
          <a:bodyPr wrap="square" lIns="0" tIns="0" rIns="0" bIns="0" rtlCol="0" anchor="t"/>
          <a:lstStyle/>
          <a:p>
            <a:pPr indent="0" marL="0">
              <a:buNone/>
            </a:pPr>
            <a:r>
              <a:rPr lang="en-US" sz="1600" b="1" dirty="0">
                <a:solidFill>
                  <a:schemeClr val="tx2"/>
                </a:solidFill>
              </a:rPr>
              <a:t>Scopes</a:t>
            </a:r>
            <a:endParaRPr lang="en-US" sz="1600" dirty="0"/>
          </a:p>
        </p:txBody>
      </p:sp>
      <p:sp>
        <p:nvSpPr>
          <p:cNvPr id="17" name="a1_del2_text"/>
          <p:cNvSpPr txBox="1"/>
          <p:nvPr/>
        </p:nvSpPr>
        <p:spPr>
          <a:xfrm>
            <a:off x="6437376" y="2743200"/>
            <a:ext cx="2194560" cy="548640"/>
          </a:xfrm>
          <a:prstGeom prst="rect">
            <a:avLst/>
          </a:prstGeom>
          <a:noFill/>
          <a:ln/>
        </p:spPr>
        <p:txBody>
          <a:bodyPr wrap="square" lIns="0" tIns="0" rIns="0" bIns="0" rtlCol="0" anchor="t"/>
          <a:lstStyle/>
          <a:p>
            <a:pPr indent="0" marL="0">
              <a:buNone/>
            </a:pPr>
            <a:r>
              <a:rPr lang="en-US" sz="1300" dirty="0">
                <a:solidFill>
                  <a:schemeClr val="tx1"/>
                </a:solidFill>
              </a:rPr>
              <a:t>e.g. access_as_user for delegated access</a:t>
            </a:r>
            <a:endParaRPr lang="en-US" sz="1300" dirty="0"/>
          </a:p>
        </p:txBody>
      </p:sp>
      <p:sp>
        <p:nvSpPr>
          <p:cNvPr id="18" name="a1_del3_card"/>
          <p:cNvSpPr/>
          <p:nvPr/>
        </p:nvSpPr>
        <p:spPr>
          <a:xfrm>
            <a:off x="8970264" y="1371600"/>
            <a:ext cx="2606040" cy="1965960"/>
          </a:xfrm>
          <a:prstGeom prst="roundRect">
            <a:avLst>
              <a:gd name="adj" fmla="val 5581"/>
            </a:avLst>
          </a:prstGeom>
          <a:solidFill>
            <a:schemeClr val="bg2"/>
          </a:solidFill>
          <a:ln w="12700">
            <a:solidFill>
              <a:schemeClr val="bg2"/>
            </a:solidFill>
            <a:prstDash val="solid"/>
          </a:ln>
          <a:effectLst>
            <a:outerShdw sx="100000" sy="100000" kx="0" ky="0" algn="bl" rotWithShape="0" blurRad="76200" dist="25400" dir="5400000">
              <a:srgbClr val="7F9DB9">
                <a:alpha val="25000"/>
              </a:srgbClr>
            </a:outerShdw>
          </a:effectLst>
        </p:spPr>
      </p:sp>
      <p:sp>
        <p:nvSpPr>
          <p:cNvPr id="19" name="a1_del3_circle"/>
          <p:cNvSpPr/>
          <p:nvPr/>
        </p:nvSpPr>
        <p:spPr>
          <a:xfrm>
            <a:off x="9244584" y="1645920"/>
            <a:ext cx="640080" cy="640080"/>
          </a:xfrm>
          <a:prstGeom prst="ellipse">
            <a:avLst/>
          </a:prstGeom>
          <a:solidFill>
            <a:schemeClr val="accent1"/>
          </a:solidFill>
          <a:ln w="12700">
            <a:solidFill>
              <a:schemeClr val="accent1"/>
            </a:solidFill>
            <a:prstDash val="solid"/>
          </a:ln>
        </p:spPr>
      </p:sp>
      <p:pic>
        <p:nvPicPr>
          <p:cNvPr id="20" name="a1_del3_icon" descr="preencoded.png">    </p:cNvPr>
          <p:cNvPicPr>
            <a:picLocks noChangeAspect="1"/>
          </p:cNvPicPr>
          <p:nvPr/>
        </p:nvPicPr>
        <p:blipFill>
          <a:blip r:embed="rId4"/>
          <a:stretch>
            <a:fillRect/>
          </a:stretch>
        </p:blipFill>
        <p:spPr>
          <a:xfrm>
            <a:off x="9398203" y="1799539"/>
            <a:ext cx="332842" cy="332842"/>
          </a:xfrm>
          <a:prstGeom prst="rect">
            <a:avLst/>
          </a:prstGeom>
        </p:spPr>
      </p:pic>
      <p:sp>
        <p:nvSpPr>
          <p:cNvPr id="21" name="a1_del3_title"/>
          <p:cNvSpPr txBox="1"/>
          <p:nvPr/>
        </p:nvSpPr>
        <p:spPr>
          <a:xfrm>
            <a:off x="9244584" y="2377440"/>
            <a:ext cx="2194560" cy="365760"/>
          </a:xfrm>
          <a:prstGeom prst="rect">
            <a:avLst/>
          </a:prstGeom>
          <a:noFill/>
          <a:ln/>
        </p:spPr>
        <p:txBody>
          <a:bodyPr wrap="square" lIns="0" tIns="0" rIns="0" bIns="0" rtlCol="0" anchor="t"/>
          <a:lstStyle/>
          <a:p>
            <a:pPr indent="0" marL="0">
              <a:buNone/>
            </a:pPr>
            <a:r>
              <a:rPr lang="en-US" sz="1600" b="1" dirty="0">
                <a:solidFill>
                  <a:schemeClr val="tx2"/>
                </a:solidFill>
              </a:rPr>
              <a:t>App roles</a:t>
            </a:r>
            <a:endParaRPr lang="en-US" sz="1600" dirty="0"/>
          </a:p>
        </p:txBody>
      </p:sp>
      <p:sp>
        <p:nvSpPr>
          <p:cNvPr id="22" name="a1_del3_text"/>
          <p:cNvSpPr txBox="1"/>
          <p:nvPr/>
        </p:nvSpPr>
        <p:spPr>
          <a:xfrm>
            <a:off x="9244584" y="2743200"/>
            <a:ext cx="2194560" cy="548640"/>
          </a:xfrm>
          <a:prstGeom prst="rect">
            <a:avLst/>
          </a:prstGeom>
          <a:noFill/>
          <a:ln/>
        </p:spPr>
        <p:txBody>
          <a:bodyPr wrap="square" lIns="0" tIns="0" rIns="0" bIns="0" rtlCol="0" anchor="t"/>
          <a:lstStyle/>
          <a:p>
            <a:pPr indent="0" marL="0">
              <a:buNone/>
            </a:pPr>
            <a:r>
              <a:rPr lang="en-US" sz="1300" dirty="0">
                <a:solidFill>
                  <a:schemeClr val="tx1"/>
                </a:solidFill>
              </a:rPr>
              <a:t>User / Admin or custom roles</a:t>
            </a:r>
            <a:endParaRPr lang="en-US" sz="1300" dirty="0"/>
          </a:p>
        </p:txBody>
      </p:sp>
      <p:sp>
        <p:nvSpPr>
          <p:cNvPr id="23" name="a2_del4_card"/>
          <p:cNvSpPr/>
          <p:nvPr/>
        </p:nvSpPr>
        <p:spPr>
          <a:xfrm>
            <a:off x="548640" y="3611880"/>
            <a:ext cx="2606040" cy="1965960"/>
          </a:xfrm>
          <a:prstGeom prst="roundRect">
            <a:avLst>
              <a:gd name="adj" fmla="val 5581"/>
            </a:avLst>
          </a:prstGeom>
          <a:solidFill>
            <a:schemeClr val="bg2"/>
          </a:solidFill>
          <a:ln w="12700">
            <a:solidFill>
              <a:schemeClr val="bg2"/>
            </a:solidFill>
            <a:prstDash val="solid"/>
          </a:ln>
          <a:effectLst>
            <a:outerShdw sx="100000" sy="100000" kx="0" ky="0" algn="bl" rotWithShape="0" blurRad="76200" dist="25400" dir="5400000">
              <a:srgbClr val="7F9DB9">
                <a:alpha val="25000"/>
              </a:srgbClr>
            </a:outerShdw>
          </a:effectLst>
        </p:spPr>
      </p:sp>
      <p:sp>
        <p:nvSpPr>
          <p:cNvPr id="24" name="a2_del4_circle"/>
          <p:cNvSpPr/>
          <p:nvPr/>
        </p:nvSpPr>
        <p:spPr>
          <a:xfrm>
            <a:off x="822960" y="3886200"/>
            <a:ext cx="640080" cy="640080"/>
          </a:xfrm>
          <a:prstGeom prst="ellipse">
            <a:avLst/>
          </a:prstGeom>
          <a:solidFill>
            <a:schemeClr val="accent1"/>
          </a:solidFill>
          <a:ln w="12700">
            <a:solidFill>
              <a:schemeClr val="accent1"/>
            </a:solidFill>
            <a:prstDash val="solid"/>
          </a:ln>
        </p:spPr>
      </p:sp>
      <p:pic>
        <p:nvPicPr>
          <p:cNvPr id="25" name="a2_del4_icon" descr="preencoded.png">    </p:cNvPr>
          <p:cNvPicPr>
            <a:picLocks noChangeAspect="1"/>
          </p:cNvPicPr>
          <p:nvPr/>
        </p:nvPicPr>
        <p:blipFill>
          <a:blip r:embed="rId5"/>
          <a:stretch>
            <a:fillRect/>
          </a:stretch>
        </p:blipFill>
        <p:spPr>
          <a:xfrm>
            <a:off x="976579" y="4039819"/>
            <a:ext cx="332842" cy="332842"/>
          </a:xfrm>
          <a:prstGeom prst="rect">
            <a:avLst/>
          </a:prstGeom>
        </p:spPr>
      </p:pic>
      <p:sp>
        <p:nvSpPr>
          <p:cNvPr id="26" name="a2_del4_title"/>
          <p:cNvSpPr txBox="1"/>
          <p:nvPr/>
        </p:nvSpPr>
        <p:spPr>
          <a:xfrm>
            <a:off x="822960" y="4617720"/>
            <a:ext cx="2194560" cy="365760"/>
          </a:xfrm>
          <a:prstGeom prst="rect">
            <a:avLst/>
          </a:prstGeom>
          <a:noFill/>
          <a:ln/>
        </p:spPr>
        <p:txBody>
          <a:bodyPr wrap="square" lIns="0" tIns="0" rIns="0" bIns="0" rtlCol="0" anchor="t"/>
          <a:lstStyle/>
          <a:p>
            <a:pPr indent="0" marL="0">
              <a:buNone/>
            </a:pPr>
            <a:r>
              <a:rPr lang="en-US" sz="1600" b="1" dirty="0">
                <a:solidFill>
                  <a:schemeClr val="tx2"/>
                </a:solidFill>
              </a:rPr>
              <a:t>Role assignments</a:t>
            </a:r>
            <a:endParaRPr lang="en-US" sz="1600" dirty="0"/>
          </a:p>
        </p:txBody>
      </p:sp>
      <p:sp>
        <p:nvSpPr>
          <p:cNvPr id="27" name="a2_del4_text"/>
          <p:cNvSpPr txBox="1"/>
          <p:nvPr/>
        </p:nvSpPr>
        <p:spPr>
          <a:xfrm>
            <a:off x="822960" y="4983480"/>
            <a:ext cx="2194560" cy="548640"/>
          </a:xfrm>
          <a:prstGeom prst="rect">
            <a:avLst/>
          </a:prstGeom>
          <a:noFill/>
          <a:ln/>
        </p:spPr>
        <p:txBody>
          <a:bodyPr wrap="square" lIns="0" tIns="0" rIns="0" bIns="0" rtlCol="0" anchor="t"/>
          <a:lstStyle/>
          <a:p>
            <a:pPr indent="0" marL="0">
              <a:buNone/>
            </a:pPr>
            <a:r>
              <a:rPr lang="en-US" sz="1300" dirty="0">
                <a:solidFill>
                  <a:schemeClr val="tx1"/>
                </a:solidFill>
              </a:rPr>
              <a:t>Existing groups hold each role</a:t>
            </a:r>
            <a:endParaRPr lang="en-US" sz="1300" dirty="0"/>
          </a:p>
        </p:txBody>
      </p:sp>
      <p:sp>
        <p:nvSpPr>
          <p:cNvPr id="28" name="a2_del5_card"/>
          <p:cNvSpPr/>
          <p:nvPr/>
        </p:nvSpPr>
        <p:spPr>
          <a:xfrm>
            <a:off x="3355848" y="3611880"/>
            <a:ext cx="2606040" cy="1965960"/>
          </a:xfrm>
          <a:prstGeom prst="roundRect">
            <a:avLst>
              <a:gd name="adj" fmla="val 5581"/>
            </a:avLst>
          </a:prstGeom>
          <a:solidFill>
            <a:schemeClr val="bg2"/>
          </a:solidFill>
          <a:ln w="12700">
            <a:solidFill>
              <a:schemeClr val="bg2"/>
            </a:solidFill>
            <a:prstDash val="solid"/>
          </a:ln>
          <a:effectLst>
            <a:outerShdw sx="100000" sy="100000" kx="0" ky="0" algn="bl" rotWithShape="0" blurRad="76200" dist="25400" dir="5400000">
              <a:srgbClr val="7F9DB9">
                <a:alpha val="25000"/>
              </a:srgbClr>
            </a:outerShdw>
          </a:effectLst>
        </p:spPr>
      </p:sp>
      <p:sp>
        <p:nvSpPr>
          <p:cNvPr id="29" name="a2_del5_circle"/>
          <p:cNvSpPr/>
          <p:nvPr/>
        </p:nvSpPr>
        <p:spPr>
          <a:xfrm>
            <a:off x="3630168" y="3886200"/>
            <a:ext cx="640080" cy="640080"/>
          </a:xfrm>
          <a:prstGeom prst="ellipse">
            <a:avLst/>
          </a:prstGeom>
          <a:solidFill>
            <a:schemeClr val="accent1"/>
          </a:solidFill>
          <a:ln w="12700">
            <a:solidFill>
              <a:schemeClr val="accent1"/>
            </a:solidFill>
            <a:prstDash val="solid"/>
          </a:ln>
        </p:spPr>
      </p:sp>
      <p:pic>
        <p:nvPicPr>
          <p:cNvPr id="30" name="a2_del5_icon" descr="preencoded.png">    </p:cNvPr>
          <p:cNvPicPr>
            <a:picLocks noChangeAspect="1"/>
          </p:cNvPicPr>
          <p:nvPr/>
        </p:nvPicPr>
        <p:blipFill>
          <a:blip r:embed="rId6"/>
          <a:stretch>
            <a:fillRect/>
          </a:stretch>
        </p:blipFill>
        <p:spPr>
          <a:xfrm>
            <a:off x="3783787" y="4039819"/>
            <a:ext cx="332842" cy="332842"/>
          </a:xfrm>
          <a:prstGeom prst="rect">
            <a:avLst/>
          </a:prstGeom>
        </p:spPr>
      </p:pic>
      <p:sp>
        <p:nvSpPr>
          <p:cNvPr id="31" name="a2_del5_title"/>
          <p:cNvSpPr txBox="1"/>
          <p:nvPr/>
        </p:nvSpPr>
        <p:spPr>
          <a:xfrm>
            <a:off x="3630168" y="4617720"/>
            <a:ext cx="2194560" cy="365760"/>
          </a:xfrm>
          <a:prstGeom prst="rect">
            <a:avLst/>
          </a:prstGeom>
          <a:noFill/>
          <a:ln/>
        </p:spPr>
        <p:txBody>
          <a:bodyPr wrap="square" lIns="0" tIns="0" rIns="0" bIns="0" rtlCol="0" anchor="t"/>
          <a:lstStyle/>
          <a:p>
            <a:pPr indent="0" marL="0">
              <a:buNone/>
            </a:pPr>
            <a:r>
              <a:rPr lang="en-US" sz="1600" b="1" dirty="0">
                <a:solidFill>
                  <a:schemeClr val="tx2"/>
                </a:solidFill>
              </a:rPr>
              <a:t>Enterprise app</a:t>
            </a:r>
            <a:endParaRPr lang="en-US" sz="1600" dirty="0"/>
          </a:p>
        </p:txBody>
      </p:sp>
      <p:sp>
        <p:nvSpPr>
          <p:cNvPr id="32" name="a2_del5_text"/>
          <p:cNvSpPr txBox="1"/>
          <p:nvPr/>
        </p:nvSpPr>
        <p:spPr>
          <a:xfrm>
            <a:off x="3630168" y="4983480"/>
            <a:ext cx="2194560" cy="548640"/>
          </a:xfrm>
          <a:prstGeom prst="rect">
            <a:avLst/>
          </a:prstGeom>
          <a:noFill/>
          <a:ln/>
        </p:spPr>
        <p:txBody>
          <a:bodyPr wrap="square" lIns="0" tIns="0" rIns="0" bIns="0" rtlCol="0" anchor="t"/>
          <a:lstStyle/>
          <a:p>
            <a:pPr indent="0" marL="0">
              <a:buNone/>
            </a:pPr>
            <a:r>
              <a:rPr lang="en-US" sz="1300" dirty="0">
                <a:solidFill>
                  <a:schemeClr val="tx1"/>
                </a:solidFill>
              </a:rPr>
              <a:t>Created for the app, assignment required</a:t>
            </a:r>
            <a:endParaRPr lang="en-US" sz="1300" dirty="0"/>
          </a:p>
        </p:txBody>
      </p:sp>
      <p:sp>
        <p:nvSpPr>
          <p:cNvPr id="33" name="a2_del6_card"/>
          <p:cNvSpPr/>
          <p:nvPr/>
        </p:nvSpPr>
        <p:spPr>
          <a:xfrm>
            <a:off x="6163056" y="3611880"/>
            <a:ext cx="2606040" cy="1965960"/>
          </a:xfrm>
          <a:prstGeom prst="roundRect">
            <a:avLst>
              <a:gd name="adj" fmla="val 5581"/>
            </a:avLst>
          </a:prstGeom>
          <a:solidFill>
            <a:schemeClr val="bg2"/>
          </a:solidFill>
          <a:ln w="12700">
            <a:solidFill>
              <a:schemeClr val="bg2"/>
            </a:solidFill>
            <a:prstDash val="solid"/>
          </a:ln>
          <a:effectLst>
            <a:outerShdw sx="100000" sy="100000" kx="0" ky="0" algn="bl" rotWithShape="0" blurRad="76200" dist="25400" dir="5400000">
              <a:srgbClr val="7F9DB9">
                <a:alpha val="25000"/>
              </a:srgbClr>
            </a:outerShdw>
          </a:effectLst>
        </p:spPr>
      </p:sp>
      <p:sp>
        <p:nvSpPr>
          <p:cNvPr id="34" name="a2_del6_circle"/>
          <p:cNvSpPr/>
          <p:nvPr/>
        </p:nvSpPr>
        <p:spPr>
          <a:xfrm>
            <a:off x="6437376" y="3886200"/>
            <a:ext cx="640080" cy="640080"/>
          </a:xfrm>
          <a:prstGeom prst="ellipse">
            <a:avLst/>
          </a:prstGeom>
          <a:solidFill>
            <a:schemeClr val="accent1"/>
          </a:solidFill>
          <a:ln w="12700">
            <a:solidFill>
              <a:schemeClr val="accent1"/>
            </a:solidFill>
            <a:prstDash val="solid"/>
          </a:ln>
        </p:spPr>
      </p:sp>
      <p:pic>
        <p:nvPicPr>
          <p:cNvPr id="35" name="a2_del6_icon" descr="preencoded.png">    </p:cNvPr>
          <p:cNvPicPr>
            <a:picLocks noChangeAspect="1"/>
          </p:cNvPicPr>
          <p:nvPr/>
        </p:nvPicPr>
        <p:blipFill>
          <a:blip r:embed="rId7"/>
          <a:stretch>
            <a:fillRect/>
          </a:stretch>
        </p:blipFill>
        <p:spPr>
          <a:xfrm>
            <a:off x="6590995" y="4039819"/>
            <a:ext cx="332842" cy="332842"/>
          </a:xfrm>
          <a:prstGeom prst="rect">
            <a:avLst/>
          </a:prstGeom>
        </p:spPr>
      </p:pic>
      <p:sp>
        <p:nvSpPr>
          <p:cNvPr id="36" name="a2_del6_title"/>
          <p:cNvSpPr txBox="1"/>
          <p:nvPr/>
        </p:nvSpPr>
        <p:spPr>
          <a:xfrm>
            <a:off x="6437376" y="4617720"/>
            <a:ext cx="2194560" cy="365760"/>
          </a:xfrm>
          <a:prstGeom prst="rect">
            <a:avLst/>
          </a:prstGeom>
          <a:noFill/>
          <a:ln/>
        </p:spPr>
        <p:txBody>
          <a:bodyPr wrap="square" lIns="0" tIns="0" rIns="0" bIns="0" rtlCol="0" anchor="t"/>
          <a:lstStyle/>
          <a:p>
            <a:pPr indent="0" marL="0">
              <a:buNone/>
            </a:pPr>
            <a:r>
              <a:rPr lang="en-US" sz="1600" b="1" dirty="0">
                <a:solidFill>
                  <a:schemeClr val="tx2"/>
                </a:solidFill>
              </a:rPr>
              <a:t>Token claims &amp; URIs</a:t>
            </a:r>
            <a:endParaRPr lang="en-US" sz="1600" dirty="0"/>
          </a:p>
        </p:txBody>
      </p:sp>
      <p:sp>
        <p:nvSpPr>
          <p:cNvPr id="37" name="a2_del6_text"/>
          <p:cNvSpPr txBox="1"/>
          <p:nvPr/>
        </p:nvSpPr>
        <p:spPr>
          <a:xfrm>
            <a:off x="6437376" y="4983480"/>
            <a:ext cx="2194560" cy="548640"/>
          </a:xfrm>
          <a:prstGeom prst="rect">
            <a:avLst/>
          </a:prstGeom>
          <a:noFill/>
          <a:ln/>
        </p:spPr>
        <p:txBody>
          <a:bodyPr wrap="square" lIns="0" tIns="0" rIns="0" bIns="0" rtlCol="0" anchor="t"/>
          <a:lstStyle/>
          <a:p>
            <a:pPr indent="0" marL="0">
              <a:buNone/>
            </a:pPr>
            <a:r>
              <a:rPr lang="en-US" sz="1300" dirty="0">
                <a:solidFill>
                  <a:schemeClr val="tx1"/>
                </a:solidFill>
              </a:rPr>
              <a:t>Optional claims, groups claim, redirect URIs</a:t>
            </a:r>
            <a:endParaRPr lang="en-US" sz="1300" dirty="0"/>
          </a:p>
        </p:txBody>
      </p:sp>
      <p:sp>
        <p:nvSpPr>
          <p:cNvPr id="38" name="a2_del7_card"/>
          <p:cNvSpPr/>
          <p:nvPr/>
        </p:nvSpPr>
        <p:spPr>
          <a:xfrm>
            <a:off x="8970264" y="3611880"/>
            <a:ext cx="2606040" cy="1965960"/>
          </a:xfrm>
          <a:prstGeom prst="roundRect">
            <a:avLst>
              <a:gd name="adj" fmla="val 5581"/>
            </a:avLst>
          </a:prstGeom>
          <a:solidFill>
            <a:schemeClr val="bg2"/>
          </a:solidFill>
          <a:ln w="12700">
            <a:solidFill>
              <a:schemeClr val="bg2"/>
            </a:solidFill>
            <a:prstDash val="solid"/>
          </a:ln>
          <a:effectLst>
            <a:outerShdw sx="100000" sy="100000" kx="0" ky="0" algn="bl" rotWithShape="0" blurRad="76200" dist="25400" dir="5400000">
              <a:srgbClr val="7F9DB9">
                <a:alpha val="25000"/>
              </a:srgbClr>
            </a:outerShdw>
          </a:effectLst>
        </p:spPr>
      </p:sp>
      <p:sp>
        <p:nvSpPr>
          <p:cNvPr id="39" name="a2_del7_circle"/>
          <p:cNvSpPr/>
          <p:nvPr/>
        </p:nvSpPr>
        <p:spPr>
          <a:xfrm>
            <a:off x="9244584" y="3886200"/>
            <a:ext cx="640080" cy="640080"/>
          </a:xfrm>
          <a:prstGeom prst="ellipse">
            <a:avLst/>
          </a:prstGeom>
          <a:solidFill>
            <a:schemeClr val="accent1"/>
          </a:solidFill>
          <a:ln w="12700">
            <a:solidFill>
              <a:schemeClr val="accent1"/>
            </a:solidFill>
            <a:prstDash val="solid"/>
          </a:ln>
        </p:spPr>
      </p:sp>
      <p:pic>
        <p:nvPicPr>
          <p:cNvPr id="40" name="a2_del7_icon" descr="preencoded.png">    </p:cNvPr>
          <p:cNvPicPr>
            <a:picLocks noChangeAspect="1"/>
          </p:cNvPicPr>
          <p:nvPr/>
        </p:nvPicPr>
        <p:blipFill>
          <a:blip r:embed="rId8"/>
          <a:stretch>
            <a:fillRect/>
          </a:stretch>
        </p:blipFill>
        <p:spPr>
          <a:xfrm>
            <a:off x="9398203" y="4039819"/>
            <a:ext cx="332842" cy="332842"/>
          </a:xfrm>
          <a:prstGeom prst="rect">
            <a:avLst/>
          </a:prstGeom>
        </p:spPr>
      </p:pic>
      <p:sp>
        <p:nvSpPr>
          <p:cNvPr id="41" name="a2_del7_title"/>
          <p:cNvSpPr txBox="1"/>
          <p:nvPr/>
        </p:nvSpPr>
        <p:spPr>
          <a:xfrm>
            <a:off x="9244584" y="4617720"/>
            <a:ext cx="2194560" cy="365760"/>
          </a:xfrm>
          <a:prstGeom prst="rect">
            <a:avLst/>
          </a:prstGeom>
          <a:noFill/>
          <a:ln/>
        </p:spPr>
        <p:txBody>
          <a:bodyPr wrap="square" lIns="0" tIns="0" rIns="0" bIns="0" rtlCol="0" anchor="t"/>
          <a:lstStyle/>
          <a:p>
            <a:pPr indent="0" marL="0">
              <a:buNone/>
            </a:pPr>
            <a:r>
              <a:rPr lang="en-US" sz="1600" b="1" dirty="0">
                <a:solidFill>
                  <a:schemeClr val="tx2"/>
                </a:solidFill>
              </a:rPr>
              <a:t>Tags &amp; notes</a:t>
            </a:r>
            <a:endParaRPr lang="en-US" sz="1600" dirty="0"/>
          </a:p>
        </p:txBody>
      </p:sp>
      <p:sp>
        <p:nvSpPr>
          <p:cNvPr id="42" name="a2_del7_text"/>
          <p:cNvSpPr txBox="1"/>
          <p:nvPr/>
        </p:nvSpPr>
        <p:spPr>
          <a:xfrm>
            <a:off x="9244584" y="4983480"/>
            <a:ext cx="2194560" cy="548640"/>
          </a:xfrm>
          <a:prstGeom prst="rect">
            <a:avLst/>
          </a:prstGeom>
          <a:noFill/>
          <a:ln/>
        </p:spPr>
        <p:txBody>
          <a:bodyPr wrap="square" lIns="0" tIns="0" rIns="0" bIns="0" rtlCol="0" anchor="t"/>
          <a:lstStyle/>
          <a:p>
            <a:pPr indent="0" marL="0">
              <a:buNone/>
            </a:pPr>
            <a:r>
              <a:rPr lang="en-US" sz="1300" dirty="0">
                <a:solidFill>
                  <a:schemeClr val="tx1"/>
                </a:solidFill>
              </a:rPr>
              <a:t>Owner, appCatID, request ID, audit</a:t>
            </a:r>
            <a:endParaRPr lang="en-US" sz="13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timing>
    <p:tnLst>
      <p:par>
        <p:cTn id="1" dur="indefinite" restart="never" nodeType="tmRoot">
          <p:childTnLst>
            <p:seq concurrent="1" nextAc="seek">
              <p:cTn id="2" dur="indefinite" nodeType="mainSeq">
                <p:childTnLst>
                  <p:par>
                    <p:cTn id="63" fill="hold">
                      <p:stCondLst>
                        <p:cond delay="indefinite"/>
                      </p:stCondLst>
                      <p:childTnLst>
                        <p:par>
                          <p:cTn id="64"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400"/>
                                        <p:tgtEl>
                                          <p:spTgt spid="3"/>
                                        </p:tgtEl>
                                      </p:cBhvr>
                                    </p:animEffect>
                                  </p:childTnLst>
                                </p:cTn>
                              </p:par>
                              <p:par>
                                <p:cTn id="6" presetID="10" presetClass="entr" presetSubtype="0" fill="hold" nodeType="withEffect">
                                  <p:stCondLst>
                                    <p:cond delay="0"/>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400"/>
                                        <p:tgtEl>
                                          <p:spTgt spid="4"/>
                                        </p:tgtEl>
                                      </p:cBhvr>
                                    </p:animEffect>
                                  </p:childTnLst>
                                </p:cTn>
                              </p:par>
                              <p:par>
                                <p:cTn id="9" presetID="10" presetClass="entr" presetSubtype="0" fill="hold" nodeType="with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400"/>
                                        <p:tgtEl>
                                          <p:spTgt spid="5"/>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400"/>
                                        <p:tgtEl>
                                          <p:spTgt spid="6"/>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400"/>
                                        <p:tgtEl>
                                          <p:spTgt spid="7"/>
                                        </p:tgtEl>
                                      </p:cBhvr>
                                    </p:animEffect>
                                  </p:childTnLst>
                                </p:cTn>
                              </p:par>
                              <p:par>
                                <p:cTn id="18" presetID="10" presetClass="entr" presetSubtype="0" fill="hold"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400"/>
                                        <p:tgtEl>
                                          <p:spTgt spid="8"/>
                                        </p:tgtEl>
                                      </p:cBhvr>
                                    </p:animEffect>
                                  </p:childTnLst>
                                </p:cTn>
                              </p:par>
                              <p:par>
                                <p:cTn id="21" presetID="10" presetClass="entr" presetSubtype="0" fill="hold"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400"/>
                                        <p:tgtEl>
                                          <p:spTgt spid="9"/>
                                        </p:tgtEl>
                                      </p:cBhvr>
                                    </p:animEffect>
                                  </p:childTnLst>
                                </p:cTn>
                              </p:par>
                              <p:par>
                                <p:cTn id="24" presetID="10" presetClass="entr" presetSubtype="0" fill="hold"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4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400"/>
                                        <p:tgtEl>
                                          <p:spTgt spid="1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400"/>
                                        <p:tgtEl>
                                          <p:spTgt spid="12"/>
                                        </p:tgtEl>
                                      </p:cBhvr>
                                    </p:animEffect>
                                  </p:childTnLst>
                                </p:cTn>
                              </p:par>
                              <p:par>
                                <p:cTn id="33" presetID="10" presetClass="entr" presetSubtype="0" fill="hold"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par>
                                <p:cTn id="54" presetID="10" presetClass="entr" presetSubtype="0" fill="hold" nodeType="withEffect">
                                  <p:stCondLst>
                                    <p:cond delay="0"/>
                                  </p:stCondLst>
                                  <p:childTnLst>
                                    <p:set>
                                      <p:cBhvr>
                                        <p:cTn id="55" dur="1" fill="hold">
                                          <p:stCondLst>
                                            <p:cond delay="0"/>
                                          </p:stCondLst>
                                        </p:cTn>
                                        <p:tgtEl>
                                          <p:spTgt spid="20"/>
                                        </p:tgtEl>
                                        <p:attrNameLst>
                                          <p:attrName>style.visibility</p:attrName>
                                        </p:attrNameLst>
                                      </p:cBhvr>
                                      <p:to>
                                        <p:strVal val="visible"/>
                                      </p:to>
                                    </p:set>
                                    <p:animEffect transition="in" filter="fade">
                                      <p:cBhvr>
                                        <p:cTn id="56" dur="400"/>
                                        <p:tgtEl>
                                          <p:spTgt spid="20"/>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1"/>
                                        </p:tgtEl>
                                        <p:attrNameLst>
                                          <p:attrName>style.visibility</p:attrName>
                                        </p:attrNameLst>
                                      </p:cBhvr>
                                      <p:to>
                                        <p:strVal val="visible"/>
                                      </p:to>
                                    </p:set>
                                    <p:animEffect transition="in" filter="fade">
                                      <p:cBhvr>
                                        <p:cTn id="59" dur="400"/>
                                        <p:tgtEl>
                                          <p:spTgt spid="21"/>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2"/>
                                        </p:tgtEl>
                                        <p:attrNameLst>
                                          <p:attrName>style.visibility</p:attrName>
                                        </p:attrNameLst>
                                      </p:cBhvr>
                                      <p:to>
                                        <p:strVal val="visible"/>
                                      </p:to>
                                    </p:set>
                                    <p:animEffect transition="in" filter="fade">
                                      <p:cBhvr>
                                        <p:cTn id="62" dur="400"/>
                                        <p:tgtEl>
                                          <p:spTgt spid="22"/>
                                        </p:tgtEl>
                                      </p:cBhvr>
                                    </p:animEffect>
                                  </p:childTnLst>
                                </p:cTn>
                              </p:par>
                            </p:childTnLst>
                          </p:cTn>
                        </p:par>
                      </p:childTnLst>
                    </p:cTn>
                  </p:par>
                  <p:par>
                    <p:cTn id="125" fill="hold">
                      <p:stCondLst>
                        <p:cond delay="indefinite"/>
                      </p:stCondLst>
                      <p:childTnLst>
                        <p:par>
                          <p:cTn id="126"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400"/>
                                        <p:tgtEl>
                                          <p:spTgt spid="23"/>
                                        </p:tgtEl>
                                      </p:cBhvr>
                                    </p:animEffect>
                                  </p:childTnLst>
                                </p:cTn>
                              </p:par>
                              <p:par>
                                <p:cTn id="68" presetID="10" presetClass="entr" presetSubtype="0" fill="hold" nodeType="with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400"/>
                                        <p:tgtEl>
                                          <p:spTgt spid="24"/>
                                        </p:tgtEl>
                                      </p:cBhvr>
                                    </p:animEffect>
                                  </p:childTnLst>
                                </p:cTn>
                              </p:par>
                              <p:par>
                                <p:cTn id="71" presetID="10" presetClass="entr" presetSubtype="0" fill="hold" nodeType="withEffect">
                                  <p:stCondLst>
                                    <p:cond delay="0"/>
                                  </p:stCondLst>
                                  <p:childTnLst>
                                    <p:set>
                                      <p:cBhvr>
                                        <p:cTn id="72" dur="1" fill="hold">
                                          <p:stCondLst>
                                            <p:cond delay="0"/>
                                          </p:stCondLst>
                                        </p:cTn>
                                        <p:tgtEl>
                                          <p:spTgt spid="25"/>
                                        </p:tgtEl>
                                        <p:attrNameLst>
                                          <p:attrName>style.visibility</p:attrName>
                                        </p:attrNameLst>
                                      </p:cBhvr>
                                      <p:to>
                                        <p:strVal val="visible"/>
                                      </p:to>
                                    </p:set>
                                    <p:animEffect transition="in" filter="fade">
                                      <p:cBhvr>
                                        <p:cTn id="73" dur="400"/>
                                        <p:tgtEl>
                                          <p:spTgt spid="25"/>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6"/>
                                        </p:tgtEl>
                                        <p:attrNameLst>
                                          <p:attrName>style.visibility</p:attrName>
                                        </p:attrNameLst>
                                      </p:cBhvr>
                                      <p:to>
                                        <p:strVal val="visible"/>
                                      </p:to>
                                    </p:set>
                                    <p:animEffect transition="in" filter="fade">
                                      <p:cBhvr>
                                        <p:cTn id="76" dur="400"/>
                                        <p:tgtEl>
                                          <p:spTgt spid="26"/>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27"/>
                                        </p:tgtEl>
                                        <p:attrNameLst>
                                          <p:attrName>style.visibility</p:attrName>
                                        </p:attrNameLst>
                                      </p:cBhvr>
                                      <p:to>
                                        <p:strVal val="visible"/>
                                      </p:to>
                                    </p:set>
                                    <p:animEffect transition="in" filter="fade">
                                      <p:cBhvr>
                                        <p:cTn id="79" dur="400"/>
                                        <p:tgtEl>
                                          <p:spTgt spid="27"/>
                                        </p:tgtEl>
                                      </p:cBhvr>
                                    </p:animEffect>
                                  </p:childTnLst>
                                </p:cTn>
                              </p:par>
                              <p:par>
                                <p:cTn id="80" presetID="10" presetClass="entr" presetSubtype="0" fill="hold" nodeType="withEffect">
                                  <p:stCondLst>
                                    <p:cond delay="0"/>
                                  </p:stCondLst>
                                  <p:childTnLst>
                                    <p:set>
                                      <p:cBhvr>
                                        <p:cTn id="81" dur="1" fill="hold">
                                          <p:stCondLst>
                                            <p:cond delay="0"/>
                                          </p:stCondLst>
                                        </p:cTn>
                                        <p:tgtEl>
                                          <p:spTgt spid="28"/>
                                        </p:tgtEl>
                                        <p:attrNameLst>
                                          <p:attrName>style.visibility</p:attrName>
                                        </p:attrNameLst>
                                      </p:cBhvr>
                                      <p:to>
                                        <p:strVal val="visible"/>
                                      </p:to>
                                    </p:set>
                                    <p:animEffect transition="in" filter="fade">
                                      <p:cBhvr>
                                        <p:cTn id="82" dur="400"/>
                                        <p:tgtEl>
                                          <p:spTgt spid="28"/>
                                        </p:tgtEl>
                                      </p:cBhvr>
                                    </p:animEffect>
                                  </p:childTnLst>
                                </p:cTn>
                              </p:par>
                              <p:par>
                                <p:cTn id="83" presetID="10" presetClass="entr" presetSubtype="0" fill="hold" nodeType="withEffect">
                                  <p:stCondLst>
                                    <p:cond delay="0"/>
                                  </p:stCondLst>
                                  <p:childTnLst>
                                    <p:set>
                                      <p:cBhvr>
                                        <p:cTn id="84" dur="1" fill="hold">
                                          <p:stCondLst>
                                            <p:cond delay="0"/>
                                          </p:stCondLst>
                                        </p:cTn>
                                        <p:tgtEl>
                                          <p:spTgt spid="29"/>
                                        </p:tgtEl>
                                        <p:attrNameLst>
                                          <p:attrName>style.visibility</p:attrName>
                                        </p:attrNameLst>
                                      </p:cBhvr>
                                      <p:to>
                                        <p:strVal val="visible"/>
                                      </p:to>
                                    </p:set>
                                    <p:animEffect transition="in" filter="fade">
                                      <p:cBhvr>
                                        <p:cTn id="85" dur="400"/>
                                        <p:tgtEl>
                                          <p:spTgt spid="29"/>
                                        </p:tgtEl>
                                      </p:cBhvr>
                                    </p:animEffect>
                                  </p:childTnLst>
                                </p:cTn>
                              </p:par>
                              <p:par>
                                <p:cTn id="86" presetID="10" presetClass="entr" presetSubtype="0" fill="hold" nodeType="withEffect">
                                  <p:stCondLst>
                                    <p:cond delay="0"/>
                                  </p:stCondLst>
                                  <p:childTnLst>
                                    <p:set>
                                      <p:cBhvr>
                                        <p:cTn id="87" dur="1" fill="hold">
                                          <p:stCondLst>
                                            <p:cond delay="0"/>
                                          </p:stCondLst>
                                        </p:cTn>
                                        <p:tgtEl>
                                          <p:spTgt spid="30"/>
                                        </p:tgtEl>
                                        <p:attrNameLst>
                                          <p:attrName>style.visibility</p:attrName>
                                        </p:attrNameLst>
                                      </p:cBhvr>
                                      <p:to>
                                        <p:strVal val="visible"/>
                                      </p:to>
                                    </p:set>
                                    <p:animEffect transition="in" filter="fade">
                                      <p:cBhvr>
                                        <p:cTn id="88" dur="400"/>
                                        <p:tgtEl>
                                          <p:spTgt spid="30"/>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1"/>
                                        </p:tgtEl>
                                        <p:attrNameLst>
                                          <p:attrName>style.visibility</p:attrName>
                                        </p:attrNameLst>
                                      </p:cBhvr>
                                      <p:to>
                                        <p:strVal val="visible"/>
                                      </p:to>
                                    </p:set>
                                    <p:animEffect transition="in" filter="fade">
                                      <p:cBhvr>
                                        <p:cTn id="91" dur="400"/>
                                        <p:tgtEl>
                                          <p:spTgt spid="31"/>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32"/>
                                        </p:tgtEl>
                                        <p:attrNameLst>
                                          <p:attrName>style.visibility</p:attrName>
                                        </p:attrNameLst>
                                      </p:cBhvr>
                                      <p:to>
                                        <p:strVal val="visible"/>
                                      </p:to>
                                    </p:set>
                                    <p:animEffect transition="in" filter="fade">
                                      <p:cBhvr>
                                        <p:cTn id="94" dur="400"/>
                                        <p:tgtEl>
                                          <p:spTgt spid="32"/>
                                        </p:tgtEl>
                                      </p:cBhvr>
                                    </p:animEffect>
                                  </p:childTnLst>
                                </p:cTn>
                              </p:par>
                              <p:par>
                                <p:cTn id="95" presetID="10" presetClass="entr" presetSubtype="0" fill="hold" nodeType="withEffect">
                                  <p:stCondLst>
                                    <p:cond delay="0"/>
                                  </p:stCondLst>
                                  <p:childTnLst>
                                    <p:set>
                                      <p:cBhvr>
                                        <p:cTn id="96" dur="1" fill="hold">
                                          <p:stCondLst>
                                            <p:cond delay="0"/>
                                          </p:stCondLst>
                                        </p:cTn>
                                        <p:tgtEl>
                                          <p:spTgt spid="33"/>
                                        </p:tgtEl>
                                        <p:attrNameLst>
                                          <p:attrName>style.visibility</p:attrName>
                                        </p:attrNameLst>
                                      </p:cBhvr>
                                      <p:to>
                                        <p:strVal val="visible"/>
                                      </p:to>
                                    </p:set>
                                    <p:animEffect transition="in" filter="fade">
                                      <p:cBhvr>
                                        <p:cTn id="97" dur="400"/>
                                        <p:tgtEl>
                                          <p:spTgt spid="33"/>
                                        </p:tgtEl>
                                      </p:cBhvr>
                                    </p:animEffect>
                                  </p:childTnLst>
                                </p:cTn>
                              </p:par>
                              <p:par>
                                <p:cTn id="98" presetID="10" presetClass="entr" presetSubtype="0" fill="hold" nodeType="withEffect">
                                  <p:stCondLst>
                                    <p:cond delay="0"/>
                                  </p:stCondLst>
                                  <p:childTnLst>
                                    <p:set>
                                      <p:cBhvr>
                                        <p:cTn id="99" dur="1" fill="hold">
                                          <p:stCondLst>
                                            <p:cond delay="0"/>
                                          </p:stCondLst>
                                        </p:cTn>
                                        <p:tgtEl>
                                          <p:spTgt spid="34"/>
                                        </p:tgtEl>
                                        <p:attrNameLst>
                                          <p:attrName>style.visibility</p:attrName>
                                        </p:attrNameLst>
                                      </p:cBhvr>
                                      <p:to>
                                        <p:strVal val="visible"/>
                                      </p:to>
                                    </p:set>
                                    <p:animEffect transition="in" filter="fade">
                                      <p:cBhvr>
                                        <p:cTn id="100" dur="400"/>
                                        <p:tgtEl>
                                          <p:spTgt spid="34"/>
                                        </p:tgtEl>
                                      </p:cBhvr>
                                    </p:animEffect>
                                  </p:childTnLst>
                                </p:cTn>
                              </p:par>
                              <p:par>
                                <p:cTn id="101" presetID="10" presetClass="entr" presetSubtype="0" fill="hold" nodeType="withEffect">
                                  <p:stCondLst>
                                    <p:cond delay="0"/>
                                  </p:stCondLst>
                                  <p:childTnLst>
                                    <p:set>
                                      <p:cBhvr>
                                        <p:cTn id="102" dur="1" fill="hold">
                                          <p:stCondLst>
                                            <p:cond delay="0"/>
                                          </p:stCondLst>
                                        </p:cTn>
                                        <p:tgtEl>
                                          <p:spTgt spid="35"/>
                                        </p:tgtEl>
                                        <p:attrNameLst>
                                          <p:attrName>style.visibility</p:attrName>
                                        </p:attrNameLst>
                                      </p:cBhvr>
                                      <p:to>
                                        <p:strVal val="visible"/>
                                      </p:to>
                                    </p:set>
                                    <p:animEffect transition="in" filter="fade">
                                      <p:cBhvr>
                                        <p:cTn id="103" dur="400"/>
                                        <p:tgtEl>
                                          <p:spTgt spid="35"/>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36"/>
                                        </p:tgtEl>
                                        <p:attrNameLst>
                                          <p:attrName>style.visibility</p:attrName>
                                        </p:attrNameLst>
                                      </p:cBhvr>
                                      <p:to>
                                        <p:strVal val="visible"/>
                                      </p:to>
                                    </p:set>
                                    <p:animEffect transition="in" filter="fade">
                                      <p:cBhvr>
                                        <p:cTn id="106" dur="400"/>
                                        <p:tgtEl>
                                          <p:spTgt spid="36"/>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37"/>
                                        </p:tgtEl>
                                        <p:attrNameLst>
                                          <p:attrName>style.visibility</p:attrName>
                                        </p:attrNameLst>
                                      </p:cBhvr>
                                      <p:to>
                                        <p:strVal val="visible"/>
                                      </p:to>
                                    </p:set>
                                    <p:animEffect transition="in" filter="fade">
                                      <p:cBhvr>
                                        <p:cTn id="109" dur="400"/>
                                        <p:tgtEl>
                                          <p:spTgt spid="37"/>
                                        </p:tgtEl>
                                      </p:cBhvr>
                                    </p:animEffect>
                                  </p:childTnLst>
                                </p:cTn>
                              </p:par>
                              <p:par>
                                <p:cTn id="110" presetID="10" presetClass="entr" presetSubtype="0" fill="hold" nodeType="withEffect">
                                  <p:stCondLst>
                                    <p:cond delay="0"/>
                                  </p:stCondLst>
                                  <p:childTnLst>
                                    <p:set>
                                      <p:cBhvr>
                                        <p:cTn id="111" dur="1" fill="hold">
                                          <p:stCondLst>
                                            <p:cond delay="0"/>
                                          </p:stCondLst>
                                        </p:cTn>
                                        <p:tgtEl>
                                          <p:spTgt spid="38"/>
                                        </p:tgtEl>
                                        <p:attrNameLst>
                                          <p:attrName>style.visibility</p:attrName>
                                        </p:attrNameLst>
                                      </p:cBhvr>
                                      <p:to>
                                        <p:strVal val="visible"/>
                                      </p:to>
                                    </p:set>
                                    <p:animEffect transition="in" filter="fade">
                                      <p:cBhvr>
                                        <p:cTn id="112" dur="400"/>
                                        <p:tgtEl>
                                          <p:spTgt spid="38"/>
                                        </p:tgtEl>
                                      </p:cBhvr>
                                    </p:animEffect>
                                  </p:childTnLst>
                                </p:cTn>
                              </p:par>
                              <p:par>
                                <p:cTn id="113" presetID="10" presetClass="entr" presetSubtype="0" fill="hold" nodeType="withEffect">
                                  <p:stCondLst>
                                    <p:cond delay="0"/>
                                  </p:stCondLst>
                                  <p:childTnLst>
                                    <p:set>
                                      <p:cBhvr>
                                        <p:cTn id="114" dur="1" fill="hold">
                                          <p:stCondLst>
                                            <p:cond delay="0"/>
                                          </p:stCondLst>
                                        </p:cTn>
                                        <p:tgtEl>
                                          <p:spTgt spid="39"/>
                                        </p:tgtEl>
                                        <p:attrNameLst>
                                          <p:attrName>style.visibility</p:attrName>
                                        </p:attrNameLst>
                                      </p:cBhvr>
                                      <p:to>
                                        <p:strVal val="visible"/>
                                      </p:to>
                                    </p:set>
                                    <p:animEffect transition="in" filter="fade">
                                      <p:cBhvr>
                                        <p:cTn id="115" dur="400"/>
                                        <p:tgtEl>
                                          <p:spTgt spid="39"/>
                                        </p:tgtEl>
                                      </p:cBhvr>
                                    </p:animEffect>
                                  </p:childTnLst>
                                </p:cTn>
                              </p:par>
                              <p:par>
                                <p:cTn id="116" presetID="10" presetClass="entr" presetSubtype="0" fill="hold" nodeType="withEffect">
                                  <p:stCondLst>
                                    <p:cond delay="0"/>
                                  </p:stCondLst>
                                  <p:childTnLst>
                                    <p:set>
                                      <p:cBhvr>
                                        <p:cTn id="117" dur="1" fill="hold">
                                          <p:stCondLst>
                                            <p:cond delay="0"/>
                                          </p:stCondLst>
                                        </p:cTn>
                                        <p:tgtEl>
                                          <p:spTgt spid="40"/>
                                        </p:tgtEl>
                                        <p:attrNameLst>
                                          <p:attrName>style.visibility</p:attrName>
                                        </p:attrNameLst>
                                      </p:cBhvr>
                                      <p:to>
                                        <p:strVal val="visible"/>
                                      </p:to>
                                    </p:set>
                                    <p:animEffect transition="in" filter="fade">
                                      <p:cBhvr>
                                        <p:cTn id="118" dur="400"/>
                                        <p:tgtEl>
                                          <p:spTgt spid="40"/>
                                        </p:tgtEl>
                                      </p:cBhvr>
                                    </p:animEffect>
                                  </p:childTnLst>
                                </p:cTn>
                              </p:par>
                              <p:par>
                                <p:cTn id="119" presetID="10" presetClass="entr" presetSubtype="0" fill="hold" grpId="0" nodeType="withEffect">
                                  <p:stCondLst>
                                    <p:cond delay="0"/>
                                  </p:stCondLst>
                                  <p:childTnLst>
                                    <p:set>
                                      <p:cBhvr>
                                        <p:cTn id="120" dur="1" fill="hold">
                                          <p:stCondLst>
                                            <p:cond delay="0"/>
                                          </p:stCondLst>
                                        </p:cTn>
                                        <p:tgtEl>
                                          <p:spTgt spid="41"/>
                                        </p:tgtEl>
                                        <p:attrNameLst>
                                          <p:attrName>style.visibility</p:attrName>
                                        </p:attrNameLst>
                                      </p:cBhvr>
                                      <p:to>
                                        <p:strVal val="visible"/>
                                      </p:to>
                                    </p:set>
                                    <p:animEffect transition="in" filter="fade">
                                      <p:cBhvr>
                                        <p:cTn id="121" dur="400"/>
                                        <p:tgtEl>
                                          <p:spTgt spid="41"/>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42"/>
                                        </p:tgtEl>
                                        <p:attrNameLst>
                                          <p:attrName>style.visibility</p:attrName>
                                        </p:attrNameLst>
                                      </p:cBhvr>
                                      <p:to>
                                        <p:strVal val="visible"/>
                                      </p:to>
                                    </p:set>
                                    <p:animEffect transition="in" filter="fade">
                                      <p:cBhvr>
                                        <p:cTn id="124" dur="4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11" grpId="0"/>
      <p:bldP spid="12" grpId="0"/>
      <p:bldP spid="16" grpId="0"/>
      <p:bldP spid="17" grpId="0"/>
      <p:bldP spid="21" grpId="0"/>
      <p:bldP spid="22" grpId="0"/>
      <p:bldP spid="26" grpId="0"/>
      <p:bldP spid="27" grpId="0"/>
      <p:bldP spid="31" grpId="0"/>
      <p:bldP spid="32" grpId="0"/>
      <p:bldP spid="36" grpId="0"/>
      <p:bldP spid="37" grpId="0"/>
      <p:bldP spid="41" grpId="0"/>
      <p:bldP spid="42" grpId="0"/>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2"/>
                </a:solidFill>
              </a:rPr>
              <a:t>The complete picture</a:t>
            </a:r>
            <a:endParaRPr lang="en-US" sz="3000" dirty="0"/>
          </a:p>
        </p:txBody>
      </p:sp>
      <p:pic>
        <p:nvPicPr>
          <p:cNvPr id="3" name="components_diagram" descr="Components: people, Power Platform environment, SharePoint, flows, Microsoft Graph and Entra ID">    </p:cNvPr>
          <p:cNvPicPr>
            <a:picLocks noChangeAspect="1"/>
          </p:cNvPicPr>
          <p:nvPr/>
        </p:nvPicPr>
        <p:blipFill>
          <a:blip r:embed="rId1"/>
          <a:stretch>
            <a:fillRect/>
          </a:stretch>
        </p:blipFill>
        <p:spPr>
          <a:xfrm>
            <a:off x="2014549" y="1188720"/>
            <a:ext cx="8162598" cy="5074920"/>
          </a:xfrm>
          <a:prstGeom prst="rect">
            <a:avLst/>
          </a:prstGeom>
        </p:spPr>
      </p:pic>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2"/>
                </a:solidFill>
              </a:rPr>
              <a:t>Beyond new apps: the other flows</a:t>
            </a:r>
            <a:endParaRPr lang="en-US" sz="3000" dirty="0"/>
          </a:p>
        </p:txBody>
      </p:sp>
      <p:sp>
        <p:nvSpPr>
          <p:cNvPr id="3" name="a1_flow0_card"/>
          <p:cNvSpPr/>
          <p:nvPr/>
        </p:nvSpPr>
        <p:spPr>
          <a:xfrm>
            <a:off x="548640" y="1280160"/>
            <a:ext cx="5394960" cy="960120"/>
          </a:xfrm>
          <a:prstGeom prst="roundRect">
            <a:avLst>
              <a:gd name="adj" fmla="val 11429"/>
            </a:avLst>
          </a:prstGeom>
          <a:solidFill>
            <a:schemeClr val="bg2"/>
          </a:solidFill>
          <a:ln w="12700">
            <a:solidFill>
              <a:schemeClr val="bg2"/>
            </a:solidFill>
            <a:prstDash val="solid"/>
          </a:ln>
          <a:effectLst>
            <a:outerShdw sx="100000" sy="100000" kx="0" ky="0" algn="bl" rotWithShape="0" blurRad="76200" dist="25400" dir="5400000">
              <a:srgbClr val="7F9DB9">
                <a:alpha val="25000"/>
              </a:srgbClr>
            </a:outerShdw>
          </a:effectLst>
        </p:spPr>
      </p:sp>
      <p:sp>
        <p:nvSpPr>
          <p:cNvPr id="4" name="a1_flow0_circle"/>
          <p:cNvSpPr/>
          <p:nvPr/>
        </p:nvSpPr>
        <p:spPr>
          <a:xfrm>
            <a:off x="731520" y="1435608"/>
            <a:ext cx="640080" cy="640080"/>
          </a:xfrm>
          <a:prstGeom prst="ellipse">
            <a:avLst/>
          </a:prstGeom>
          <a:solidFill>
            <a:schemeClr val="accent1"/>
          </a:solidFill>
          <a:ln w="12700">
            <a:solidFill>
              <a:schemeClr val="accent1"/>
            </a:solidFill>
            <a:prstDash val="solid"/>
          </a:ln>
        </p:spPr>
      </p:sp>
      <p:pic>
        <p:nvPicPr>
          <p:cNvPr id="5" name="a1_flow0_icon" descr="preencoded.png">    </p:cNvPr>
          <p:cNvPicPr>
            <a:picLocks noChangeAspect="1"/>
          </p:cNvPicPr>
          <p:nvPr/>
        </p:nvPicPr>
        <p:blipFill>
          <a:blip r:embed="rId1"/>
          <a:stretch>
            <a:fillRect/>
          </a:stretch>
        </p:blipFill>
        <p:spPr>
          <a:xfrm>
            <a:off x="885139" y="1589227"/>
            <a:ext cx="332842" cy="332842"/>
          </a:xfrm>
          <a:prstGeom prst="rect">
            <a:avLst/>
          </a:prstGeom>
        </p:spPr>
      </p:pic>
      <p:sp>
        <p:nvSpPr>
          <p:cNvPr id="6" name="a1_flow0_title"/>
          <p:cNvSpPr txBox="1"/>
          <p:nvPr/>
        </p:nvSpPr>
        <p:spPr>
          <a:xfrm>
            <a:off x="1554480" y="1417320"/>
            <a:ext cx="4206240" cy="365760"/>
          </a:xfrm>
          <a:prstGeom prst="rect">
            <a:avLst/>
          </a:prstGeom>
          <a:noFill/>
          <a:ln/>
        </p:spPr>
        <p:txBody>
          <a:bodyPr wrap="square" lIns="0" tIns="0" rIns="0" bIns="0" rtlCol="0" anchor="t"/>
          <a:lstStyle/>
          <a:p>
            <a:pPr indent="0" marL="0">
              <a:buNone/>
            </a:pPr>
            <a:r>
              <a:rPr lang="en-US" sz="1600" b="1" dirty="0">
                <a:solidFill>
                  <a:schemeClr val="tx2"/>
                </a:solidFill>
              </a:rPr>
              <a:t>ER-01 Approvals</a:t>
            </a:r>
            <a:endParaRPr lang="en-US" sz="1600" dirty="0"/>
          </a:p>
        </p:txBody>
      </p:sp>
      <p:sp>
        <p:nvSpPr>
          <p:cNvPr id="7" name="a1_flow0_text"/>
          <p:cNvSpPr txBox="1"/>
          <p:nvPr/>
        </p:nvSpPr>
        <p:spPr>
          <a:xfrm>
            <a:off x="1554480" y="1764792"/>
            <a:ext cx="4206240" cy="411480"/>
          </a:xfrm>
          <a:prstGeom prst="rect">
            <a:avLst/>
          </a:prstGeom>
          <a:noFill/>
          <a:ln/>
        </p:spPr>
        <p:txBody>
          <a:bodyPr wrap="square" lIns="0" tIns="0" rIns="0" bIns="0" rtlCol="0" anchor="t"/>
          <a:lstStyle/>
          <a:p>
            <a:pPr indent="0" marL="0">
              <a:buNone/>
            </a:pPr>
            <a:r>
              <a:rPr lang="en-US" sz="1300" dirty="0">
                <a:solidFill>
                  <a:schemeClr val="tx1"/>
                </a:solidFill>
              </a:rPr>
              <a:t>Locks the request, manager then Entra ID team</a:t>
            </a:r>
            <a:endParaRPr lang="en-US" sz="1300" dirty="0"/>
          </a:p>
        </p:txBody>
      </p:sp>
      <p:sp>
        <p:nvSpPr>
          <p:cNvPr id="8" name="a1_flow1_card"/>
          <p:cNvSpPr/>
          <p:nvPr/>
        </p:nvSpPr>
        <p:spPr>
          <a:xfrm>
            <a:off x="6172200" y="1280160"/>
            <a:ext cx="5394960" cy="960120"/>
          </a:xfrm>
          <a:prstGeom prst="roundRect">
            <a:avLst>
              <a:gd name="adj" fmla="val 11429"/>
            </a:avLst>
          </a:prstGeom>
          <a:solidFill>
            <a:schemeClr val="bg2"/>
          </a:solidFill>
          <a:ln w="12700">
            <a:solidFill>
              <a:schemeClr val="bg2"/>
            </a:solidFill>
            <a:prstDash val="solid"/>
          </a:ln>
          <a:effectLst>
            <a:outerShdw sx="100000" sy="100000" kx="0" ky="0" algn="bl" rotWithShape="0" blurRad="76200" dist="25400" dir="5400000">
              <a:srgbClr val="7F9DB9">
                <a:alpha val="25000"/>
              </a:srgbClr>
            </a:outerShdw>
          </a:effectLst>
        </p:spPr>
      </p:sp>
      <p:sp>
        <p:nvSpPr>
          <p:cNvPr id="9" name="a1_flow1_circle"/>
          <p:cNvSpPr/>
          <p:nvPr/>
        </p:nvSpPr>
        <p:spPr>
          <a:xfrm>
            <a:off x="6355080" y="1435608"/>
            <a:ext cx="640080" cy="640080"/>
          </a:xfrm>
          <a:prstGeom prst="ellipse">
            <a:avLst/>
          </a:prstGeom>
          <a:solidFill>
            <a:schemeClr val="accent1"/>
          </a:solidFill>
          <a:ln w="12700">
            <a:solidFill>
              <a:schemeClr val="accent1"/>
            </a:solidFill>
            <a:prstDash val="solid"/>
          </a:ln>
        </p:spPr>
      </p:sp>
      <p:pic>
        <p:nvPicPr>
          <p:cNvPr id="10" name="a1_flow1_icon" descr="preencoded.png">    </p:cNvPr>
          <p:cNvPicPr>
            <a:picLocks noChangeAspect="1"/>
          </p:cNvPicPr>
          <p:nvPr/>
        </p:nvPicPr>
        <p:blipFill>
          <a:blip r:embed="rId2"/>
          <a:stretch>
            <a:fillRect/>
          </a:stretch>
        </p:blipFill>
        <p:spPr>
          <a:xfrm>
            <a:off x="6508699" y="1589227"/>
            <a:ext cx="332842" cy="332842"/>
          </a:xfrm>
          <a:prstGeom prst="rect">
            <a:avLst/>
          </a:prstGeom>
        </p:spPr>
      </p:pic>
      <p:sp>
        <p:nvSpPr>
          <p:cNvPr id="11" name="a1_flow1_title"/>
          <p:cNvSpPr txBox="1"/>
          <p:nvPr/>
        </p:nvSpPr>
        <p:spPr>
          <a:xfrm>
            <a:off x="7178040" y="1417320"/>
            <a:ext cx="4206240" cy="365760"/>
          </a:xfrm>
          <a:prstGeom prst="rect">
            <a:avLst/>
          </a:prstGeom>
          <a:noFill/>
          <a:ln/>
        </p:spPr>
        <p:txBody>
          <a:bodyPr wrap="square" lIns="0" tIns="0" rIns="0" bIns="0" rtlCol="0" anchor="t"/>
          <a:lstStyle/>
          <a:p>
            <a:pPr indent="0" marL="0">
              <a:buNone/>
            </a:pPr>
            <a:r>
              <a:rPr lang="en-US" sz="1600" b="1" dirty="0">
                <a:solidFill>
                  <a:schemeClr val="tx2"/>
                </a:solidFill>
              </a:rPr>
              <a:t>ER-02 Execute</a:t>
            </a:r>
            <a:endParaRPr lang="en-US" sz="1600" dirty="0"/>
          </a:p>
        </p:txBody>
      </p:sp>
      <p:sp>
        <p:nvSpPr>
          <p:cNvPr id="12" name="a1_flow1_text"/>
          <p:cNvSpPr txBox="1"/>
          <p:nvPr/>
        </p:nvSpPr>
        <p:spPr>
          <a:xfrm>
            <a:off x="7178040" y="1764792"/>
            <a:ext cx="4206240" cy="411480"/>
          </a:xfrm>
          <a:prstGeom prst="rect">
            <a:avLst/>
          </a:prstGeom>
          <a:noFill/>
          <a:ln/>
        </p:spPr>
        <p:txBody>
          <a:bodyPr wrap="square" lIns="0" tIns="0" rIns="0" bIns="0" rtlCol="0" anchor="t"/>
          <a:lstStyle/>
          <a:p>
            <a:pPr indent="0" marL="0">
              <a:buNone/>
            </a:pPr>
            <a:r>
              <a:rPr lang="en-US" sz="1300" dirty="0">
                <a:solidFill>
                  <a:schemeClr val="tx1"/>
                </a:solidFill>
              </a:rPr>
              <a:t>Creates and changes apps through Graph, logs every step</a:t>
            </a:r>
            <a:endParaRPr lang="en-US" sz="1300" dirty="0"/>
          </a:p>
        </p:txBody>
      </p:sp>
      <p:sp>
        <p:nvSpPr>
          <p:cNvPr id="13" name="a1_flow2_card"/>
          <p:cNvSpPr/>
          <p:nvPr/>
        </p:nvSpPr>
        <p:spPr>
          <a:xfrm>
            <a:off x="548640" y="2423160"/>
            <a:ext cx="5394960" cy="960120"/>
          </a:xfrm>
          <a:prstGeom prst="roundRect">
            <a:avLst>
              <a:gd name="adj" fmla="val 11429"/>
            </a:avLst>
          </a:prstGeom>
          <a:solidFill>
            <a:schemeClr val="bg2"/>
          </a:solidFill>
          <a:ln w="12700">
            <a:solidFill>
              <a:schemeClr val="bg2"/>
            </a:solidFill>
            <a:prstDash val="solid"/>
          </a:ln>
          <a:effectLst>
            <a:outerShdw sx="100000" sy="100000" kx="0" ky="0" algn="bl" rotWithShape="0" blurRad="76200" dist="25400" dir="5400000">
              <a:srgbClr val="7F9DB9">
                <a:alpha val="25000"/>
              </a:srgbClr>
            </a:outerShdw>
          </a:effectLst>
        </p:spPr>
      </p:sp>
      <p:sp>
        <p:nvSpPr>
          <p:cNvPr id="14" name="a1_flow2_circle"/>
          <p:cNvSpPr/>
          <p:nvPr/>
        </p:nvSpPr>
        <p:spPr>
          <a:xfrm>
            <a:off x="731520" y="2578608"/>
            <a:ext cx="640080" cy="640080"/>
          </a:xfrm>
          <a:prstGeom prst="ellipse">
            <a:avLst/>
          </a:prstGeom>
          <a:solidFill>
            <a:schemeClr val="accent1"/>
          </a:solidFill>
          <a:ln w="12700">
            <a:solidFill>
              <a:schemeClr val="accent1"/>
            </a:solidFill>
            <a:prstDash val="solid"/>
          </a:ln>
        </p:spPr>
      </p:sp>
      <p:pic>
        <p:nvPicPr>
          <p:cNvPr id="15" name="a1_flow2_icon" descr="preencoded.png">    </p:cNvPr>
          <p:cNvPicPr>
            <a:picLocks noChangeAspect="1"/>
          </p:cNvPicPr>
          <p:nvPr/>
        </p:nvPicPr>
        <p:blipFill>
          <a:blip r:embed="rId3"/>
          <a:stretch>
            <a:fillRect/>
          </a:stretch>
        </p:blipFill>
        <p:spPr>
          <a:xfrm>
            <a:off x="885139" y="2732227"/>
            <a:ext cx="332842" cy="332842"/>
          </a:xfrm>
          <a:prstGeom prst="rect">
            <a:avLst/>
          </a:prstGeom>
        </p:spPr>
      </p:pic>
      <p:sp>
        <p:nvSpPr>
          <p:cNvPr id="16" name="a1_flow2_title"/>
          <p:cNvSpPr txBox="1"/>
          <p:nvPr/>
        </p:nvSpPr>
        <p:spPr>
          <a:xfrm>
            <a:off x="1554480" y="2560320"/>
            <a:ext cx="4206240" cy="365760"/>
          </a:xfrm>
          <a:prstGeom prst="rect">
            <a:avLst/>
          </a:prstGeom>
          <a:noFill/>
          <a:ln/>
        </p:spPr>
        <p:txBody>
          <a:bodyPr wrap="square" lIns="0" tIns="0" rIns="0" bIns="0" rtlCol="0" anchor="t"/>
          <a:lstStyle/>
          <a:p>
            <a:pPr indent="0" marL="0">
              <a:buNone/>
            </a:pPr>
            <a:r>
              <a:rPr lang="en-US" sz="1600" b="1" dirty="0">
                <a:solidFill>
                  <a:schemeClr val="tx2"/>
                </a:solidFill>
              </a:rPr>
              <a:t>ER-03 Catalog sync</a:t>
            </a:r>
            <a:endParaRPr lang="en-US" sz="1600" dirty="0"/>
          </a:p>
        </p:txBody>
      </p:sp>
      <p:sp>
        <p:nvSpPr>
          <p:cNvPr id="17" name="a1_flow2_text"/>
          <p:cNvSpPr txBox="1"/>
          <p:nvPr/>
        </p:nvSpPr>
        <p:spPr>
          <a:xfrm>
            <a:off x="1554480" y="2907792"/>
            <a:ext cx="4206240" cy="411480"/>
          </a:xfrm>
          <a:prstGeom prst="rect">
            <a:avLst/>
          </a:prstGeom>
          <a:noFill/>
          <a:ln/>
        </p:spPr>
        <p:txBody>
          <a:bodyPr wrap="square" lIns="0" tIns="0" rIns="0" bIns="0" rtlCol="0" anchor="t"/>
          <a:lstStyle/>
          <a:p>
            <a:pPr indent="0" marL="0">
              <a:buNone/>
            </a:pPr>
            <a:r>
              <a:rPr lang="en-US" sz="1300" dirty="0">
                <a:solidFill>
                  <a:schemeClr val="tx1"/>
                </a:solidFill>
              </a:rPr>
              <a:t>Hourly refresh of who can pick which apps and groups</a:t>
            </a:r>
            <a:endParaRPr lang="en-US" sz="1300" dirty="0"/>
          </a:p>
        </p:txBody>
      </p:sp>
      <p:sp>
        <p:nvSpPr>
          <p:cNvPr id="18" name="a2_flow3_card"/>
          <p:cNvSpPr/>
          <p:nvPr/>
        </p:nvSpPr>
        <p:spPr>
          <a:xfrm>
            <a:off x="6172200" y="2423160"/>
            <a:ext cx="5394960" cy="960120"/>
          </a:xfrm>
          <a:prstGeom prst="roundRect">
            <a:avLst>
              <a:gd name="adj" fmla="val 11429"/>
            </a:avLst>
          </a:prstGeom>
          <a:solidFill>
            <a:schemeClr val="bg2"/>
          </a:solidFill>
          <a:ln w="12700">
            <a:solidFill>
              <a:schemeClr val="bg2"/>
            </a:solidFill>
            <a:prstDash val="solid"/>
          </a:ln>
          <a:effectLst>
            <a:outerShdw sx="100000" sy="100000" kx="0" ky="0" algn="bl" rotWithShape="0" blurRad="76200" dist="25400" dir="5400000">
              <a:srgbClr val="7F9DB9">
                <a:alpha val="25000"/>
              </a:srgbClr>
            </a:outerShdw>
          </a:effectLst>
        </p:spPr>
      </p:sp>
      <p:sp>
        <p:nvSpPr>
          <p:cNvPr id="19" name="a2_flow3_circle"/>
          <p:cNvSpPr/>
          <p:nvPr/>
        </p:nvSpPr>
        <p:spPr>
          <a:xfrm>
            <a:off x="6355080" y="2578608"/>
            <a:ext cx="640080" cy="640080"/>
          </a:xfrm>
          <a:prstGeom prst="ellipse">
            <a:avLst/>
          </a:prstGeom>
          <a:solidFill>
            <a:schemeClr val="accent1"/>
          </a:solidFill>
          <a:ln w="12700">
            <a:solidFill>
              <a:schemeClr val="accent1"/>
            </a:solidFill>
            <a:prstDash val="solid"/>
          </a:ln>
        </p:spPr>
      </p:sp>
      <p:pic>
        <p:nvPicPr>
          <p:cNvPr id="20" name="a2_flow3_icon" descr="preencoded.png">    </p:cNvPr>
          <p:cNvPicPr>
            <a:picLocks noChangeAspect="1"/>
          </p:cNvPicPr>
          <p:nvPr/>
        </p:nvPicPr>
        <p:blipFill>
          <a:blip r:embed="rId4"/>
          <a:stretch>
            <a:fillRect/>
          </a:stretch>
        </p:blipFill>
        <p:spPr>
          <a:xfrm>
            <a:off x="6508699" y="2732227"/>
            <a:ext cx="332842" cy="332842"/>
          </a:xfrm>
          <a:prstGeom prst="rect">
            <a:avLst/>
          </a:prstGeom>
        </p:spPr>
      </p:pic>
      <p:sp>
        <p:nvSpPr>
          <p:cNvPr id="21" name="a2_flow3_title"/>
          <p:cNvSpPr txBox="1"/>
          <p:nvPr/>
        </p:nvSpPr>
        <p:spPr>
          <a:xfrm>
            <a:off x="7178040" y="2560320"/>
            <a:ext cx="4206240" cy="365760"/>
          </a:xfrm>
          <a:prstGeom prst="rect">
            <a:avLst/>
          </a:prstGeom>
          <a:noFill/>
          <a:ln/>
        </p:spPr>
        <p:txBody>
          <a:bodyPr wrap="square" lIns="0" tIns="0" rIns="0" bIns="0" rtlCol="0" anchor="t"/>
          <a:lstStyle/>
          <a:p>
            <a:pPr indent="0" marL="0">
              <a:buNone/>
            </a:pPr>
            <a:r>
              <a:rPr lang="en-US" sz="1600" b="1" dirty="0">
                <a:solidFill>
                  <a:schemeClr val="tx2"/>
                </a:solidFill>
              </a:rPr>
              <a:t>ER-04 Add existing group</a:t>
            </a:r>
            <a:endParaRPr lang="en-US" sz="1600" dirty="0"/>
          </a:p>
        </p:txBody>
      </p:sp>
      <p:sp>
        <p:nvSpPr>
          <p:cNvPr id="22" name="a2_flow3_text"/>
          <p:cNvSpPr txBox="1"/>
          <p:nvPr/>
        </p:nvSpPr>
        <p:spPr>
          <a:xfrm>
            <a:off x="7178040" y="2907792"/>
            <a:ext cx="4206240" cy="411480"/>
          </a:xfrm>
          <a:prstGeom prst="rect">
            <a:avLst/>
          </a:prstGeom>
          <a:noFill/>
          <a:ln/>
        </p:spPr>
        <p:txBody>
          <a:bodyPr wrap="square" lIns="0" tIns="0" rIns="0" bIns="0" rtlCol="0" anchor="t"/>
          <a:lstStyle/>
          <a:p>
            <a:pPr indent="0" marL="0">
              <a:buNone/>
            </a:pPr>
            <a:r>
              <a:rPr lang="en-US" sz="1300" dirty="0">
                <a:solidFill>
                  <a:schemeClr val="tx1"/>
                </a:solidFill>
              </a:rPr>
              <a:t>Members make their group selectable, no approval</a:t>
            </a:r>
            <a:endParaRPr lang="en-US" sz="1300" dirty="0"/>
          </a:p>
        </p:txBody>
      </p:sp>
      <p:sp>
        <p:nvSpPr>
          <p:cNvPr id="23" name="a2_flow4_card"/>
          <p:cNvSpPr/>
          <p:nvPr/>
        </p:nvSpPr>
        <p:spPr>
          <a:xfrm>
            <a:off x="548640" y="3566160"/>
            <a:ext cx="5394960" cy="960120"/>
          </a:xfrm>
          <a:prstGeom prst="roundRect">
            <a:avLst>
              <a:gd name="adj" fmla="val 11429"/>
            </a:avLst>
          </a:prstGeom>
          <a:solidFill>
            <a:schemeClr val="bg2"/>
          </a:solidFill>
          <a:ln w="12700">
            <a:solidFill>
              <a:schemeClr val="bg2"/>
            </a:solidFill>
            <a:prstDash val="solid"/>
          </a:ln>
          <a:effectLst>
            <a:outerShdw sx="100000" sy="100000" kx="0" ky="0" algn="bl" rotWithShape="0" blurRad="76200" dist="25400" dir="5400000">
              <a:srgbClr val="7F9DB9">
                <a:alpha val="25000"/>
              </a:srgbClr>
            </a:outerShdw>
          </a:effectLst>
        </p:spPr>
      </p:sp>
      <p:sp>
        <p:nvSpPr>
          <p:cNvPr id="24" name="a2_flow4_circle"/>
          <p:cNvSpPr/>
          <p:nvPr/>
        </p:nvSpPr>
        <p:spPr>
          <a:xfrm>
            <a:off x="731520" y="3721608"/>
            <a:ext cx="640080" cy="640080"/>
          </a:xfrm>
          <a:prstGeom prst="ellipse">
            <a:avLst/>
          </a:prstGeom>
          <a:solidFill>
            <a:schemeClr val="accent1"/>
          </a:solidFill>
          <a:ln w="12700">
            <a:solidFill>
              <a:schemeClr val="accent1"/>
            </a:solidFill>
            <a:prstDash val="solid"/>
          </a:ln>
        </p:spPr>
      </p:sp>
      <p:pic>
        <p:nvPicPr>
          <p:cNvPr id="25" name="a2_flow4_icon" descr="preencoded.png">    </p:cNvPr>
          <p:cNvPicPr>
            <a:picLocks noChangeAspect="1"/>
          </p:cNvPicPr>
          <p:nvPr/>
        </p:nvPicPr>
        <p:blipFill>
          <a:blip r:embed="rId5"/>
          <a:stretch>
            <a:fillRect/>
          </a:stretch>
        </p:blipFill>
        <p:spPr>
          <a:xfrm>
            <a:off x="885139" y="3875227"/>
            <a:ext cx="332842" cy="332842"/>
          </a:xfrm>
          <a:prstGeom prst="rect">
            <a:avLst/>
          </a:prstGeom>
        </p:spPr>
      </p:pic>
      <p:sp>
        <p:nvSpPr>
          <p:cNvPr id="26" name="a2_flow4_title"/>
          <p:cNvSpPr txBox="1"/>
          <p:nvPr/>
        </p:nvSpPr>
        <p:spPr>
          <a:xfrm>
            <a:off x="1554480" y="3703320"/>
            <a:ext cx="4206240" cy="365760"/>
          </a:xfrm>
          <a:prstGeom prst="rect">
            <a:avLst/>
          </a:prstGeom>
          <a:noFill/>
          <a:ln/>
        </p:spPr>
        <p:txBody>
          <a:bodyPr wrap="square" lIns="0" tIns="0" rIns="0" bIns="0" rtlCol="0" anchor="t"/>
          <a:lstStyle/>
          <a:p>
            <a:pPr indent="0" marL="0">
              <a:buNone/>
            </a:pPr>
            <a:r>
              <a:rPr lang="en-US" sz="1600" b="1" dirty="0">
                <a:solidFill>
                  <a:schemeClr val="tx2"/>
                </a:solidFill>
              </a:rPr>
              <a:t>ER-05 Find app</a:t>
            </a:r>
            <a:endParaRPr lang="en-US" sz="1600" dirty="0"/>
          </a:p>
        </p:txBody>
      </p:sp>
      <p:sp>
        <p:nvSpPr>
          <p:cNvPr id="27" name="a2_flow4_text"/>
          <p:cNvSpPr txBox="1"/>
          <p:nvPr/>
        </p:nvSpPr>
        <p:spPr>
          <a:xfrm>
            <a:off x="1554480" y="4050792"/>
            <a:ext cx="4206240" cy="411480"/>
          </a:xfrm>
          <a:prstGeom prst="rect">
            <a:avLst/>
          </a:prstGeom>
          <a:noFill/>
          <a:ln/>
        </p:spPr>
        <p:txBody>
          <a:bodyPr wrap="square" lIns="0" tIns="0" rIns="0" bIns="0" rtlCol="0" anchor="t"/>
          <a:lstStyle/>
          <a:p>
            <a:pPr indent="0" marL="0">
              <a:buNone/>
            </a:pPr>
            <a:r>
              <a:rPr lang="en-US" sz="1300" dirty="0">
                <a:solidFill>
                  <a:schemeClr val="tx1"/>
                </a:solidFill>
              </a:rPr>
              <a:t>Search by app ID; only the owner can continue</a:t>
            </a:r>
            <a:endParaRPr lang="en-US" sz="1300" dirty="0"/>
          </a:p>
        </p:txBody>
      </p:sp>
      <p:sp>
        <p:nvSpPr>
          <p:cNvPr id="28" name="a2_flow5_card"/>
          <p:cNvSpPr/>
          <p:nvPr/>
        </p:nvSpPr>
        <p:spPr>
          <a:xfrm>
            <a:off x="6172200" y="3566160"/>
            <a:ext cx="5394960" cy="960120"/>
          </a:xfrm>
          <a:prstGeom prst="roundRect">
            <a:avLst>
              <a:gd name="adj" fmla="val 11429"/>
            </a:avLst>
          </a:prstGeom>
          <a:solidFill>
            <a:schemeClr val="bg2"/>
          </a:solidFill>
          <a:ln w="12700">
            <a:solidFill>
              <a:schemeClr val="bg2"/>
            </a:solidFill>
            <a:prstDash val="solid"/>
          </a:ln>
          <a:effectLst>
            <a:outerShdw sx="100000" sy="100000" kx="0" ky="0" algn="bl" rotWithShape="0" blurRad="76200" dist="25400" dir="5400000">
              <a:srgbClr val="7F9DB9">
                <a:alpha val="25000"/>
              </a:srgbClr>
            </a:outerShdw>
          </a:effectLst>
        </p:spPr>
      </p:sp>
      <p:sp>
        <p:nvSpPr>
          <p:cNvPr id="29" name="a2_flow5_circle"/>
          <p:cNvSpPr/>
          <p:nvPr/>
        </p:nvSpPr>
        <p:spPr>
          <a:xfrm>
            <a:off x="6355080" y="3721608"/>
            <a:ext cx="640080" cy="640080"/>
          </a:xfrm>
          <a:prstGeom prst="ellipse">
            <a:avLst/>
          </a:prstGeom>
          <a:solidFill>
            <a:schemeClr val="accent1"/>
          </a:solidFill>
          <a:ln w="12700">
            <a:solidFill>
              <a:schemeClr val="accent1"/>
            </a:solidFill>
            <a:prstDash val="solid"/>
          </a:ln>
        </p:spPr>
      </p:sp>
      <p:pic>
        <p:nvPicPr>
          <p:cNvPr id="30" name="a2_flow5_icon" descr="preencoded.png">    </p:cNvPr>
          <p:cNvPicPr>
            <a:picLocks noChangeAspect="1"/>
          </p:cNvPicPr>
          <p:nvPr/>
        </p:nvPicPr>
        <p:blipFill>
          <a:blip r:embed="rId6"/>
          <a:stretch>
            <a:fillRect/>
          </a:stretch>
        </p:blipFill>
        <p:spPr>
          <a:xfrm>
            <a:off x="6508699" y="3875227"/>
            <a:ext cx="332842" cy="332842"/>
          </a:xfrm>
          <a:prstGeom prst="rect">
            <a:avLst/>
          </a:prstGeom>
        </p:spPr>
      </p:pic>
      <p:sp>
        <p:nvSpPr>
          <p:cNvPr id="31" name="a2_flow5_title"/>
          <p:cNvSpPr txBox="1"/>
          <p:nvPr/>
        </p:nvSpPr>
        <p:spPr>
          <a:xfrm>
            <a:off x="7178040" y="3703320"/>
            <a:ext cx="4206240" cy="365760"/>
          </a:xfrm>
          <a:prstGeom prst="rect">
            <a:avLst/>
          </a:prstGeom>
          <a:noFill/>
          <a:ln/>
        </p:spPr>
        <p:txBody>
          <a:bodyPr wrap="square" lIns="0" tIns="0" rIns="0" bIns="0" rtlCol="0" anchor="t"/>
          <a:lstStyle/>
          <a:p>
            <a:pPr indent="0" marL="0">
              <a:buNone/>
            </a:pPr>
            <a:r>
              <a:rPr lang="en-US" sz="1600" b="1" dirty="0">
                <a:solidFill>
                  <a:schemeClr val="tx2"/>
                </a:solidFill>
              </a:rPr>
              <a:t>ER-06 Owning group</a:t>
            </a:r>
            <a:endParaRPr lang="en-US" sz="1600" dirty="0"/>
          </a:p>
        </p:txBody>
      </p:sp>
      <p:sp>
        <p:nvSpPr>
          <p:cNvPr id="32" name="a2_flow5_text"/>
          <p:cNvSpPr txBox="1"/>
          <p:nvPr/>
        </p:nvSpPr>
        <p:spPr>
          <a:xfrm>
            <a:off x="7178040" y="4050792"/>
            <a:ext cx="4206240" cy="411480"/>
          </a:xfrm>
          <a:prstGeom prst="rect">
            <a:avLst/>
          </a:prstGeom>
          <a:noFill/>
          <a:ln/>
        </p:spPr>
        <p:txBody>
          <a:bodyPr wrap="square" lIns="0" tIns="0" rIns="0" bIns="0" rtlCol="0" anchor="t"/>
          <a:lstStyle/>
          <a:p>
            <a:pPr indent="0" marL="0">
              <a:buNone/>
            </a:pPr>
            <a:r>
              <a:rPr lang="en-US" sz="1300" dirty="0">
                <a:solidFill>
                  <a:schemeClr val="tx1"/>
                </a:solidFill>
              </a:rPr>
              <a:t>Hand an app from a person to a group</a:t>
            </a:r>
            <a:endParaRPr lang="en-US" sz="1300" dirty="0"/>
          </a:p>
        </p:txBody>
      </p:sp>
      <p:sp>
        <p:nvSpPr>
          <p:cNvPr id="33" name="a3_flow6_card"/>
          <p:cNvSpPr/>
          <p:nvPr/>
        </p:nvSpPr>
        <p:spPr>
          <a:xfrm>
            <a:off x="548640" y="4709160"/>
            <a:ext cx="5394960" cy="960120"/>
          </a:xfrm>
          <a:prstGeom prst="roundRect">
            <a:avLst>
              <a:gd name="adj" fmla="val 11429"/>
            </a:avLst>
          </a:prstGeom>
          <a:solidFill>
            <a:schemeClr val="bg2"/>
          </a:solidFill>
          <a:ln w="12700">
            <a:solidFill>
              <a:schemeClr val="bg2"/>
            </a:solidFill>
            <a:prstDash val="solid"/>
          </a:ln>
          <a:effectLst>
            <a:outerShdw sx="100000" sy="100000" kx="0" ky="0" algn="bl" rotWithShape="0" blurRad="76200" dist="25400" dir="5400000">
              <a:srgbClr val="7F9DB9">
                <a:alpha val="25000"/>
              </a:srgbClr>
            </a:outerShdw>
          </a:effectLst>
        </p:spPr>
      </p:sp>
      <p:sp>
        <p:nvSpPr>
          <p:cNvPr id="34" name="a3_flow6_circle"/>
          <p:cNvSpPr/>
          <p:nvPr/>
        </p:nvSpPr>
        <p:spPr>
          <a:xfrm>
            <a:off x="731520" y="4864608"/>
            <a:ext cx="640080" cy="640080"/>
          </a:xfrm>
          <a:prstGeom prst="ellipse">
            <a:avLst/>
          </a:prstGeom>
          <a:solidFill>
            <a:schemeClr val="accent1"/>
          </a:solidFill>
          <a:ln w="12700">
            <a:solidFill>
              <a:schemeClr val="accent1"/>
            </a:solidFill>
            <a:prstDash val="solid"/>
          </a:ln>
        </p:spPr>
      </p:sp>
      <p:pic>
        <p:nvPicPr>
          <p:cNvPr id="35" name="a3_flow6_icon" descr="preencoded.png">    </p:cNvPr>
          <p:cNvPicPr>
            <a:picLocks noChangeAspect="1"/>
          </p:cNvPicPr>
          <p:nvPr/>
        </p:nvPicPr>
        <p:blipFill>
          <a:blip r:embed="rId7"/>
          <a:stretch>
            <a:fillRect/>
          </a:stretch>
        </p:blipFill>
        <p:spPr>
          <a:xfrm>
            <a:off x="885139" y="5018227"/>
            <a:ext cx="332842" cy="332842"/>
          </a:xfrm>
          <a:prstGeom prst="rect">
            <a:avLst/>
          </a:prstGeom>
        </p:spPr>
      </p:pic>
      <p:sp>
        <p:nvSpPr>
          <p:cNvPr id="36" name="a3_flow6_title"/>
          <p:cNvSpPr txBox="1"/>
          <p:nvPr/>
        </p:nvSpPr>
        <p:spPr>
          <a:xfrm>
            <a:off x="1554480" y="4846320"/>
            <a:ext cx="4206240" cy="365760"/>
          </a:xfrm>
          <a:prstGeom prst="rect">
            <a:avLst/>
          </a:prstGeom>
          <a:noFill/>
          <a:ln/>
        </p:spPr>
        <p:txBody>
          <a:bodyPr wrap="square" lIns="0" tIns="0" rIns="0" bIns="0" rtlCol="0" anchor="t"/>
          <a:lstStyle/>
          <a:p>
            <a:pPr indent="0" marL="0">
              <a:buNone/>
            </a:pPr>
            <a:r>
              <a:rPr lang="en-US" sz="1600" b="1" dirty="0">
                <a:solidFill>
                  <a:schemeClr val="tx2"/>
                </a:solidFill>
              </a:rPr>
              <a:t>ER-07 Requeue</a:t>
            </a:r>
            <a:endParaRPr lang="en-US" sz="1600" dirty="0"/>
          </a:p>
        </p:txBody>
      </p:sp>
      <p:sp>
        <p:nvSpPr>
          <p:cNvPr id="37" name="a3_flow6_text"/>
          <p:cNvSpPr txBox="1"/>
          <p:nvPr/>
        </p:nvSpPr>
        <p:spPr>
          <a:xfrm>
            <a:off x="1554480" y="5193792"/>
            <a:ext cx="4206240" cy="411480"/>
          </a:xfrm>
          <a:prstGeom prst="rect">
            <a:avLst/>
          </a:prstGeom>
          <a:noFill/>
          <a:ln/>
        </p:spPr>
        <p:txBody>
          <a:bodyPr wrap="square" lIns="0" tIns="0" rIns="0" bIns="0" rtlCol="0" anchor="t"/>
          <a:lstStyle/>
          <a:p>
            <a:pPr indent="0" marL="0">
              <a:buNone/>
            </a:pPr>
            <a:r>
              <a:rPr lang="en-US" sz="1300" dirty="0">
                <a:solidFill>
                  <a:schemeClr val="tx1"/>
                </a:solidFill>
              </a:rPr>
              <a:t>Entra team re-runs approved requests</a:t>
            </a:r>
            <a:endParaRPr lang="en-US" sz="1300" dirty="0"/>
          </a:p>
        </p:txBody>
      </p:sp>
      <p:sp>
        <p:nvSpPr>
          <p:cNvPr id="38" name="a3_flow7_card"/>
          <p:cNvSpPr/>
          <p:nvPr/>
        </p:nvSpPr>
        <p:spPr>
          <a:xfrm>
            <a:off x="6172200" y="4709160"/>
            <a:ext cx="5394960" cy="960120"/>
          </a:xfrm>
          <a:prstGeom prst="roundRect">
            <a:avLst>
              <a:gd name="adj" fmla="val 11429"/>
            </a:avLst>
          </a:prstGeom>
          <a:solidFill>
            <a:schemeClr val="bg2"/>
          </a:solidFill>
          <a:ln w="12700">
            <a:solidFill>
              <a:schemeClr val="bg2"/>
            </a:solidFill>
            <a:prstDash val="solid"/>
          </a:ln>
          <a:effectLst>
            <a:outerShdw sx="100000" sy="100000" kx="0" ky="0" algn="bl" rotWithShape="0" blurRad="76200" dist="25400" dir="5400000">
              <a:srgbClr val="7F9DB9">
                <a:alpha val="25000"/>
              </a:srgbClr>
            </a:outerShdw>
          </a:effectLst>
        </p:spPr>
      </p:sp>
      <p:sp>
        <p:nvSpPr>
          <p:cNvPr id="39" name="a3_flow7_circle"/>
          <p:cNvSpPr/>
          <p:nvPr/>
        </p:nvSpPr>
        <p:spPr>
          <a:xfrm>
            <a:off x="6355080" y="4864608"/>
            <a:ext cx="640080" cy="640080"/>
          </a:xfrm>
          <a:prstGeom prst="ellipse">
            <a:avLst/>
          </a:prstGeom>
          <a:solidFill>
            <a:schemeClr val="accent1"/>
          </a:solidFill>
          <a:ln w="12700">
            <a:solidFill>
              <a:schemeClr val="accent1"/>
            </a:solidFill>
            <a:prstDash val="solid"/>
          </a:ln>
        </p:spPr>
      </p:sp>
      <p:pic>
        <p:nvPicPr>
          <p:cNvPr id="40" name="a3_flow7_icon" descr="preencoded.png">    </p:cNvPr>
          <p:cNvPicPr>
            <a:picLocks noChangeAspect="1"/>
          </p:cNvPicPr>
          <p:nvPr/>
        </p:nvPicPr>
        <p:blipFill>
          <a:blip r:embed="rId8"/>
          <a:stretch>
            <a:fillRect/>
          </a:stretch>
        </p:blipFill>
        <p:spPr>
          <a:xfrm>
            <a:off x="6508699" y="5018227"/>
            <a:ext cx="332842" cy="332842"/>
          </a:xfrm>
          <a:prstGeom prst="rect">
            <a:avLst/>
          </a:prstGeom>
        </p:spPr>
      </p:pic>
      <p:sp>
        <p:nvSpPr>
          <p:cNvPr id="41" name="a3_flow7_title"/>
          <p:cNvSpPr txBox="1"/>
          <p:nvPr/>
        </p:nvSpPr>
        <p:spPr>
          <a:xfrm>
            <a:off x="7178040" y="4846320"/>
            <a:ext cx="4206240" cy="365760"/>
          </a:xfrm>
          <a:prstGeom prst="rect">
            <a:avLst/>
          </a:prstGeom>
          <a:noFill/>
          <a:ln/>
        </p:spPr>
        <p:txBody>
          <a:bodyPr wrap="square" lIns="0" tIns="0" rIns="0" bIns="0" rtlCol="0" anchor="t"/>
          <a:lstStyle/>
          <a:p>
            <a:pPr indent="0" marL="0">
              <a:buNone/>
            </a:pPr>
            <a:r>
              <a:rPr lang="en-US" sz="1600" b="1" dirty="0">
                <a:solidFill>
                  <a:schemeClr val="tx2"/>
                </a:solidFill>
              </a:rPr>
              <a:t>Change requests</a:t>
            </a:r>
            <a:endParaRPr lang="en-US" sz="1600" dirty="0"/>
          </a:p>
        </p:txBody>
      </p:sp>
      <p:sp>
        <p:nvSpPr>
          <p:cNvPr id="42" name="a3_flow7_text"/>
          <p:cNvSpPr txBox="1"/>
          <p:nvPr/>
        </p:nvSpPr>
        <p:spPr>
          <a:xfrm>
            <a:off x="7178040" y="5193792"/>
            <a:ext cx="4206240" cy="411480"/>
          </a:xfrm>
          <a:prstGeom prst="rect">
            <a:avLst/>
          </a:prstGeom>
          <a:noFill/>
          <a:ln/>
        </p:spPr>
        <p:txBody>
          <a:bodyPr wrap="square" lIns="0" tIns="0" rIns="0" bIns="0" rtlCol="0" anchor="t"/>
          <a:lstStyle/>
          <a:p>
            <a:pPr indent="0" marL="0">
              <a:buNone/>
            </a:pPr>
            <a:r>
              <a:rPr lang="en-US" sz="1300" dirty="0">
                <a:solidFill>
                  <a:schemeClr val="tx1"/>
                </a:solidFill>
              </a:rPr>
              <a:t>Expose an API, app roles, role assignments, enterprise app</a:t>
            </a:r>
            <a:endParaRPr lang="en-US" sz="13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timing>
    <p:tnLst>
      <p:par>
        <p:cTn id="1" dur="indefinite" restart="never" nodeType="tmRoot">
          <p:childTnLst>
            <p:seq concurrent="1" nextAc="seek">
              <p:cTn id="2" dur="indefinite" nodeType="mainSeq">
                <p:childTnLst>
                  <p:par>
                    <p:cTn id="48" fill="hold">
                      <p:stCondLst>
                        <p:cond delay="indefinite"/>
                      </p:stCondLst>
                      <p:childTnLst>
                        <p:par>
                          <p:cTn id="49"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400"/>
                                        <p:tgtEl>
                                          <p:spTgt spid="3"/>
                                        </p:tgtEl>
                                      </p:cBhvr>
                                    </p:animEffect>
                                  </p:childTnLst>
                                </p:cTn>
                              </p:par>
                              <p:par>
                                <p:cTn id="6" presetID="10" presetClass="entr" presetSubtype="0" fill="hold" nodeType="withEffect">
                                  <p:stCondLst>
                                    <p:cond delay="0"/>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400"/>
                                        <p:tgtEl>
                                          <p:spTgt spid="4"/>
                                        </p:tgtEl>
                                      </p:cBhvr>
                                    </p:animEffect>
                                  </p:childTnLst>
                                </p:cTn>
                              </p:par>
                              <p:par>
                                <p:cTn id="9" presetID="10" presetClass="entr" presetSubtype="0" fill="hold" nodeType="with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400"/>
                                        <p:tgtEl>
                                          <p:spTgt spid="5"/>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400"/>
                                        <p:tgtEl>
                                          <p:spTgt spid="6"/>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400"/>
                                        <p:tgtEl>
                                          <p:spTgt spid="7"/>
                                        </p:tgtEl>
                                      </p:cBhvr>
                                    </p:animEffect>
                                  </p:childTnLst>
                                </p:cTn>
                              </p:par>
                              <p:par>
                                <p:cTn id="18" presetID="10" presetClass="entr" presetSubtype="0" fill="hold"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400"/>
                                        <p:tgtEl>
                                          <p:spTgt spid="8"/>
                                        </p:tgtEl>
                                      </p:cBhvr>
                                    </p:animEffect>
                                  </p:childTnLst>
                                </p:cTn>
                              </p:par>
                              <p:par>
                                <p:cTn id="21" presetID="10" presetClass="entr" presetSubtype="0" fill="hold"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400"/>
                                        <p:tgtEl>
                                          <p:spTgt spid="9"/>
                                        </p:tgtEl>
                                      </p:cBhvr>
                                    </p:animEffect>
                                  </p:childTnLst>
                                </p:cTn>
                              </p:par>
                              <p:par>
                                <p:cTn id="24" presetID="10" presetClass="entr" presetSubtype="0" fill="hold"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4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400"/>
                                        <p:tgtEl>
                                          <p:spTgt spid="1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400"/>
                                        <p:tgtEl>
                                          <p:spTgt spid="12"/>
                                        </p:tgtEl>
                                      </p:cBhvr>
                                    </p:animEffect>
                                  </p:childTnLst>
                                </p:cTn>
                              </p:par>
                              <p:par>
                                <p:cTn id="33" presetID="10" presetClass="entr" presetSubtype="0" fill="hold"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childTnLst>
                          </p:cTn>
                        </p:par>
                      </p:childTnLst>
                    </p:cTn>
                  </p:par>
                  <p:par>
                    <p:cTn id="95" fill="hold">
                      <p:stCondLst>
                        <p:cond delay="indefinite"/>
                      </p:stCondLst>
                      <p:childTnLst>
                        <p:par>
                          <p:cTn id="96"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par>
                                <p:cTn id="53" presetID="10" presetClass="entr" presetSubtype="0" fill="hold"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00"/>
                                        <p:tgtEl>
                                          <p:spTgt spid="19"/>
                                        </p:tgtEl>
                                      </p:cBhvr>
                                    </p:animEffect>
                                  </p:childTnLst>
                                </p:cTn>
                              </p:par>
                              <p:par>
                                <p:cTn id="56" presetID="10" presetClass="entr" presetSubtype="0" fill="hold"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400"/>
                                        <p:tgtEl>
                                          <p:spTgt spid="2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400"/>
                                        <p:tgtEl>
                                          <p:spTgt spid="22"/>
                                        </p:tgtEl>
                                      </p:cBhvr>
                                    </p:animEffect>
                                  </p:childTnLst>
                                </p:cTn>
                              </p:par>
                              <p:par>
                                <p:cTn id="65" presetID="10" presetClass="entr" presetSubtype="0" fill="hold" nodeType="with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400"/>
                                        <p:tgtEl>
                                          <p:spTgt spid="23"/>
                                        </p:tgtEl>
                                      </p:cBhvr>
                                    </p:animEffect>
                                  </p:childTnLst>
                                </p:cTn>
                              </p:par>
                              <p:par>
                                <p:cTn id="68" presetID="10" presetClass="entr" presetSubtype="0" fill="hold" nodeType="with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400"/>
                                        <p:tgtEl>
                                          <p:spTgt spid="24"/>
                                        </p:tgtEl>
                                      </p:cBhvr>
                                    </p:animEffect>
                                  </p:childTnLst>
                                </p:cTn>
                              </p:par>
                              <p:par>
                                <p:cTn id="71" presetID="10" presetClass="entr" presetSubtype="0" fill="hold" nodeType="withEffect">
                                  <p:stCondLst>
                                    <p:cond delay="0"/>
                                  </p:stCondLst>
                                  <p:childTnLst>
                                    <p:set>
                                      <p:cBhvr>
                                        <p:cTn id="72" dur="1" fill="hold">
                                          <p:stCondLst>
                                            <p:cond delay="0"/>
                                          </p:stCondLst>
                                        </p:cTn>
                                        <p:tgtEl>
                                          <p:spTgt spid="25"/>
                                        </p:tgtEl>
                                        <p:attrNameLst>
                                          <p:attrName>style.visibility</p:attrName>
                                        </p:attrNameLst>
                                      </p:cBhvr>
                                      <p:to>
                                        <p:strVal val="visible"/>
                                      </p:to>
                                    </p:set>
                                    <p:animEffect transition="in" filter="fade">
                                      <p:cBhvr>
                                        <p:cTn id="73" dur="400"/>
                                        <p:tgtEl>
                                          <p:spTgt spid="25"/>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6"/>
                                        </p:tgtEl>
                                        <p:attrNameLst>
                                          <p:attrName>style.visibility</p:attrName>
                                        </p:attrNameLst>
                                      </p:cBhvr>
                                      <p:to>
                                        <p:strVal val="visible"/>
                                      </p:to>
                                    </p:set>
                                    <p:animEffect transition="in" filter="fade">
                                      <p:cBhvr>
                                        <p:cTn id="76" dur="400"/>
                                        <p:tgtEl>
                                          <p:spTgt spid="26"/>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27"/>
                                        </p:tgtEl>
                                        <p:attrNameLst>
                                          <p:attrName>style.visibility</p:attrName>
                                        </p:attrNameLst>
                                      </p:cBhvr>
                                      <p:to>
                                        <p:strVal val="visible"/>
                                      </p:to>
                                    </p:set>
                                    <p:animEffect transition="in" filter="fade">
                                      <p:cBhvr>
                                        <p:cTn id="79" dur="400"/>
                                        <p:tgtEl>
                                          <p:spTgt spid="27"/>
                                        </p:tgtEl>
                                      </p:cBhvr>
                                    </p:animEffect>
                                  </p:childTnLst>
                                </p:cTn>
                              </p:par>
                              <p:par>
                                <p:cTn id="80" presetID="10" presetClass="entr" presetSubtype="0" fill="hold" nodeType="withEffect">
                                  <p:stCondLst>
                                    <p:cond delay="0"/>
                                  </p:stCondLst>
                                  <p:childTnLst>
                                    <p:set>
                                      <p:cBhvr>
                                        <p:cTn id="81" dur="1" fill="hold">
                                          <p:stCondLst>
                                            <p:cond delay="0"/>
                                          </p:stCondLst>
                                        </p:cTn>
                                        <p:tgtEl>
                                          <p:spTgt spid="28"/>
                                        </p:tgtEl>
                                        <p:attrNameLst>
                                          <p:attrName>style.visibility</p:attrName>
                                        </p:attrNameLst>
                                      </p:cBhvr>
                                      <p:to>
                                        <p:strVal val="visible"/>
                                      </p:to>
                                    </p:set>
                                    <p:animEffect transition="in" filter="fade">
                                      <p:cBhvr>
                                        <p:cTn id="82" dur="400"/>
                                        <p:tgtEl>
                                          <p:spTgt spid="28"/>
                                        </p:tgtEl>
                                      </p:cBhvr>
                                    </p:animEffect>
                                  </p:childTnLst>
                                </p:cTn>
                              </p:par>
                              <p:par>
                                <p:cTn id="83" presetID="10" presetClass="entr" presetSubtype="0" fill="hold" nodeType="withEffect">
                                  <p:stCondLst>
                                    <p:cond delay="0"/>
                                  </p:stCondLst>
                                  <p:childTnLst>
                                    <p:set>
                                      <p:cBhvr>
                                        <p:cTn id="84" dur="1" fill="hold">
                                          <p:stCondLst>
                                            <p:cond delay="0"/>
                                          </p:stCondLst>
                                        </p:cTn>
                                        <p:tgtEl>
                                          <p:spTgt spid="29"/>
                                        </p:tgtEl>
                                        <p:attrNameLst>
                                          <p:attrName>style.visibility</p:attrName>
                                        </p:attrNameLst>
                                      </p:cBhvr>
                                      <p:to>
                                        <p:strVal val="visible"/>
                                      </p:to>
                                    </p:set>
                                    <p:animEffect transition="in" filter="fade">
                                      <p:cBhvr>
                                        <p:cTn id="85" dur="400"/>
                                        <p:tgtEl>
                                          <p:spTgt spid="29"/>
                                        </p:tgtEl>
                                      </p:cBhvr>
                                    </p:animEffect>
                                  </p:childTnLst>
                                </p:cTn>
                              </p:par>
                              <p:par>
                                <p:cTn id="86" presetID="10" presetClass="entr" presetSubtype="0" fill="hold" nodeType="withEffect">
                                  <p:stCondLst>
                                    <p:cond delay="0"/>
                                  </p:stCondLst>
                                  <p:childTnLst>
                                    <p:set>
                                      <p:cBhvr>
                                        <p:cTn id="87" dur="1" fill="hold">
                                          <p:stCondLst>
                                            <p:cond delay="0"/>
                                          </p:stCondLst>
                                        </p:cTn>
                                        <p:tgtEl>
                                          <p:spTgt spid="30"/>
                                        </p:tgtEl>
                                        <p:attrNameLst>
                                          <p:attrName>style.visibility</p:attrName>
                                        </p:attrNameLst>
                                      </p:cBhvr>
                                      <p:to>
                                        <p:strVal val="visible"/>
                                      </p:to>
                                    </p:set>
                                    <p:animEffect transition="in" filter="fade">
                                      <p:cBhvr>
                                        <p:cTn id="88" dur="400"/>
                                        <p:tgtEl>
                                          <p:spTgt spid="30"/>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1"/>
                                        </p:tgtEl>
                                        <p:attrNameLst>
                                          <p:attrName>style.visibility</p:attrName>
                                        </p:attrNameLst>
                                      </p:cBhvr>
                                      <p:to>
                                        <p:strVal val="visible"/>
                                      </p:to>
                                    </p:set>
                                    <p:animEffect transition="in" filter="fade">
                                      <p:cBhvr>
                                        <p:cTn id="91" dur="400"/>
                                        <p:tgtEl>
                                          <p:spTgt spid="31"/>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32"/>
                                        </p:tgtEl>
                                        <p:attrNameLst>
                                          <p:attrName>style.visibility</p:attrName>
                                        </p:attrNameLst>
                                      </p:cBhvr>
                                      <p:to>
                                        <p:strVal val="visible"/>
                                      </p:to>
                                    </p:set>
                                    <p:animEffect transition="in" filter="fade">
                                      <p:cBhvr>
                                        <p:cTn id="94" dur="400"/>
                                        <p:tgtEl>
                                          <p:spTgt spid="32"/>
                                        </p:tgtEl>
                                      </p:cBhvr>
                                    </p:animEffect>
                                  </p:childTnLst>
                                </p:cTn>
                              </p:par>
                            </p:childTnLst>
                          </p:cTn>
                        </p:par>
                      </p:childTnLst>
                    </p:cTn>
                  </p:par>
                  <p:par>
                    <p:cTn id="127" fill="hold">
                      <p:stCondLst>
                        <p:cond delay="indefinite"/>
                      </p:stCondLst>
                      <p:childTnLst>
                        <p:par>
                          <p:cTn id="128" fill="hold">
                            <p:stCondLst>
                              <p:cond delay="0"/>
                            </p:stCondLst>
                            <p:childTnLst>
                              <p:par>
                                <p:cTn id="97" presetID="10" presetClass="entr" presetSubtype="0" fill="hold" nodeType="clickEffect">
                                  <p:stCondLst>
                                    <p:cond delay="0"/>
                                  </p:stCondLst>
                                  <p:childTnLst>
                                    <p:set>
                                      <p:cBhvr>
                                        <p:cTn id="98" dur="1" fill="hold">
                                          <p:stCondLst>
                                            <p:cond delay="0"/>
                                          </p:stCondLst>
                                        </p:cTn>
                                        <p:tgtEl>
                                          <p:spTgt spid="33"/>
                                        </p:tgtEl>
                                        <p:attrNameLst>
                                          <p:attrName>style.visibility</p:attrName>
                                        </p:attrNameLst>
                                      </p:cBhvr>
                                      <p:to>
                                        <p:strVal val="visible"/>
                                      </p:to>
                                    </p:set>
                                    <p:animEffect transition="in" filter="fade">
                                      <p:cBhvr>
                                        <p:cTn id="99" dur="400"/>
                                        <p:tgtEl>
                                          <p:spTgt spid="33"/>
                                        </p:tgtEl>
                                      </p:cBhvr>
                                    </p:animEffect>
                                  </p:childTnLst>
                                </p:cTn>
                              </p:par>
                              <p:par>
                                <p:cTn id="100" presetID="10" presetClass="entr" presetSubtype="0" fill="hold" nodeType="withEffect">
                                  <p:stCondLst>
                                    <p:cond delay="0"/>
                                  </p:stCondLst>
                                  <p:childTnLst>
                                    <p:set>
                                      <p:cBhvr>
                                        <p:cTn id="101" dur="1" fill="hold">
                                          <p:stCondLst>
                                            <p:cond delay="0"/>
                                          </p:stCondLst>
                                        </p:cTn>
                                        <p:tgtEl>
                                          <p:spTgt spid="34"/>
                                        </p:tgtEl>
                                        <p:attrNameLst>
                                          <p:attrName>style.visibility</p:attrName>
                                        </p:attrNameLst>
                                      </p:cBhvr>
                                      <p:to>
                                        <p:strVal val="visible"/>
                                      </p:to>
                                    </p:set>
                                    <p:animEffect transition="in" filter="fade">
                                      <p:cBhvr>
                                        <p:cTn id="102" dur="400"/>
                                        <p:tgtEl>
                                          <p:spTgt spid="34"/>
                                        </p:tgtEl>
                                      </p:cBhvr>
                                    </p:animEffect>
                                  </p:childTnLst>
                                </p:cTn>
                              </p:par>
                              <p:par>
                                <p:cTn id="103" presetID="10" presetClass="entr" presetSubtype="0" fill="hold" nodeType="withEffect">
                                  <p:stCondLst>
                                    <p:cond delay="0"/>
                                  </p:stCondLst>
                                  <p:childTnLst>
                                    <p:set>
                                      <p:cBhvr>
                                        <p:cTn id="104" dur="1" fill="hold">
                                          <p:stCondLst>
                                            <p:cond delay="0"/>
                                          </p:stCondLst>
                                        </p:cTn>
                                        <p:tgtEl>
                                          <p:spTgt spid="35"/>
                                        </p:tgtEl>
                                        <p:attrNameLst>
                                          <p:attrName>style.visibility</p:attrName>
                                        </p:attrNameLst>
                                      </p:cBhvr>
                                      <p:to>
                                        <p:strVal val="visible"/>
                                      </p:to>
                                    </p:set>
                                    <p:animEffect transition="in" filter="fade">
                                      <p:cBhvr>
                                        <p:cTn id="105" dur="400"/>
                                        <p:tgtEl>
                                          <p:spTgt spid="35"/>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36"/>
                                        </p:tgtEl>
                                        <p:attrNameLst>
                                          <p:attrName>style.visibility</p:attrName>
                                        </p:attrNameLst>
                                      </p:cBhvr>
                                      <p:to>
                                        <p:strVal val="visible"/>
                                      </p:to>
                                    </p:set>
                                    <p:animEffect transition="in" filter="fade">
                                      <p:cBhvr>
                                        <p:cTn id="108" dur="400"/>
                                        <p:tgtEl>
                                          <p:spTgt spid="36"/>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37"/>
                                        </p:tgtEl>
                                        <p:attrNameLst>
                                          <p:attrName>style.visibility</p:attrName>
                                        </p:attrNameLst>
                                      </p:cBhvr>
                                      <p:to>
                                        <p:strVal val="visible"/>
                                      </p:to>
                                    </p:set>
                                    <p:animEffect transition="in" filter="fade">
                                      <p:cBhvr>
                                        <p:cTn id="111" dur="400"/>
                                        <p:tgtEl>
                                          <p:spTgt spid="37"/>
                                        </p:tgtEl>
                                      </p:cBhvr>
                                    </p:animEffect>
                                  </p:childTnLst>
                                </p:cTn>
                              </p:par>
                              <p:par>
                                <p:cTn id="112" presetID="10" presetClass="entr" presetSubtype="0" fill="hold" nodeType="withEffect">
                                  <p:stCondLst>
                                    <p:cond delay="0"/>
                                  </p:stCondLst>
                                  <p:childTnLst>
                                    <p:set>
                                      <p:cBhvr>
                                        <p:cTn id="113" dur="1" fill="hold">
                                          <p:stCondLst>
                                            <p:cond delay="0"/>
                                          </p:stCondLst>
                                        </p:cTn>
                                        <p:tgtEl>
                                          <p:spTgt spid="38"/>
                                        </p:tgtEl>
                                        <p:attrNameLst>
                                          <p:attrName>style.visibility</p:attrName>
                                        </p:attrNameLst>
                                      </p:cBhvr>
                                      <p:to>
                                        <p:strVal val="visible"/>
                                      </p:to>
                                    </p:set>
                                    <p:animEffect transition="in" filter="fade">
                                      <p:cBhvr>
                                        <p:cTn id="114" dur="400"/>
                                        <p:tgtEl>
                                          <p:spTgt spid="38"/>
                                        </p:tgtEl>
                                      </p:cBhvr>
                                    </p:animEffect>
                                  </p:childTnLst>
                                </p:cTn>
                              </p:par>
                              <p:par>
                                <p:cTn id="115" presetID="10" presetClass="entr" presetSubtype="0" fill="hold" nodeType="withEffect">
                                  <p:stCondLst>
                                    <p:cond delay="0"/>
                                  </p:stCondLst>
                                  <p:childTnLst>
                                    <p:set>
                                      <p:cBhvr>
                                        <p:cTn id="116" dur="1" fill="hold">
                                          <p:stCondLst>
                                            <p:cond delay="0"/>
                                          </p:stCondLst>
                                        </p:cTn>
                                        <p:tgtEl>
                                          <p:spTgt spid="39"/>
                                        </p:tgtEl>
                                        <p:attrNameLst>
                                          <p:attrName>style.visibility</p:attrName>
                                        </p:attrNameLst>
                                      </p:cBhvr>
                                      <p:to>
                                        <p:strVal val="visible"/>
                                      </p:to>
                                    </p:set>
                                    <p:animEffect transition="in" filter="fade">
                                      <p:cBhvr>
                                        <p:cTn id="117" dur="400"/>
                                        <p:tgtEl>
                                          <p:spTgt spid="39"/>
                                        </p:tgtEl>
                                      </p:cBhvr>
                                    </p:animEffect>
                                  </p:childTnLst>
                                </p:cTn>
                              </p:par>
                              <p:par>
                                <p:cTn id="118" presetID="10" presetClass="entr" presetSubtype="0" fill="hold" nodeType="withEffect">
                                  <p:stCondLst>
                                    <p:cond delay="0"/>
                                  </p:stCondLst>
                                  <p:childTnLst>
                                    <p:set>
                                      <p:cBhvr>
                                        <p:cTn id="119" dur="1" fill="hold">
                                          <p:stCondLst>
                                            <p:cond delay="0"/>
                                          </p:stCondLst>
                                        </p:cTn>
                                        <p:tgtEl>
                                          <p:spTgt spid="40"/>
                                        </p:tgtEl>
                                        <p:attrNameLst>
                                          <p:attrName>style.visibility</p:attrName>
                                        </p:attrNameLst>
                                      </p:cBhvr>
                                      <p:to>
                                        <p:strVal val="visible"/>
                                      </p:to>
                                    </p:set>
                                    <p:animEffect transition="in" filter="fade">
                                      <p:cBhvr>
                                        <p:cTn id="120" dur="400"/>
                                        <p:tgtEl>
                                          <p:spTgt spid="40"/>
                                        </p:tgtEl>
                                      </p:cBhvr>
                                    </p:animEffect>
                                  </p:childTnLst>
                                </p:cTn>
                              </p:par>
                              <p:par>
                                <p:cTn id="121" presetID="10" presetClass="entr" presetSubtype="0" fill="hold" grpId="0" nodeType="withEffect">
                                  <p:stCondLst>
                                    <p:cond delay="0"/>
                                  </p:stCondLst>
                                  <p:childTnLst>
                                    <p:set>
                                      <p:cBhvr>
                                        <p:cTn id="122" dur="1" fill="hold">
                                          <p:stCondLst>
                                            <p:cond delay="0"/>
                                          </p:stCondLst>
                                        </p:cTn>
                                        <p:tgtEl>
                                          <p:spTgt spid="41"/>
                                        </p:tgtEl>
                                        <p:attrNameLst>
                                          <p:attrName>style.visibility</p:attrName>
                                        </p:attrNameLst>
                                      </p:cBhvr>
                                      <p:to>
                                        <p:strVal val="visible"/>
                                      </p:to>
                                    </p:set>
                                    <p:animEffect transition="in" filter="fade">
                                      <p:cBhvr>
                                        <p:cTn id="123" dur="400"/>
                                        <p:tgtEl>
                                          <p:spTgt spid="41"/>
                                        </p:tgtEl>
                                      </p:cBhvr>
                                    </p:animEffect>
                                  </p:childTnLst>
                                </p:cTn>
                              </p:par>
                              <p:par>
                                <p:cTn id="124" presetID="10" presetClass="entr" presetSubtype="0" fill="hold" grpId="0" nodeType="withEffect">
                                  <p:stCondLst>
                                    <p:cond delay="0"/>
                                  </p:stCondLst>
                                  <p:childTnLst>
                                    <p:set>
                                      <p:cBhvr>
                                        <p:cTn id="125" dur="1" fill="hold">
                                          <p:stCondLst>
                                            <p:cond delay="0"/>
                                          </p:stCondLst>
                                        </p:cTn>
                                        <p:tgtEl>
                                          <p:spTgt spid="42"/>
                                        </p:tgtEl>
                                        <p:attrNameLst>
                                          <p:attrName>style.visibility</p:attrName>
                                        </p:attrNameLst>
                                      </p:cBhvr>
                                      <p:to>
                                        <p:strVal val="visible"/>
                                      </p:to>
                                    </p:set>
                                    <p:animEffect transition="in" filter="fade">
                                      <p:cBhvr>
                                        <p:cTn id="126" dur="4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11" grpId="0"/>
      <p:bldP spid="12" grpId="0"/>
      <p:bldP spid="16" grpId="0"/>
      <p:bldP spid="17" grpId="0"/>
      <p:bldP spid="21" grpId="0"/>
      <p:bldP spid="22" grpId="0"/>
      <p:bldP spid="26" grpId="0"/>
      <p:bldP spid="27" grpId="0"/>
      <p:bldP spid="31" grpId="0"/>
      <p:bldP spid="32" grpId="0"/>
      <p:bldP spid="36" grpId="0"/>
      <p:bldP spid="37" grpId="0"/>
      <p:bldP spid="41" grpId="0"/>
      <p:bldP spid="42" grpId="0"/>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2"/>
                </a:solidFill>
              </a:rPr>
              <a:t>From a 10-day ticket to a same-day request</a:t>
            </a:r>
            <a:endParaRPr lang="en-US" sz="3000" dirty="0"/>
          </a:p>
        </p:txBody>
      </p:sp>
      <p:sp>
        <p:nvSpPr>
          <p:cNvPr id="3" name="Text 1"/>
          <p:cNvSpPr txBox="1"/>
          <p:nvPr/>
        </p:nvSpPr>
        <p:spPr>
          <a:xfrm>
            <a:off x="3246120" y="1298448"/>
            <a:ext cx="3931920" cy="365760"/>
          </a:xfrm>
          <a:prstGeom prst="rect">
            <a:avLst/>
          </a:prstGeom>
          <a:noFill/>
          <a:ln/>
        </p:spPr>
        <p:txBody>
          <a:bodyPr wrap="square" lIns="0" tIns="0" rIns="0" bIns="0" rtlCol="0" anchor="t"/>
          <a:lstStyle/>
          <a:p>
            <a:pPr indent="0" marL="0">
              <a:buNone/>
            </a:pPr>
            <a:r>
              <a:rPr lang="en-US" sz="1600" b="1" dirty="0">
                <a:solidFill>
                  <a:schemeClr val="accent3"/>
                </a:solidFill>
              </a:rPr>
              <a:t>Manual today</a:t>
            </a:r>
            <a:endParaRPr lang="en-US" sz="1600" dirty="0"/>
          </a:p>
        </p:txBody>
      </p:sp>
      <p:sp>
        <p:nvSpPr>
          <p:cNvPr id="4" name="Text 2"/>
          <p:cNvSpPr txBox="1"/>
          <p:nvPr/>
        </p:nvSpPr>
        <p:spPr>
          <a:xfrm>
            <a:off x="7452360" y="1298448"/>
            <a:ext cx="4114800" cy="365760"/>
          </a:xfrm>
          <a:prstGeom prst="rect">
            <a:avLst/>
          </a:prstGeom>
          <a:noFill/>
          <a:ln/>
        </p:spPr>
        <p:txBody>
          <a:bodyPr wrap="square" lIns="0" tIns="0" rIns="0" bIns="0" rtlCol="0" anchor="t"/>
          <a:lstStyle/>
          <a:p>
            <a:pPr indent="0" marL="0">
              <a:buNone/>
            </a:pPr>
            <a:r>
              <a:rPr lang="en-US" sz="1600" b="1" dirty="0">
                <a:solidFill>
                  <a:schemeClr val="accent4"/>
                </a:solidFill>
              </a:rPr>
              <a:t>With self-service</a:t>
            </a:r>
            <a:endParaRPr lang="en-US" sz="1600" dirty="0"/>
          </a:p>
        </p:txBody>
      </p:sp>
      <p:sp>
        <p:nvSpPr>
          <p:cNvPr id="5" name="a1_ba0_card"/>
          <p:cNvSpPr/>
          <p:nvPr/>
        </p:nvSpPr>
        <p:spPr>
          <a:xfrm>
            <a:off x="548640" y="1783080"/>
            <a:ext cx="11094415" cy="685800"/>
          </a:xfrm>
          <a:prstGeom prst="roundRect">
            <a:avLst>
              <a:gd name="adj" fmla="val 16000"/>
            </a:avLst>
          </a:prstGeom>
          <a:solidFill>
            <a:schemeClr val="bg2"/>
          </a:solidFill>
          <a:ln w="12700">
            <a:solidFill>
              <a:schemeClr val="bg2"/>
            </a:solidFill>
            <a:prstDash val="solid"/>
          </a:ln>
          <a:effectLst>
            <a:outerShdw sx="100000" sy="100000" kx="0" ky="0" algn="bl" rotWithShape="0" blurRad="76200" dist="25400" dir="5400000">
              <a:srgbClr val="7F9DB9">
                <a:alpha val="25000"/>
              </a:srgbClr>
            </a:outerShdw>
          </a:effectLst>
        </p:spPr>
      </p:sp>
      <p:sp>
        <p:nvSpPr>
          <p:cNvPr id="6" name="a1_ba0_k"/>
          <p:cNvSpPr txBox="1"/>
          <p:nvPr/>
        </p:nvSpPr>
        <p:spPr>
          <a:xfrm>
            <a:off x="777240" y="1783080"/>
            <a:ext cx="2377440" cy="685800"/>
          </a:xfrm>
          <a:prstGeom prst="rect">
            <a:avLst/>
          </a:prstGeom>
          <a:noFill/>
          <a:ln/>
        </p:spPr>
        <p:txBody>
          <a:bodyPr wrap="square" lIns="0" tIns="0" rIns="0" bIns="0" rtlCol="0" anchor="ctr"/>
          <a:lstStyle/>
          <a:p>
            <a:pPr indent="0" marL="0">
              <a:buNone/>
            </a:pPr>
            <a:r>
              <a:rPr lang="en-US" sz="1500" b="1" dirty="0">
                <a:solidFill>
                  <a:schemeClr val="tx2"/>
                </a:solidFill>
              </a:rPr>
              <a:t>Lead time</a:t>
            </a:r>
            <a:endParaRPr lang="en-US" sz="1500" dirty="0"/>
          </a:p>
        </p:txBody>
      </p:sp>
      <p:pic>
        <p:nvPicPr>
          <p:cNvPr id="7" name="a1_ba0_x" descr="preencoded.png">    </p:cNvPr>
          <p:cNvPicPr>
            <a:picLocks noChangeAspect="1"/>
          </p:cNvPicPr>
          <p:nvPr/>
        </p:nvPicPr>
        <p:blipFill>
          <a:blip r:embed="rId1"/>
          <a:stretch>
            <a:fillRect/>
          </a:stretch>
        </p:blipFill>
        <p:spPr>
          <a:xfrm>
            <a:off x="3246120" y="1984248"/>
            <a:ext cx="274320" cy="274320"/>
          </a:xfrm>
          <a:prstGeom prst="rect">
            <a:avLst/>
          </a:prstGeom>
        </p:spPr>
      </p:pic>
      <p:sp>
        <p:nvSpPr>
          <p:cNvPr id="8" name="a1_ba0_before"/>
          <p:cNvSpPr txBox="1"/>
          <p:nvPr/>
        </p:nvSpPr>
        <p:spPr>
          <a:xfrm>
            <a:off x="3657600" y="1783080"/>
            <a:ext cx="3657600" cy="685800"/>
          </a:xfrm>
          <a:prstGeom prst="rect">
            <a:avLst/>
          </a:prstGeom>
          <a:noFill/>
          <a:ln/>
        </p:spPr>
        <p:txBody>
          <a:bodyPr wrap="square" lIns="0" tIns="0" rIns="0" bIns="0" rtlCol="0" anchor="ctr"/>
          <a:lstStyle/>
          <a:p>
            <a:pPr indent="0" marL="0">
              <a:buNone/>
            </a:pPr>
            <a:r>
              <a:rPr lang="en-US" sz="1400" dirty="0">
                <a:solidFill>
                  <a:schemeClr val="tx1"/>
                </a:solidFill>
              </a:rPr>
              <a:t>~10 working days</a:t>
            </a:r>
            <a:endParaRPr lang="en-US" sz="1400" dirty="0"/>
          </a:p>
        </p:txBody>
      </p:sp>
      <p:pic>
        <p:nvPicPr>
          <p:cNvPr id="9" name="a1_ba0_v" descr="preencoded.png">    </p:cNvPr>
          <p:cNvPicPr>
            <a:picLocks noChangeAspect="1"/>
          </p:cNvPicPr>
          <p:nvPr/>
        </p:nvPicPr>
        <p:blipFill>
          <a:blip r:embed="rId2"/>
          <a:stretch>
            <a:fillRect/>
          </a:stretch>
        </p:blipFill>
        <p:spPr>
          <a:xfrm>
            <a:off x="7452360" y="1984248"/>
            <a:ext cx="274320" cy="274320"/>
          </a:xfrm>
          <a:prstGeom prst="rect">
            <a:avLst/>
          </a:prstGeom>
        </p:spPr>
      </p:pic>
      <p:sp>
        <p:nvSpPr>
          <p:cNvPr id="10" name="a1_ba0_after"/>
          <p:cNvSpPr txBox="1"/>
          <p:nvPr/>
        </p:nvSpPr>
        <p:spPr>
          <a:xfrm>
            <a:off x="7863840" y="1783080"/>
            <a:ext cx="3703320" cy="685800"/>
          </a:xfrm>
          <a:prstGeom prst="rect">
            <a:avLst/>
          </a:prstGeom>
          <a:noFill/>
          <a:ln/>
        </p:spPr>
        <p:txBody>
          <a:bodyPr wrap="square" lIns="0" tIns="0" rIns="0" bIns="0" rtlCol="0" anchor="ctr"/>
          <a:lstStyle/>
          <a:p>
            <a:pPr indent="0" marL="0">
              <a:buNone/>
            </a:pPr>
            <a:r>
              <a:rPr lang="en-US" sz="1400" dirty="0">
                <a:solidFill>
                  <a:schemeClr val="tx1"/>
                </a:solidFill>
              </a:rPr>
              <a:t>Same day: approval time plus minutes of flow time</a:t>
            </a:r>
            <a:endParaRPr lang="en-US" sz="1400" dirty="0"/>
          </a:p>
        </p:txBody>
      </p:sp>
      <p:sp>
        <p:nvSpPr>
          <p:cNvPr id="11" name="a2_ba1_card"/>
          <p:cNvSpPr/>
          <p:nvPr/>
        </p:nvSpPr>
        <p:spPr>
          <a:xfrm>
            <a:off x="548640" y="2606040"/>
            <a:ext cx="11094415" cy="685800"/>
          </a:xfrm>
          <a:prstGeom prst="roundRect">
            <a:avLst>
              <a:gd name="adj" fmla="val 16000"/>
            </a:avLst>
          </a:prstGeom>
          <a:solidFill>
            <a:schemeClr val="bg1"/>
          </a:solidFill>
          <a:ln w="12700">
            <a:solidFill>
              <a:schemeClr val="bg1"/>
            </a:solidFill>
            <a:prstDash val="solid"/>
          </a:ln>
          <a:effectLst>
            <a:outerShdw sx="100000" sy="100000" kx="0" ky="0" algn="bl" rotWithShape="0" blurRad="76200" dist="25400" dir="5400000">
              <a:srgbClr val="7F9DB9">
                <a:alpha val="25000"/>
              </a:srgbClr>
            </a:outerShdw>
          </a:effectLst>
        </p:spPr>
      </p:sp>
      <p:sp>
        <p:nvSpPr>
          <p:cNvPr id="12" name="a2_ba1_k"/>
          <p:cNvSpPr txBox="1"/>
          <p:nvPr/>
        </p:nvSpPr>
        <p:spPr>
          <a:xfrm>
            <a:off x="777240" y="2606040"/>
            <a:ext cx="2377440" cy="685800"/>
          </a:xfrm>
          <a:prstGeom prst="rect">
            <a:avLst/>
          </a:prstGeom>
          <a:noFill/>
          <a:ln/>
        </p:spPr>
        <p:txBody>
          <a:bodyPr wrap="square" lIns="0" tIns="0" rIns="0" bIns="0" rtlCol="0" anchor="ctr"/>
          <a:lstStyle/>
          <a:p>
            <a:pPr indent="0" marL="0">
              <a:buNone/>
            </a:pPr>
            <a:r>
              <a:rPr lang="en-US" sz="1500" b="1" dirty="0">
                <a:solidFill>
                  <a:schemeClr val="tx2"/>
                </a:solidFill>
              </a:rPr>
              <a:t>Entra ID team effort</a:t>
            </a:r>
            <a:endParaRPr lang="en-US" sz="1500" dirty="0"/>
          </a:p>
        </p:txBody>
      </p:sp>
      <p:pic>
        <p:nvPicPr>
          <p:cNvPr id="13" name="a2_ba1_x" descr="preencoded.png">    </p:cNvPr>
          <p:cNvPicPr>
            <a:picLocks noChangeAspect="1"/>
          </p:cNvPicPr>
          <p:nvPr/>
        </p:nvPicPr>
        <p:blipFill>
          <a:blip r:embed="rId3"/>
          <a:stretch>
            <a:fillRect/>
          </a:stretch>
        </p:blipFill>
        <p:spPr>
          <a:xfrm>
            <a:off x="3246120" y="2807208"/>
            <a:ext cx="274320" cy="274320"/>
          </a:xfrm>
          <a:prstGeom prst="rect">
            <a:avLst/>
          </a:prstGeom>
        </p:spPr>
      </p:pic>
      <p:sp>
        <p:nvSpPr>
          <p:cNvPr id="14" name="a2_ba1_before"/>
          <p:cNvSpPr txBox="1"/>
          <p:nvPr/>
        </p:nvSpPr>
        <p:spPr>
          <a:xfrm>
            <a:off x="3657600" y="2606040"/>
            <a:ext cx="3657600" cy="685800"/>
          </a:xfrm>
          <a:prstGeom prst="rect">
            <a:avLst/>
          </a:prstGeom>
          <a:noFill/>
          <a:ln/>
        </p:spPr>
        <p:txBody>
          <a:bodyPr wrap="square" lIns="0" tIns="0" rIns="0" bIns="0" rtlCol="0" anchor="ctr"/>
          <a:lstStyle/>
          <a:p>
            <a:pPr indent="0" marL="0">
              <a:buNone/>
            </a:pPr>
            <a:r>
              <a:rPr lang="en-US" sz="1400" dirty="0">
                <a:solidFill>
                  <a:schemeClr val="tx1"/>
                </a:solidFill>
              </a:rPr>
              <a:t>≥ 1 person-day per request</a:t>
            </a:r>
            <a:endParaRPr lang="en-US" sz="1400" dirty="0"/>
          </a:p>
        </p:txBody>
      </p:sp>
      <p:pic>
        <p:nvPicPr>
          <p:cNvPr id="15" name="a2_ba1_v" descr="preencoded.png">    </p:cNvPr>
          <p:cNvPicPr>
            <a:picLocks noChangeAspect="1"/>
          </p:cNvPicPr>
          <p:nvPr/>
        </p:nvPicPr>
        <p:blipFill>
          <a:blip r:embed="rId4"/>
          <a:stretch>
            <a:fillRect/>
          </a:stretch>
        </p:blipFill>
        <p:spPr>
          <a:xfrm>
            <a:off x="7452360" y="2807208"/>
            <a:ext cx="274320" cy="274320"/>
          </a:xfrm>
          <a:prstGeom prst="rect">
            <a:avLst/>
          </a:prstGeom>
        </p:spPr>
      </p:pic>
      <p:sp>
        <p:nvSpPr>
          <p:cNvPr id="16" name="a2_ba1_after"/>
          <p:cNvSpPr txBox="1"/>
          <p:nvPr/>
        </p:nvSpPr>
        <p:spPr>
          <a:xfrm>
            <a:off x="7863840" y="2606040"/>
            <a:ext cx="3703320" cy="685800"/>
          </a:xfrm>
          <a:prstGeom prst="rect">
            <a:avLst/>
          </a:prstGeom>
          <a:noFill/>
          <a:ln/>
        </p:spPr>
        <p:txBody>
          <a:bodyPr wrap="square" lIns="0" tIns="0" rIns="0" bIns="0" rtlCol="0" anchor="ctr"/>
          <a:lstStyle/>
          <a:p>
            <a:pPr indent="0" marL="0">
              <a:buNone/>
            </a:pPr>
            <a:r>
              <a:rPr lang="en-US" sz="1400" dirty="0">
                <a:solidFill>
                  <a:schemeClr val="tx1"/>
                </a:solidFill>
              </a:rPr>
              <a:t>About 5 minutes to review and approve</a:t>
            </a:r>
            <a:endParaRPr lang="en-US" sz="1400" dirty="0"/>
          </a:p>
        </p:txBody>
      </p:sp>
      <p:sp>
        <p:nvSpPr>
          <p:cNvPr id="17" name="a3_ba2_card"/>
          <p:cNvSpPr/>
          <p:nvPr/>
        </p:nvSpPr>
        <p:spPr>
          <a:xfrm>
            <a:off x="548640" y="3429000"/>
            <a:ext cx="11094415" cy="685800"/>
          </a:xfrm>
          <a:prstGeom prst="roundRect">
            <a:avLst>
              <a:gd name="adj" fmla="val 16000"/>
            </a:avLst>
          </a:prstGeom>
          <a:solidFill>
            <a:schemeClr val="bg2"/>
          </a:solidFill>
          <a:ln w="12700">
            <a:solidFill>
              <a:schemeClr val="bg2"/>
            </a:solidFill>
            <a:prstDash val="solid"/>
          </a:ln>
          <a:effectLst>
            <a:outerShdw sx="100000" sy="100000" kx="0" ky="0" algn="bl" rotWithShape="0" blurRad="76200" dist="25400" dir="5400000">
              <a:srgbClr val="7F9DB9">
                <a:alpha val="25000"/>
              </a:srgbClr>
            </a:outerShdw>
          </a:effectLst>
        </p:spPr>
      </p:sp>
      <p:sp>
        <p:nvSpPr>
          <p:cNvPr id="18" name="a3_ba2_k"/>
          <p:cNvSpPr txBox="1"/>
          <p:nvPr/>
        </p:nvSpPr>
        <p:spPr>
          <a:xfrm>
            <a:off x="777240" y="3429000"/>
            <a:ext cx="2377440" cy="685800"/>
          </a:xfrm>
          <a:prstGeom prst="rect">
            <a:avLst/>
          </a:prstGeom>
          <a:noFill/>
          <a:ln/>
        </p:spPr>
        <p:txBody>
          <a:bodyPr wrap="square" lIns="0" tIns="0" rIns="0" bIns="0" rtlCol="0" anchor="ctr"/>
          <a:lstStyle/>
          <a:p>
            <a:pPr indent="0" marL="0">
              <a:buNone/>
            </a:pPr>
            <a:r>
              <a:rPr lang="en-US" sz="1500" b="1" dirty="0">
                <a:solidFill>
                  <a:schemeClr val="tx2"/>
                </a:solidFill>
              </a:rPr>
              <a:t>Requirements</a:t>
            </a:r>
            <a:endParaRPr lang="en-US" sz="1500" dirty="0"/>
          </a:p>
        </p:txBody>
      </p:sp>
      <p:pic>
        <p:nvPicPr>
          <p:cNvPr id="19" name="a3_ba2_x" descr="preencoded.png">    </p:cNvPr>
          <p:cNvPicPr>
            <a:picLocks noChangeAspect="1"/>
          </p:cNvPicPr>
          <p:nvPr/>
        </p:nvPicPr>
        <p:blipFill>
          <a:blip r:embed="rId5"/>
          <a:stretch>
            <a:fillRect/>
          </a:stretch>
        </p:blipFill>
        <p:spPr>
          <a:xfrm>
            <a:off x="3246120" y="3630168"/>
            <a:ext cx="274320" cy="274320"/>
          </a:xfrm>
          <a:prstGeom prst="rect">
            <a:avLst/>
          </a:prstGeom>
        </p:spPr>
      </p:pic>
      <p:sp>
        <p:nvSpPr>
          <p:cNvPr id="20" name="a3_ba2_before"/>
          <p:cNvSpPr txBox="1"/>
          <p:nvPr/>
        </p:nvSpPr>
        <p:spPr>
          <a:xfrm>
            <a:off x="3657600" y="3429000"/>
            <a:ext cx="3657600" cy="685800"/>
          </a:xfrm>
          <a:prstGeom prst="rect">
            <a:avLst/>
          </a:prstGeom>
          <a:noFill/>
          <a:ln/>
        </p:spPr>
        <p:txBody>
          <a:bodyPr wrap="square" lIns="0" tIns="0" rIns="0" bIns="0" rtlCol="0" anchor="ctr"/>
          <a:lstStyle/>
          <a:p>
            <a:pPr indent="0" marL="0">
              <a:buNone/>
            </a:pPr>
            <a:r>
              <a:rPr lang="en-US" sz="1400" dirty="0">
                <a:solidFill>
                  <a:schemeClr val="tx1"/>
                </a:solidFill>
              </a:rPr>
              <a:t>Back-and-forth over email and tickets</a:t>
            </a:r>
            <a:endParaRPr lang="en-US" sz="1400" dirty="0"/>
          </a:p>
        </p:txBody>
      </p:sp>
      <p:pic>
        <p:nvPicPr>
          <p:cNvPr id="21" name="a3_ba2_v" descr="preencoded.png">    </p:cNvPr>
          <p:cNvPicPr>
            <a:picLocks noChangeAspect="1"/>
          </p:cNvPicPr>
          <p:nvPr/>
        </p:nvPicPr>
        <p:blipFill>
          <a:blip r:embed="rId6"/>
          <a:stretch>
            <a:fillRect/>
          </a:stretch>
        </p:blipFill>
        <p:spPr>
          <a:xfrm>
            <a:off x="7452360" y="3630168"/>
            <a:ext cx="274320" cy="274320"/>
          </a:xfrm>
          <a:prstGeom prst="rect">
            <a:avLst/>
          </a:prstGeom>
        </p:spPr>
      </p:pic>
      <p:sp>
        <p:nvSpPr>
          <p:cNvPr id="22" name="a3_ba2_after"/>
          <p:cNvSpPr txBox="1"/>
          <p:nvPr/>
        </p:nvSpPr>
        <p:spPr>
          <a:xfrm>
            <a:off x="7863840" y="3429000"/>
            <a:ext cx="3703320" cy="685800"/>
          </a:xfrm>
          <a:prstGeom prst="rect">
            <a:avLst/>
          </a:prstGeom>
          <a:noFill/>
          <a:ln/>
        </p:spPr>
        <p:txBody>
          <a:bodyPr wrap="square" lIns="0" tIns="0" rIns="0" bIns="0" rtlCol="0" anchor="ctr"/>
          <a:lstStyle/>
          <a:p>
            <a:pPr indent="0" marL="0">
              <a:buNone/>
            </a:pPr>
            <a:r>
              <a:rPr lang="en-US" sz="1400" dirty="0">
                <a:solidFill>
                  <a:schemeClr val="tx1"/>
                </a:solidFill>
              </a:rPr>
              <a:t>One validated form, captured once</a:t>
            </a:r>
            <a:endParaRPr lang="en-US" sz="1400" dirty="0"/>
          </a:p>
        </p:txBody>
      </p:sp>
      <p:sp>
        <p:nvSpPr>
          <p:cNvPr id="23" name="a4_ba3_card"/>
          <p:cNvSpPr/>
          <p:nvPr/>
        </p:nvSpPr>
        <p:spPr>
          <a:xfrm>
            <a:off x="548640" y="4251960"/>
            <a:ext cx="11094415" cy="685800"/>
          </a:xfrm>
          <a:prstGeom prst="roundRect">
            <a:avLst>
              <a:gd name="adj" fmla="val 16000"/>
            </a:avLst>
          </a:prstGeom>
          <a:solidFill>
            <a:schemeClr val="bg1"/>
          </a:solidFill>
          <a:ln w="12700">
            <a:solidFill>
              <a:schemeClr val="bg1"/>
            </a:solidFill>
            <a:prstDash val="solid"/>
          </a:ln>
          <a:effectLst>
            <a:outerShdw sx="100000" sy="100000" kx="0" ky="0" algn="bl" rotWithShape="0" blurRad="76200" dist="25400" dir="5400000">
              <a:srgbClr val="7F9DB9">
                <a:alpha val="25000"/>
              </a:srgbClr>
            </a:outerShdw>
          </a:effectLst>
        </p:spPr>
      </p:sp>
      <p:sp>
        <p:nvSpPr>
          <p:cNvPr id="24" name="a4_ba3_k"/>
          <p:cNvSpPr txBox="1"/>
          <p:nvPr/>
        </p:nvSpPr>
        <p:spPr>
          <a:xfrm>
            <a:off x="777240" y="4251960"/>
            <a:ext cx="2377440" cy="685800"/>
          </a:xfrm>
          <a:prstGeom prst="rect">
            <a:avLst/>
          </a:prstGeom>
          <a:noFill/>
          <a:ln/>
        </p:spPr>
        <p:txBody>
          <a:bodyPr wrap="square" lIns="0" tIns="0" rIns="0" bIns="0" rtlCol="0" anchor="ctr"/>
          <a:lstStyle/>
          <a:p>
            <a:pPr indent="0" marL="0">
              <a:buNone/>
            </a:pPr>
            <a:r>
              <a:rPr lang="en-US" sz="1500" b="1" dirty="0">
                <a:solidFill>
                  <a:schemeClr val="tx2"/>
                </a:solidFill>
              </a:rPr>
              <a:t>Visibility</a:t>
            </a:r>
            <a:endParaRPr lang="en-US" sz="1500" dirty="0"/>
          </a:p>
        </p:txBody>
      </p:sp>
      <p:pic>
        <p:nvPicPr>
          <p:cNvPr id="25" name="a4_ba3_x" descr="preencoded.png">    </p:cNvPr>
          <p:cNvPicPr>
            <a:picLocks noChangeAspect="1"/>
          </p:cNvPicPr>
          <p:nvPr/>
        </p:nvPicPr>
        <p:blipFill>
          <a:blip r:embed="rId7"/>
          <a:stretch>
            <a:fillRect/>
          </a:stretch>
        </p:blipFill>
        <p:spPr>
          <a:xfrm>
            <a:off x="3246120" y="4453128"/>
            <a:ext cx="274320" cy="274320"/>
          </a:xfrm>
          <a:prstGeom prst="rect">
            <a:avLst/>
          </a:prstGeom>
        </p:spPr>
      </p:pic>
      <p:sp>
        <p:nvSpPr>
          <p:cNvPr id="26" name="a4_ba3_before"/>
          <p:cNvSpPr txBox="1"/>
          <p:nvPr/>
        </p:nvSpPr>
        <p:spPr>
          <a:xfrm>
            <a:off x="3657600" y="4251960"/>
            <a:ext cx="3657600" cy="685800"/>
          </a:xfrm>
          <a:prstGeom prst="rect">
            <a:avLst/>
          </a:prstGeom>
          <a:noFill/>
          <a:ln/>
        </p:spPr>
        <p:txBody>
          <a:bodyPr wrap="square" lIns="0" tIns="0" rIns="0" bIns="0" rtlCol="0" anchor="ctr"/>
          <a:lstStyle/>
          <a:p>
            <a:pPr indent="0" marL="0">
              <a:buNone/>
            </a:pPr>
            <a:r>
              <a:rPr lang="en-US" sz="1400" dirty="0">
                <a:solidFill>
                  <a:schemeClr val="tx1"/>
                </a:solidFill>
              </a:rPr>
              <a:t>Project teams can't see Entra ID</a:t>
            </a:r>
            <a:endParaRPr lang="en-US" sz="1400" dirty="0"/>
          </a:p>
        </p:txBody>
      </p:sp>
      <p:pic>
        <p:nvPicPr>
          <p:cNvPr id="27" name="a4_ba3_v" descr="preencoded.png">    </p:cNvPr>
          <p:cNvPicPr>
            <a:picLocks noChangeAspect="1"/>
          </p:cNvPicPr>
          <p:nvPr/>
        </p:nvPicPr>
        <p:blipFill>
          <a:blip r:embed="rId8"/>
          <a:stretch>
            <a:fillRect/>
          </a:stretch>
        </p:blipFill>
        <p:spPr>
          <a:xfrm>
            <a:off x="7452360" y="4453128"/>
            <a:ext cx="274320" cy="274320"/>
          </a:xfrm>
          <a:prstGeom prst="rect">
            <a:avLst/>
          </a:prstGeom>
        </p:spPr>
      </p:pic>
      <p:sp>
        <p:nvSpPr>
          <p:cNvPr id="28" name="a4_ba3_after"/>
          <p:cNvSpPr txBox="1"/>
          <p:nvPr/>
        </p:nvSpPr>
        <p:spPr>
          <a:xfrm>
            <a:off x="7863840" y="4251960"/>
            <a:ext cx="3703320" cy="685800"/>
          </a:xfrm>
          <a:prstGeom prst="rect">
            <a:avLst/>
          </a:prstGeom>
          <a:noFill/>
          <a:ln/>
        </p:spPr>
        <p:txBody>
          <a:bodyPr wrap="square" lIns="0" tIns="0" rIns="0" bIns="0" rtlCol="0" anchor="ctr"/>
          <a:lstStyle/>
          <a:p>
            <a:pPr indent="0" marL="0">
              <a:buNone/>
            </a:pPr>
            <a:r>
              <a:rPr lang="en-US" sz="1400" dirty="0">
                <a:solidFill>
                  <a:schemeClr val="tx1"/>
                </a:solidFill>
              </a:rPr>
              <a:t>My requests: status, approvals, step-by-step notes</a:t>
            </a:r>
            <a:endParaRPr lang="en-US" sz="1400" dirty="0"/>
          </a:p>
        </p:txBody>
      </p:sp>
      <p:sp>
        <p:nvSpPr>
          <p:cNvPr id="29" name="a5_ba4_card"/>
          <p:cNvSpPr/>
          <p:nvPr/>
        </p:nvSpPr>
        <p:spPr>
          <a:xfrm>
            <a:off x="548640" y="5074920"/>
            <a:ext cx="11094415" cy="685800"/>
          </a:xfrm>
          <a:prstGeom prst="roundRect">
            <a:avLst>
              <a:gd name="adj" fmla="val 16000"/>
            </a:avLst>
          </a:prstGeom>
          <a:solidFill>
            <a:schemeClr val="bg2"/>
          </a:solidFill>
          <a:ln w="12700">
            <a:solidFill>
              <a:schemeClr val="bg2"/>
            </a:solidFill>
            <a:prstDash val="solid"/>
          </a:ln>
          <a:effectLst>
            <a:outerShdw sx="100000" sy="100000" kx="0" ky="0" algn="bl" rotWithShape="0" blurRad="76200" dist="25400" dir="5400000">
              <a:srgbClr val="7F9DB9">
                <a:alpha val="25000"/>
              </a:srgbClr>
            </a:outerShdw>
          </a:effectLst>
        </p:spPr>
      </p:sp>
      <p:sp>
        <p:nvSpPr>
          <p:cNvPr id="30" name="a5_ba4_k"/>
          <p:cNvSpPr txBox="1"/>
          <p:nvPr/>
        </p:nvSpPr>
        <p:spPr>
          <a:xfrm>
            <a:off x="777240" y="5074920"/>
            <a:ext cx="2377440" cy="685800"/>
          </a:xfrm>
          <a:prstGeom prst="rect">
            <a:avLst/>
          </a:prstGeom>
          <a:noFill/>
          <a:ln/>
        </p:spPr>
        <p:txBody>
          <a:bodyPr wrap="square" lIns="0" tIns="0" rIns="0" bIns="0" rtlCol="0" anchor="ctr"/>
          <a:lstStyle/>
          <a:p>
            <a:pPr indent="0" marL="0">
              <a:buNone/>
            </a:pPr>
            <a:r>
              <a:rPr lang="en-US" sz="1500" b="1" dirty="0">
                <a:solidFill>
                  <a:schemeClr val="tx2"/>
                </a:solidFill>
              </a:rPr>
              <a:t>Consistency</a:t>
            </a:r>
            <a:endParaRPr lang="en-US" sz="1500" dirty="0"/>
          </a:p>
        </p:txBody>
      </p:sp>
      <p:pic>
        <p:nvPicPr>
          <p:cNvPr id="31" name="a5_ba4_x" descr="preencoded.png">    </p:cNvPr>
          <p:cNvPicPr>
            <a:picLocks noChangeAspect="1"/>
          </p:cNvPicPr>
          <p:nvPr/>
        </p:nvPicPr>
        <p:blipFill>
          <a:blip r:embed="rId9"/>
          <a:stretch>
            <a:fillRect/>
          </a:stretch>
        </p:blipFill>
        <p:spPr>
          <a:xfrm>
            <a:off x="3246120" y="5276088"/>
            <a:ext cx="274320" cy="274320"/>
          </a:xfrm>
          <a:prstGeom prst="rect">
            <a:avLst/>
          </a:prstGeom>
        </p:spPr>
      </p:pic>
      <p:sp>
        <p:nvSpPr>
          <p:cNvPr id="32" name="a5_ba4_before"/>
          <p:cNvSpPr txBox="1"/>
          <p:nvPr/>
        </p:nvSpPr>
        <p:spPr>
          <a:xfrm>
            <a:off x="3657600" y="5074920"/>
            <a:ext cx="3657600" cy="685800"/>
          </a:xfrm>
          <a:prstGeom prst="rect">
            <a:avLst/>
          </a:prstGeom>
          <a:noFill/>
          <a:ln/>
        </p:spPr>
        <p:txBody>
          <a:bodyPr wrap="square" lIns="0" tIns="0" rIns="0" bIns="0" rtlCol="0" anchor="ctr"/>
          <a:lstStyle/>
          <a:p>
            <a:pPr indent="0" marL="0">
              <a:buNone/>
            </a:pPr>
            <a:r>
              <a:rPr lang="en-US" sz="1400" dirty="0">
                <a:solidFill>
                  <a:schemeClr val="tx1"/>
                </a:solidFill>
              </a:rPr>
              <a:t>Every engineer builds it differently</a:t>
            </a:r>
            <a:endParaRPr lang="en-US" sz="1400" dirty="0"/>
          </a:p>
        </p:txBody>
      </p:sp>
      <p:pic>
        <p:nvPicPr>
          <p:cNvPr id="33" name="a5_ba4_v" descr="preencoded.png">    </p:cNvPr>
          <p:cNvPicPr>
            <a:picLocks noChangeAspect="1"/>
          </p:cNvPicPr>
          <p:nvPr/>
        </p:nvPicPr>
        <p:blipFill>
          <a:blip r:embed="rId10"/>
          <a:stretch>
            <a:fillRect/>
          </a:stretch>
        </p:blipFill>
        <p:spPr>
          <a:xfrm>
            <a:off x="7452360" y="5276088"/>
            <a:ext cx="274320" cy="274320"/>
          </a:xfrm>
          <a:prstGeom prst="rect">
            <a:avLst/>
          </a:prstGeom>
        </p:spPr>
      </p:pic>
      <p:sp>
        <p:nvSpPr>
          <p:cNvPr id="34" name="a5_ba4_after"/>
          <p:cNvSpPr txBox="1"/>
          <p:nvPr/>
        </p:nvSpPr>
        <p:spPr>
          <a:xfrm>
            <a:off x="7863840" y="5074920"/>
            <a:ext cx="3703320" cy="685800"/>
          </a:xfrm>
          <a:prstGeom prst="rect">
            <a:avLst/>
          </a:prstGeom>
          <a:noFill/>
          <a:ln/>
        </p:spPr>
        <p:txBody>
          <a:bodyPr wrap="square" lIns="0" tIns="0" rIns="0" bIns="0" rtlCol="0" anchor="ctr"/>
          <a:lstStyle/>
          <a:p>
            <a:pPr indent="0" marL="0">
              <a:buNone/>
            </a:pPr>
            <a:r>
              <a:rPr lang="en-US" sz="1400" dirty="0">
                <a:solidFill>
                  <a:schemeClr val="tx1"/>
                </a:solidFill>
              </a:rPr>
              <a:t>Same names, tags and settings every time</a:t>
            </a:r>
            <a:endParaRPr lang="en-US" sz="14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400"/>
                                        <p:tgtEl>
                                          <p:spTgt spid="5"/>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400"/>
                                        <p:tgtEl>
                                          <p:spTgt spid="6"/>
                                        </p:tgtEl>
                                      </p:cBhvr>
                                    </p:animEffect>
                                  </p:childTnLst>
                                </p:cTn>
                              </p:par>
                              <p:par>
                                <p:cTn id="9" presetID="10"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400"/>
                                        <p:tgtEl>
                                          <p:spTgt spid="7"/>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400"/>
                                        <p:tgtEl>
                                          <p:spTgt spid="8"/>
                                        </p:tgtEl>
                                      </p:cBhvr>
                                    </p:animEffect>
                                  </p:childTnLst>
                                </p:cTn>
                              </p:par>
                              <p:par>
                                <p:cTn id="15" presetID="10" presetClass="entr" presetSubtype="0" fill="hold"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400"/>
                                        <p:tgtEl>
                                          <p:spTgt spid="9"/>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400"/>
                                        <p:tgtEl>
                                          <p:spTgt spid="10"/>
                                        </p:tgtEl>
                                      </p:cBhvr>
                                    </p:animEffect>
                                  </p:childTnLst>
                                </p:cTn>
                              </p:par>
                            </p:childTnLst>
                          </p:cTn>
                        </p:par>
                      </p:childTnLst>
                    </p:cTn>
                  </p:par>
                  <p:par>
                    <p:cTn id="41" fill="hold">
                      <p:stCondLst>
                        <p:cond delay="indefinite"/>
                      </p:stCondLst>
                      <p:childTnLst>
                        <p:par>
                          <p:cTn id="4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400"/>
                                        <p:tgtEl>
                                          <p:spTgt spid="1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400"/>
                                        <p:tgtEl>
                                          <p:spTgt spid="12"/>
                                        </p:tgtEl>
                                      </p:cBhvr>
                                    </p:animEffect>
                                  </p:childTnLst>
                                </p:cTn>
                              </p:par>
                              <p:par>
                                <p:cTn id="29" presetID="10" presetClass="entr" presetSubtype="0" fill="hold"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400"/>
                                        <p:tgtEl>
                                          <p:spTgt spid="1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par>
                                <p:cTn id="35" presetID="10" presetClass="entr" presetSubtype="0" fill="hold" nodeType="with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400"/>
                                        <p:tgtEl>
                                          <p:spTgt spid="1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400"/>
                                        <p:tgtEl>
                                          <p:spTgt spid="16"/>
                                        </p:tgtEl>
                                      </p:cBhvr>
                                    </p:animEffect>
                                  </p:childTnLst>
                                </p:cTn>
                              </p:par>
                            </p:childTnLst>
                          </p:cTn>
                        </p:par>
                      </p:childTnLst>
                    </p:cTn>
                  </p:par>
                  <p:par>
                    <p:cTn id="61" fill="hold">
                      <p:stCondLst>
                        <p:cond delay="indefinite"/>
                      </p:stCondLst>
                      <p:childTnLst>
                        <p:par>
                          <p:cTn id="6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fade">
                                      <p:cBhvr>
                                        <p:cTn id="45" dur="400"/>
                                        <p:tgtEl>
                                          <p:spTgt spid="17"/>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8"/>
                                        </p:tgtEl>
                                        <p:attrNameLst>
                                          <p:attrName>style.visibility</p:attrName>
                                        </p:attrNameLst>
                                      </p:cBhvr>
                                      <p:to>
                                        <p:strVal val="visible"/>
                                      </p:to>
                                    </p:set>
                                    <p:animEffect transition="in" filter="fade">
                                      <p:cBhvr>
                                        <p:cTn id="48" dur="400"/>
                                        <p:tgtEl>
                                          <p:spTgt spid="18"/>
                                        </p:tgtEl>
                                      </p:cBhvr>
                                    </p:animEffect>
                                  </p:childTnLst>
                                </p:cTn>
                              </p:par>
                              <p:par>
                                <p:cTn id="49" presetID="10" presetClass="entr" presetSubtype="0" fill="hold" nodeType="withEffect">
                                  <p:stCondLst>
                                    <p:cond delay="0"/>
                                  </p:stCondLst>
                                  <p:childTnLst>
                                    <p:set>
                                      <p:cBhvr>
                                        <p:cTn id="50" dur="1" fill="hold">
                                          <p:stCondLst>
                                            <p:cond delay="0"/>
                                          </p:stCondLst>
                                        </p:cTn>
                                        <p:tgtEl>
                                          <p:spTgt spid="19"/>
                                        </p:tgtEl>
                                        <p:attrNameLst>
                                          <p:attrName>style.visibility</p:attrName>
                                        </p:attrNameLst>
                                      </p:cBhvr>
                                      <p:to>
                                        <p:strVal val="visible"/>
                                      </p:to>
                                    </p:set>
                                    <p:animEffect transition="in" filter="fade">
                                      <p:cBhvr>
                                        <p:cTn id="51" dur="400"/>
                                        <p:tgtEl>
                                          <p:spTgt spid="19"/>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0"/>
                                        </p:tgtEl>
                                        <p:attrNameLst>
                                          <p:attrName>style.visibility</p:attrName>
                                        </p:attrNameLst>
                                      </p:cBhvr>
                                      <p:to>
                                        <p:strVal val="visible"/>
                                      </p:to>
                                    </p:set>
                                    <p:animEffect transition="in" filter="fade">
                                      <p:cBhvr>
                                        <p:cTn id="54" dur="400"/>
                                        <p:tgtEl>
                                          <p:spTgt spid="20"/>
                                        </p:tgtEl>
                                      </p:cBhvr>
                                    </p:animEffect>
                                  </p:childTnLst>
                                </p:cTn>
                              </p:par>
                              <p:par>
                                <p:cTn id="55" presetID="10" presetClass="entr" presetSubtype="0" fill="hold" nodeType="withEffect">
                                  <p:stCondLst>
                                    <p:cond delay="0"/>
                                  </p:stCondLst>
                                  <p:childTnLst>
                                    <p:set>
                                      <p:cBhvr>
                                        <p:cTn id="56" dur="1" fill="hold">
                                          <p:stCondLst>
                                            <p:cond delay="0"/>
                                          </p:stCondLst>
                                        </p:cTn>
                                        <p:tgtEl>
                                          <p:spTgt spid="21"/>
                                        </p:tgtEl>
                                        <p:attrNameLst>
                                          <p:attrName>style.visibility</p:attrName>
                                        </p:attrNameLst>
                                      </p:cBhvr>
                                      <p:to>
                                        <p:strVal val="visible"/>
                                      </p:to>
                                    </p:set>
                                    <p:animEffect transition="in" filter="fade">
                                      <p:cBhvr>
                                        <p:cTn id="57" dur="400"/>
                                        <p:tgtEl>
                                          <p:spTgt spid="21"/>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2"/>
                                        </p:tgtEl>
                                        <p:attrNameLst>
                                          <p:attrName>style.visibility</p:attrName>
                                        </p:attrNameLst>
                                      </p:cBhvr>
                                      <p:to>
                                        <p:strVal val="visible"/>
                                      </p:to>
                                    </p:set>
                                    <p:animEffect transition="in" filter="fade">
                                      <p:cBhvr>
                                        <p:cTn id="60" dur="400"/>
                                        <p:tgtEl>
                                          <p:spTgt spid="22"/>
                                        </p:tgtEl>
                                      </p:cBhvr>
                                    </p:animEffect>
                                  </p:childTnLst>
                                </p:cTn>
                              </p:par>
                            </p:childTnLst>
                          </p:cTn>
                        </p:par>
                      </p:childTnLst>
                    </p:cTn>
                  </p:par>
                  <p:par>
                    <p:cTn id="81" fill="hold">
                      <p:stCondLst>
                        <p:cond delay="indefinite"/>
                      </p:stCondLst>
                      <p:childTnLst>
                        <p:par>
                          <p:cTn id="82" fill="hold">
                            <p:stCondLst>
                              <p:cond delay="0"/>
                            </p:stCondLst>
                            <p:childTnLst>
                              <p:par>
                                <p:cTn id="63" presetID="10" presetClass="entr" presetSubtype="0" fill="hold" nodeType="clickEffect">
                                  <p:stCondLst>
                                    <p:cond delay="0"/>
                                  </p:stCondLst>
                                  <p:childTnLst>
                                    <p:set>
                                      <p:cBhvr>
                                        <p:cTn id="64" dur="1" fill="hold">
                                          <p:stCondLst>
                                            <p:cond delay="0"/>
                                          </p:stCondLst>
                                        </p:cTn>
                                        <p:tgtEl>
                                          <p:spTgt spid="23"/>
                                        </p:tgtEl>
                                        <p:attrNameLst>
                                          <p:attrName>style.visibility</p:attrName>
                                        </p:attrNameLst>
                                      </p:cBhvr>
                                      <p:to>
                                        <p:strVal val="visible"/>
                                      </p:to>
                                    </p:set>
                                    <p:animEffect transition="in" filter="fade">
                                      <p:cBhvr>
                                        <p:cTn id="65" dur="400"/>
                                        <p:tgtEl>
                                          <p:spTgt spid="23"/>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4"/>
                                        </p:tgtEl>
                                        <p:attrNameLst>
                                          <p:attrName>style.visibility</p:attrName>
                                        </p:attrNameLst>
                                      </p:cBhvr>
                                      <p:to>
                                        <p:strVal val="visible"/>
                                      </p:to>
                                    </p:set>
                                    <p:animEffect transition="in" filter="fade">
                                      <p:cBhvr>
                                        <p:cTn id="68" dur="400"/>
                                        <p:tgtEl>
                                          <p:spTgt spid="24"/>
                                        </p:tgtEl>
                                      </p:cBhvr>
                                    </p:animEffect>
                                  </p:childTnLst>
                                </p:cTn>
                              </p:par>
                              <p:par>
                                <p:cTn id="69" presetID="10" presetClass="entr" presetSubtype="0" fill="hold" nodeType="withEffect">
                                  <p:stCondLst>
                                    <p:cond delay="0"/>
                                  </p:stCondLst>
                                  <p:childTnLst>
                                    <p:set>
                                      <p:cBhvr>
                                        <p:cTn id="70" dur="1" fill="hold">
                                          <p:stCondLst>
                                            <p:cond delay="0"/>
                                          </p:stCondLst>
                                        </p:cTn>
                                        <p:tgtEl>
                                          <p:spTgt spid="25"/>
                                        </p:tgtEl>
                                        <p:attrNameLst>
                                          <p:attrName>style.visibility</p:attrName>
                                        </p:attrNameLst>
                                      </p:cBhvr>
                                      <p:to>
                                        <p:strVal val="visible"/>
                                      </p:to>
                                    </p:set>
                                    <p:animEffect transition="in" filter="fade">
                                      <p:cBhvr>
                                        <p:cTn id="71" dur="400"/>
                                        <p:tgtEl>
                                          <p:spTgt spid="25"/>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6"/>
                                        </p:tgtEl>
                                        <p:attrNameLst>
                                          <p:attrName>style.visibility</p:attrName>
                                        </p:attrNameLst>
                                      </p:cBhvr>
                                      <p:to>
                                        <p:strVal val="visible"/>
                                      </p:to>
                                    </p:set>
                                    <p:animEffect transition="in" filter="fade">
                                      <p:cBhvr>
                                        <p:cTn id="74" dur="400"/>
                                        <p:tgtEl>
                                          <p:spTgt spid="26"/>
                                        </p:tgtEl>
                                      </p:cBhvr>
                                    </p:animEffect>
                                  </p:childTnLst>
                                </p:cTn>
                              </p:par>
                              <p:par>
                                <p:cTn id="75" presetID="10" presetClass="entr" presetSubtype="0" fill="hold" nodeType="withEffect">
                                  <p:stCondLst>
                                    <p:cond delay="0"/>
                                  </p:stCondLst>
                                  <p:childTnLst>
                                    <p:set>
                                      <p:cBhvr>
                                        <p:cTn id="76" dur="1" fill="hold">
                                          <p:stCondLst>
                                            <p:cond delay="0"/>
                                          </p:stCondLst>
                                        </p:cTn>
                                        <p:tgtEl>
                                          <p:spTgt spid="27"/>
                                        </p:tgtEl>
                                        <p:attrNameLst>
                                          <p:attrName>style.visibility</p:attrName>
                                        </p:attrNameLst>
                                      </p:cBhvr>
                                      <p:to>
                                        <p:strVal val="visible"/>
                                      </p:to>
                                    </p:set>
                                    <p:animEffect transition="in" filter="fade">
                                      <p:cBhvr>
                                        <p:cTn id="77" dur="400"/>
                                        <p:tgtEl>
                                          <p:spTgt spid="27"/>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8"/>
                                        </p:tgtEl>
                                        <p:attrNameLst>
                                          <p:attrName>style.visibility</p:attrName>
                                        </p:attrNameLst>
                                      </p:cBhvr>
                                      <p:to>
                                        <p:strVal val="visible"/>
                                      </p:to>
                                    </p:set>
                                    <p:animEffect transition="in" filter="fade">
                                      <p:cBhvr>
                                        <p:cTn id="80" dur="400"/>
                                        <p:tgtEl>
                                          <p:spTgt spid="28"/>
                                        </p:tgtEl>
                                      </p:cBhvr>
                                    </p:animEffect>
                                  </p:childTnLst>
                                </p:cTn>
                              </p:par>
                            </p:childTnLst>
                          </p:cTn>
                        </p:par>
                      </p:childTnLst>
                    </p:cTn>
                  </p:par>
                  <p:par>
                    <p:cTn id="101" fill="hold">
                      <p:stCondLst>
                        <p:cond delay="indefinite"/>
                      </p:stCondLst>
                      <p:childTnLst>
                        <p:par>
                          <p:cTn id="102" fill="hold">
                            <p:stCondLst>
                              <p:cond delay="0"/>
                            </p:stCondLst>
                            <p:childTnLst>
                              <p:par>
                                <p:cTn id="83" presetID="10" presetClass="entr" presetSubtype="0" fill="hold" nodeType="clickEffect">
                                  <p:stCondLst>
                                    <p:cond delay="0"/>
                                  </p:stCondLst>
                                  <p:childTnLst>
                                    <p:set>
                                      <p:cBhvr>
                                        <p:cTn id="84" dur="1" fill="hold">
                                          <p:stCondLst>
                                            <p:cond delay="0"/>
                                          </p:stCondLst>
                                        </p:cTn>
                                        <p:tgtEl>
                                          <p:spTgt spid="29"/>
                                        </p:tgtEl>
                                        <p:attrNameLst>
                                          <p:attrName>style.visibility</p:attrName>
                                        </p:attrNameLst>
                                      </p:cBhvr>
                                      <p:to>
                                        <p:strVal val="visible"/>
                                      </p:to>
                                    </p:set>
                                    <p:animEffect transition="in" filter="fade">
                                      <p:cBhvr>
                                        <p:cTn id="85" dur="400"/>
                                        <p:tgtEl>
                                          <p:spTgt spid="29"/>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30"/>
                                        </p:tgtEl>
                                        <p:attrNameLst>
                                          <p:attrName>style.visibility</p:attrName>
                                        </p:attrNameLst>
                                      </p:cBhvr>
                                      <p:to>
                                        <p:strVal val="visible"/>
                                      </p:to>
                                    </p:set>
                                    <p:animEffect transition="in" filter="fade">
                                      <p:cBhvr>
                                        <p:cTn id="88" dur="400"/>
                                        <p:tgtEl>
                                          <p:spTgt spid="30"/>
                                        </p:tgtEl>
                                      </p:cBhvr>
                                    </p:animEffect>
                                  </p:childTnLst>
                                </p:cTn>
                              </p:par>
                              <p:par>
                                <p:cTn id="89" presetID="10" presetClass="entr" presetSubtype="0" fill="hold" nodeType="withEffect">
                                  <p:stCondLst>
                                    <p:cond delay="0"/>
                                  </p:stCondLst>
                                  <p:childTnLst>
                                    <p:set>
                                      <p:cBhvr>
                                        <p:cTn id="90" dur="1" fill="hold">
                                          <p:stCondLst>
                                            <p:cond delay="0"/>
                                          </p:stCondLst>
                                        </p:cTn>
                                        <p:tgtEl>
                                          <p:spTgt spid="31"/>
                                        </p:tgtEl>
                                        <p:attrNameLst>
                                          <p:attrName>style.visibility</p:attrName>
                                        </p:attrNameLst>
                                      </p:cBhvr>
                                      <p:to>
                                        <p:strVal val="visible"/>
                                      </p:to>
                                    </p:set>
                                    <p:animEffect transition="in" filter="fade">
                                      <p:cBhvr>
                                        <p:cTn id="91" dur="400"/>
                                        <p:tgtEl>
                                          <p:spTgt spid="31"/>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32"/>
                                        </p:tgtEl>
                                        <p:attrNameLst>
                                          <p:attrName>style.visibility</p:attrName>
                                        </p:attrNameLst>
                                      </p:cBhvr>
                                      <p:to>
                                        <p:strVal val="visible"/>
                                      </p:to>
                                    </p:set>
                                    <p:animEffect transition="in" filter="fade">
                                      <p:cBhvr>
                                        <p:cTn id="94" dur="400"/>
                                        <p:tgtEl>
                                          <p:spTgt spid="32"/>
                                        </p:tgtEl>
                                      </p:cBhvr>
                                    </p:animEffect>
                                  </p:childTnLst>
                                </p:cTn>
                              </p:par>
                              <p:par>
                                <p:cTn id="95" presetID="10" presetClass="entr" presetSubtype="0" fill="hold" nodeType="withEffect">
                                  <p:stCondLst>
                                    <p:cond delay="0"/>
                                  </p:stCondLst>
                                  <p:childTnLst>
                                    <p:set>
                                      <p:cBhvr>
                                        <p:cTn id="96" dur="1" fill="hold">
                                          <p:stCondLst>
                                            <p:cond delay="0"/>
                                          </p:stCondLst>
                                        </p:cTn>
                                        <p:tgtEl>
                                          <p:spTgt spid="33"/>
                                        </p:tgtEl>
                                        <p:attrNameLst>
                                          <p:attrName>style.visibility</p:attrName>
                                        </p:attrNameLst>
                                      </p:cBhvr>
                                      <p:to>
                                        <p:strVal val="visible"/>
                                      </p:to>
                                    </p:set>
                                    <p:animEffect transition="in" filter="fade">
                                      <p:cBhvr>
                                        <p:cTn id="97" dur="400"/>
                                        <p:tgtEl>
                                          <p:spTgt spid="33"/>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34"/>
                                        </p:tgtEl>
                                        <p:attrNameLst>
                                          <p:attrName>style.visibility</p:attrName>
                                        </p:attrNameLst>
                                      </p:cBhvr>
                                      <p:to>
                                        <p:strVal val="visible"/>
                                      </p:to>
                                    </p:set>
                                    <p:animEffect transition="in" filter="fade">
                                      <p:cBhvr>
                                        <p:cTn id="100" dur="4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10" grpId="0"/>
      <p:bldP spid="12" grpId="0"/>
      <p:bldP spid="14" grpId="0"/>
      <p:bldP spid="16" grpId="0"/>
      <p:bldP spid="18" grpId="0"/>
      <p:bldP spid="20" grpId="0"/>
      <p:bldP spid="22" grpId="0"/>
      <p:bldP spid="24" grpId="0"/>
      <p:bldP spid="26" grpId="0"/>
      <p:bldP spid="28" grpId="0"/>
      <p:bldP spid="30" grpId="0"/>
      <p:bldP spid="32" grpId="0"/>
      <p:bldP spid="34" grpId="0"/>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2"/>
                </a:solidFill>
              </a:rPr>
              <a:t>What it saves</a:t>
            </a:r>
            <a:endParaRPr lang="en-US" sz="3000" dirty="0"/>
          </a:p>
        </p:txBody>
      </p:sp>
      <p:sp>
        <p:nvSpPr>
          <p:cNvPr id="3" name="a1_stat0_card"/>
          <p:cNvSpPr/>
          <p:nvPr/>
        </p:nvSpPr>
        <p:spPr>
          <a:xfrm>
            <a:off x="548640" y="1371600"/>
            <a:ext cx="4206240" cy="1280160"/>
          </a:xfrm>
          <a:prstGeom prst="roundRect">
            <a:avLst>
              <a:gd name="adj" fmla="val 8571"/>
            </a:avLst>
          </a:prstGeom>
          <a:solidFill>
            <a:schemeClr val="bg2"/>
          </a:solidFill>
          <a:ln w="12700">
            <a:solidFill>
              <a:schemeClr val="bg2"/>
            </a:solidFill>
            <a:prstDash val="solid"/>
          </a:ln>
          <a:effectLst>
            <a:outerShdw sx="100000" sy="100000" kx="0" ky="0" algn="bl" rotWithShape="0" blurRad="76200" dist="25400" dir="5400000">
              <a:srgbClr val="7F9DB9">
                <a:alpha val="25000"/>
              </a:srgbClr>
            </a:outerShdw>
          </a:effectLst>
        </p:spPr>
      </p:sp>
      <p:sp>
        <p:nvSpPr>
          <p:cNvPr id="4" name="a1_stat0_num"/>
          <p:cNvSpPr txBox="1"/>
          <p:nvPr/>
        </p:nvSpPr>
        <p:spPr>
          <a:xfrm>
            <a:off x="822960" y="1508760"/>
            <a:ext cx="1828800" cy="1005840"/>
          </a:xfrm>
          <a:prstGeom prst="rect">
            <a:avLst/>
          </a:prstGeom>
          <a:noFill/>
          <a:ln/>
        </p:spPr>
        <p:txBody>
          <a:bodyPr wrap="square" lIns="0" tIns="0" rIns="0" bIns="0" rtlCol="0" anchor="ctr"/>
          <a:lstStyle/>
          <a:p>
            <a:pPr indent="0" marL="0">
              <a:buNone/>
            </a:pPr>
            <a:r>
              <a:rPr lang="en-US" sz="4000" b="1" dirty="0">
                <a:solidFill>
                  <a:schemeClr val="accent1"/>
                </a:solidFill>
              </a:rPr>
              <a:t>~9</a:t>
            </a:r>
            <a:endParaRPr lang="en-US" sz="4000" dirty="0"/>
          </a:p>
        </p:txBody>
      </p:sp>
      <p:sp>
        <p:nvSpPr>
          <p:cNvPr id="5" name="a1_stat0_label"/>
          <p:cNvSpPr txBox="1"/>
          <p:nvPr/>
        </p:nvSpPr>
        <p:spPr>
          <a:xfrm>
            <a:off x="2697480" y="1554480"/>
            <a:ext cx="1920240" cy="914400"/>
          </a:xfrm>
          <a:prstGeom prst="rect">
            <a:avLst/>
          </a:prstGeom>
          <a:noFill/>
          <a:ln/>
        </p:spPr>
        <p:txBody>
          <a:bodyPr wrap="square" lIns="0" tIns="0" rIns="0" bIns="0" rtlCol="0" anchor="ctr"/>
          <a:lstStyle/>
          <a:p>
            <a:pPr indent="0" marL="0">
              <a:buNone/>
            </a:pPr>
            <a:r>
              <a:rPr lang="en-US" sz="1400" b="1" dirty="0">
                <a:solidFill>
                  <a:schemeClr val="tx2"/>
                </a:solidFill>
              </a:rPr>
              <a:t>working days</a:t>
            </a:r>
            <a:endParaRPr lang="en-US" sz="1400" dirty="0"/>
          </a:p>
          <a:p>
            <a:pPr indent="0" marL="0">
              <a:buNone/>
            </a:pPr>
            <a:r>
              <a:rPr lang="en-US" sz="1400" dirty="0">
                <a:solidFill>
                  <a:schemeClr val="tx1"/>
                </a:solidFill>
              </a:rPr>
              <a:t>shorter lead time per request</a:t>
            </a:r>
            <a:endParaRPr lang="en-US" sz="1400" dirty="0"/>
          </a:p>
        </p:txBody>
      </p:sp>
      <p:sp>
        <p:nvSpPr>
          <p:cNvPr id="6" name="a2_stat1_card"/>
          <p:cNvSpPr/>
          <p:nvPr/>
        </p:nvSpPr>
        <p:spPr>
          <a:xfrm>
            <a:off x="548640" y="2880360"/>
            <a:ext cx="4206240" cy="1280160"/>
          </a:xfrm>
          <a:prstGeom prst="roundRect">
            <a:avLst>
              <a:gd name="adj" fmla="val 8571"/>
            </a:avLst>
          </a:prstGeom>
          <a:solidFill>
            <a:schemeClr val="bg2"/>
          </a:solidFill>
          <a:ln w="12700">
            <a:solidFill>
              <a:schemeClr val="bg2"/>
            </a:solidFill>
            <a:prstDash val="solid"/>
          </a:ln>
          <a:effectLst>
            <a:outerShdw sx="100000" sy="100000" kx="0" ky="0" algn="bl" rotWithShape="0" blurRad="76200" dist="25400" dir="5400000">
              <a:srgbClr val="7F9DB9">
                <a:alpha val="25000"/>
              </a:srgbClr>
            </a:outerShdw>
          </a:effectLst>
        </p:spPr>
      </p:sp>
      <p:sp>
        <p:nvSpPr>
          <p:cNvPr id="7" name="a2_stat1_num"/>
          <p:cNvSpPr txBox="1"/>
          <p:nvPr/>
        </p:nvSpPr>
        <p:spPr>
          <a:xfrm>
            <a:off x="822960" y="3017520"/>
            <a:ext cx="1828800" cy="1005840"/>
          </a:xfrm>
          <a:prstGeom prst="rect">
            <a:avLst/>
          </a:prstGeom>
          <a:noFill/>
          <a:ln/>
        </p:spPr>
        <p:txBody>
          <a:bodyPr wrap="square" lIns="0" tIns="0" rIns="0" bIns="0" rtlCol="0" anchor="ctr"/>
          <a:lstStyle/>
          <a:p>
            <a:pPr indent="0" marL="0">
              <a:buNone/>
            </a:pPr>
            <a:r>
              <a:rPr lang="en-US" sz="4000" b="1" dirty="0">
                <a:solidFill>
                  <a:schemeClr val="accent1"/>
                </a:solidFill>
              </a:rPr>
              <a:t>~7.9 h</a:t>
            </a:r>
            <a:endParaRPr lang="en-US" sz="4000" dirty="0"/>
          </a:p>
        </p:txBody>
      </p:sp>
      <p:sp>
        <p:nvSpPr>
          <p:cNvPr id="8" name="a2_stat1_label"/>
          <p:cNvSpPr txBox="1"/>
          <p:nvPr/>
        </p:nvSpPr>
        <p:spPr>
          <a:xfrm>
            <a:off x="2697480" y="3063240"/>
            <a:ext cx="1920240" cy="914400"/>
          </a:xfrm>
          <a:prstGeom prst="rect">
            <a:avLst/>
          </a:prstGeom>
          <a:noFill/>
          <a:ln/>
        </p:spPr>
        <p:txBody>
          <a:bodyPr wrap="square" lIns="0" tIns="0" rIns="0" bIns="0" rtlCol="0" anchor="ctr"/>
          <a:lstStyle/>
          <a:p>
            <a:pPr indent="0" marL="0">
              <a:buNone/>
            </a:pPr>
            <a:r>
              <a:rPr lang="en-US" sz="1400" b="1" dirty="0">
                <a:solidFill>
                  <a:schemeClr val="tx2"/>
                </a:solidFill>
              </a:rPr>
              <a:t>per request</a:t>
            </a:r>
            <a:endParaRPr lang="en-US" sz="1400" dirty="0"/>
          </a:p>
          <a:p>
            <a:pPr indent="0" marL="0">
              <a:buNone/>
            </a:pPr>
            <a:r>
              <a:rPr lang="en-US" sz="1400" dirty="0">
                <a:solidFill>
                  <a:schemeClr val="tx1"/>
                </a:solidFill>
              </a:rPr>
              <a:t>Entra ID team effort saved</a:t>
            </a:r>
            <a:endParaRPr lang="en-US" sz="1400" dirty="0"/>
          </a:p>
        </p:txBody>
      </p:sp>
      <p:sp>
        <p:nvSpPr>
          <p:cNvPr id="9" name="a3_stat2_card"/>
          <p:cNvSpPr/>
          <p:nvPr/>
        </p:nvSpPr>
        <p:spPr>
          <a:xfrm>
            <a:off x="548640" y="4389120"/>
            <a:ext cx="4206240" cy="1280160"/>
          </a:xfrm>
          <a:prstGeom prst="roundRect">
            <a:avLst>
              <a:gd name="adj" fmla="val 8571"/>
            </a:avLst>
          </a:prstGeom>
          <a:solidFill>
            <a:schemeClr val="bg2"/>
          </a:solidFill>
          <a:ln w="12700">
            <a:solidFill>
              <a:schemeClr val="bg2"/>
            </a:solidFill>
            <a:prstDash val="solid"/>
          </a:ln>
          <a:effectLst>
            <a:outerShdw sx="100000" sy="100000" kx="0" ky="0" algn="bl" rotWithShape="0" blurRad="76200" dist="25400" dir="5400000">
              <a:srgbClr val="7F9DB9">
                <a:alpha val="25000"/>
              </a:srgbClr>
            </a:outerShdw>
          </a:effectLst>
        </p:spPr>
      </p:sp>
      <p:sp>
        <p:nvSpPr>
          <p:cNvPr id="10" name="a3_stat2_num"/>
          <p:cNvSpPr txBox="1"/>
          <p:nvPr/>
        </p:nvSpPr>
        <p:spPr>
          <a:xfrm>
            <a:off x="822960" y="4526280"/>
            <a:ext cx="1828800" cy="1005840"/>
          </a:xfrm>
          <a:prstGeom prst="rect">
            <a:avLst/>
          </a:prstGeom>
          <a:noFill/>
          <a:ln/>
        </p:spPr>
        <p:txBody>
          <a:bodyPr wrap="square" lIns="0" tIns="0" rIns="0" bIns="0" rtlCol="0" anchor="ctr"/>
          <a:lstStyle/>
          <a:p>
            <a:pPr indent="0" marL="0">
              <a:buNone/>
            </a:pPr>
            <a:r>
              <a:rPr lang="en-US" sz="4000" b="1" dirty="0">
                <a:solidFill>
                  <a:schemeClr val="accent1"/>
                </a:solidFill>
              </a:rPr>
              <a:t>1</a:t>
            </a:r>
            <a:endParaRPr lang="en-US" sz="4000" dirty="0"/>
          </a:p>
        </p:txBody>
      </p:sp>
      <p:sp>
        <p:nvSpPr>
          <p:cNvPr id="11" name="a3_stat2_label"/>
          <p:cNvSpPr txBox="1"/>
          <p:nvPr/>
        </p:nvSpPr>
        <p:spPr>
          <a:xfrm>
            <a:off x="2697480" y="4572000"/>
            <a:ext cx="1920240" cy="914400"/>
          </a:xfrm>
          <a:prstGeom prst="rect">
            <a:avLst/>
          </a:prstGeom>
          <a:noFill/>
          <a:ln/>
        </p:spPr>
        <p:txBody>
          <a:bodyPr wrap="square" lIns="0" tIns="0" rIns="0" bIns="0" rtlCol="0" anchor="ctr"/>
          <a:lstStyle/>
          <a:p>
            <a:pPr indent="0" marL="0">
              <a:buNone/>
            </a:pPr>
            <a:r>
              <a:rPr lang="en-US" sz="1400" b="1" dirty="0">
                <a:solidFill>
                  <a:schemeClr val="tx2"/>
                </a:solidFill>
              </a:rPr>
              <a:t>Premium licence</a:t>
            </a:r>
            <a:endParaRPr lang="en-US" sz="1400" dirty="0"/>
          </a:p>
          <a:p>
            <a:pPr indent="0" marL="0">
              <a:buNone/>
            </a:pPr>
            <a:r>
              <a:rPr lang="en-US" sz="1400" dirty="0">
                <a:solidFill>
                  <a:schemeClr val="tx1"/>
                </a:solidFill>
              </a:rPr>
              <a:t>the only extra running cost</a:t>
            </a:r>
            <a:endParaRPr lang="en-US" sz="1400" dirty="0"/>
          </a:p>
        </p:txBody>
      </p:sp>
      <p:graphicFrame>
        <p:nvGraphicFramePr>
          <p:cNvPr id="12" name="a4_chart" descr=""/>
          <p:cNvGraphicFramePr/>
          <p:nvPr/>
        </p:nvGraphicFramePr>
        <p:xfrm>
          <a:off x="5120640" y="1325880"/>
          <a:ext cx="6492240" cy="4343400"/>
        </p:xfrm>
        <a:graphic xmlns:a="http://schemas.openxmlformats.org/drawingml/2006/main">
          <a:graphicData uri="http://schemas.openxmlformats.org/drawingml/2006/chart">
            <c:chart xmlns:c="http://schemas.openxmlformats.org/drawingml/2006/chart" r:id="rId1"/>
          </a:graphicData>
        </a:graphic>
      </p:graphicFrame>
      <p:sp>
        <p:nvSpPr>
          <p:cNvPr id="13" name="a4_chart_note"/>
          <p:cNvSpPr txBox="1"/>
          <p:nvPr/>
        </p:nvSpPr>
        <p:spPr>
          <a:xfrm>
            <a:off x="5120640" y="5715000"/>
            <a:ext cx="6492240" cy="457200"/>
          </a:xfrm>
          <a:prstGeom prst="rect">
            <a:avLst/>
          </a:prstGeom>
          <a:noFill/>
          <a:ln/>
        </p:spPr>
        <p:txBody>
          <a:bodyPr wrap="square" lIns="0" tIns="0" rIns="0" bIns="0" rtlCol="0" anchor="t"/>
          <a:lstStyle/>
          <a:p>
            <a:pPr indent="0" marL="0">
              <a:buNone/>
            </a:pPr>
            <a:r>
              <a:rPr lang="en-US" sz="1100" dirty="0">
                <a:solidFill>
                  <a:schemeClr val="accent6"/>
                </a:solidFill>
              </a:rPr>
              <a:t>≈ 0.2 / 0.45 / 0.9 of a full-time person at 220 working days a year. Multiply person-days by your internal day rate for a money figure.</a:t>
            </a:r>
            <a:endParaRPr lang="en-US" sz="11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400"/>
                                        <p:tgtEl>
                                          <p:spTgt spid="3"/>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400"/>
                                        <p:tgtEl>
                                          <p:spTgt spid="4"/>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400"/>
                                        <p:tgtEl>
                                          <p:spTgt spid="5"/>
                                        </p:tgtEl>
                                      </p:cBhvr>
                                    </p:animEffect>
                                  </p:childTnLst>
                                </p:cTn>
                              </p:par>
                            </p:childTnLst>
                          </p:cTn>
                        </p:par>
                      </p:childTnLst>
                    </p:cTn>
                  </p:par>
                  <p:par>
                    <p:cTn id="23" fill="hold">
                      <p:stCondLst>
                        <p:cond delay="indefinite"/>
                      </p:stCondLst>
                      <p:childTnLst>
                        <p:par>
                          <p:cTn id="24"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400"/>
                                        <p:tgtEl>
                                          <p:spTgt spid="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400"/>
                                        <p:tgtEl>
                                          <p:spTgt spid="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400"/>
                                        <p:tgtEl>
                                          <p:spTgt spid="8"/>
                                        </p:tgtEl>
                                      </p:cBhvr>
                                    </p:animEffect>
                                  </p:childTnLst>
                                </p:cTn>
                              </p:par>
                            </p:childTnLst>
                          </p:cTn>
                        </p:par>
                      </p:childTnLst>
                    </p:cTn>
                  </p:par>
                  <p:par>
                    <p:cTn id="34" fill="hold">
                      <p:stCondLst>
                        <p:cond delay="indefinite"/>
                      </p:stCondLst>
                      <p:childTnLst>
                        <p:par>
                          <p:cTn id="35"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400"/>
                                        <p:tgtEl>
                                          <p:spTgt spid="9"/>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400"/>
                                        <p:tgtEl>
                                          <p:spTgt spid="10"/>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400"/>
                                        <p:tgtEl>
                                          <p:spTgt spid="11"/>
                                        </p:tgtEl>
                                      </p:cBhvr>
                                    </p:animEffect>
                                  </p:childTnLst>
                                </p:cTn>
                              </p:par>
                            </p:childTnLst>
                          </p:cTn>
                        </p:par>
                      </p:childTnLst>
                    </p:cTn>
                  </p:par>
                  <p:par>
                    <p:cTn id="42" fill="hold">
                      <p:stCondLst>
                        <p:cond delay="indefinite"/>
                      </p:stCondLst>
                      <p:childTnLst>
                        <p:par>
                          <p:cTn id="43"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400"/>
                                        <p:tgtEl>
                                          <p:spTgt spid="12"/>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fade">
                                      <p:cBhvr>
                                        <p:cTn id="41"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7" grpId="0"/>
      <p:bldP spid="8" grpId="0"/>
      <p:bldP spid="10" grpId="0"/>
      <p:bldP spid="11" grpId="0"/>
      <p:bldP spid="13" grpId="0"/>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2"/>
                </a:solidFill>
              </a:rPr>
              <a:t>Ownership by tags, not by naming convention</a:t>
            </a:r>
            <a:endParaRPr lang="en-US" sz="3000" dirty="0"/>
          </a:p>
        </p:txBody>
      </p:sp>
      <p:sp>
        <p:nvSpPr>
          <p:cNvPr id="3" name="a1_today_card"/>
          <p:cNvSpPr/>
          <p:nvPr/>
        </p:nvSpPr>
        <p:spPr>
          <a:xfrm>
            <a:off x="548640" y="1325880"/>
            <a:ext cx="4114800" cy="4206240"/>
          </a:xfrm>
          <a:prstGeom prst="roundRect">
            <a:avLst>
              <a:gd name="adj" fmla="val 2667"/>
            </a:avLst>
          </a:prstGeom>
          <a:solidFill>
            <a:schemeClr val="bg2"/>
          </a:solidFill>
          <a:ln w="12700">
            <a:solidFill>
              <a:schemeClr val="bg2"/>
            </a:solidFill>
            <a:prstDash val="solid"/>
          </a:ln>
          <a:effectLst>
            <a:outerShdw sx="100000" sy="100000" kx="0" ky="0" algn="bl" rotWithShape="0" blurRad="76200" dist="25400" dir="5400000">
              <a:srgbClr val="7F9DB9">
                <a:alpha val="25000"/>
              </a:srgbClr>
            </a:outerShdw>
          </a:effectLst>
        </p:spPr>
      </p:sp>
      <p:sp>
        <p:nvSpPr>
          <p:cNvPr id="4" name="a1_today_head"/>
          <p:cNvSpPr txBox="1"/>
          <p:nvPr/>
        </p:nvSpPr>
        <p:spPr>
          <a:xfrm>
            <a:off x="822960" y="1508760"/>
            <a:ext cx="3566160" cy="411480"/>
          </a:xfrm>
          <a:prstGeom prst="rect">
            <a:avLst/>
          </a:prstGeom>
          <a:noFill/>
          <a:ln/>
        </p:spPr>
        <p:txBody>
          <a:bodyPr wrap="square" lIns="0" tIns="0" rIns="0" bIns="0" rtlCol="0" anchor="t"/>
          <a:lstStyle/>
          <a:p>
            <a:pPr indent="0" marL="0">
              <a:buNone/>
            </a:pPr>
            <a:r>
              <a:rPr lang="en-US" sz="2000" b="1" dirty="0">
                <a:solidFill>
                  <a:schemeClr val="accent3"/>
                </a:solidFill>
              </a:rPr>
              <a:t>Today</a:t>
            </a:r>
            <a:endParaRPr lang="en-US" sz="2000" dirty="0"/>
          </a:p>
        </p:txBody>
      </p:sp>
      <p:sp>
        <p:nvSpPr>
          <p:cNvPr id="5" name="a1_today_list"/>
          <p:cNvSpPr txBox="1"/>
          <p:nvPr/>
        </p:nvSpPr>
        <p:spPr>
          <a:xfrm>
            <a:off x="822960" y="2011680"/>
            <a:ext cx="3611880" cy="329184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Ownership is only implied by the app's name</a:t>
            </a:r>
            <a:endParaRPr lang="en-US" sz="1500" dirty="0"/>
          </a:p>
          <a:p>
            <a:pPr marL="342900" indent="-342900">
              <a:spcAft>
                <a:spcPts val="1000"/>
              </a:spcAft>
              <a:buSzPct val="100000"/>
              <a:buChar char="•"/>
            </a:pPr>
            <a:r>
              <a:rPr lang="en-US" sz="1500" dirty="0">
                <a:solidFill>
                  <a:schemeClr val="tx1"/>
                </a:solidFill>
              </a:rPr>
              <a:t>No reliable link to the business application</a:t>
            </a:r>
            <a:endParaRPr lang="en-US" sz="1500" dirty="0"/>
          </a:p>
          <a:p>
            <a:pPr marL="342900" indent="-342900">
              <a:spcAft>
                <a:spcPts val="1000"/>
              </a:spcAft>
              <a:buSzPct val="100000"/>
              <a:buChar char="•"/>
            </a:pPr>
            <a:r>
              <a:rPr lang="en-US" sz="1500" dirty="0">
                <a:solidFill>
                  <a:schemeClr val="tx1"/>
                </a:solidFill>
              </a:rPr>
              <a:t>Hard to find who to ask, or what to clean up</a:t>
            </a:r>
            <a:endParaRPr lang="en-US" sz="1500" dirty="0"/>
          </a:p>
          <a:p>
            <a:pPr marL="342900" indent="-342900">
              <a:spcAft>
                <a:spcPts val="1000"/>
              </a:spcAft>
              <a:buSzPct val="100000"/>
              <a:buChar char="•"/>
            </a:pPr>
            <a:r>
              <a:rPr lang="en-US" sz="1500" dirty="0">
                <a:solidFill>
                  <a:schemeClr val="tx1"/>
                </a:solidFill>
              </a:rPr>
              <a:t>No record of who requested it, or when</a:t>
            </a:r>
            <a:endParaRPr lang="en-US" sz="1500" dirty="0"/>
          </a:p>
        </p:txBody>
      </p:sp>
      <p:sp>
        <p:nvSpPr>
          <p:cNvPr id="6" name="a2_app_card"/>
          <p:cNvSpPr/>
          <p:nvPr/>
        </p:nvSpPr>
        <p:spPr>
          <a:xfrm>
            <a:off x="4937760" y="1325880"/>
            <a:ext cx="6702552" cy="4206240"/>
          </a:xfrm>
          <a:prstGeom prst="roundRect">
            <a:avLst>
              <a:gd name="adj" fmla="val 2609"/>
            </a:avLst>
          </a:prstGeom>
          <a:solidFill>
            <a:schemeClr val="bg1"/>
          </a:solidFill>
          <a:ln w="12700">
            <a:solidFill>
              <a:schemeClr val="bg1"/>
            </a:solidFill>
            <a:prstDash val="solid"/>
          </a:ln>
          <a:effectLst>
            <a:outerShdw sx="100000" sy="100000" kx="0" ky="0" algn="bl" rotWithShape="0" blurRad="76200" dist="25400" dir="5400000">
              <a:srgbClr val="7F9DB9">
                <a:alpha val="25000"/>
              </a:srgbClr>
            </a:outerShdw>
          </a:effectLst>
        </p:spPr>
      </p:sp>
      <p:sp>
        <p:nvSpPr>
          <p:cNvPr id="7" name="a2_app_border"/>
          <p:cNvSpPr/>
          <p:nvPr/>
        </p:nvSpPr>
        <p:spPr>
          <a:xfrm>
            <a:off x="4937760" y="1325880"/>
            <a:ext cx="6702552" cy="4206240"/>
          </a:xfrm>
          <a:prstGeom prst="roundRect">
            <a:avLst>
              <a:gd name="adj" fmla="val 2609"/>
            </a:avLst>
          </a:prstGeom>
          <a:solidFill>
            <a:schemeClr val="bg1"/>
          </a:solidFill>
          <a:ln w="12700">
            <a:solidFill>
              <a:schemeClr val="accent2"/>
            </a:solidFill>
            <a:prstDash val="solid"/>
          </a:ln>
        </p:spPr>
      </p:sp>
      <p:sp>
        <p:nvSpPr>
          <p:cNvPr id="8" name="a2_app_circle"/>
          <p:cNvSpPr/>
          <p:nvPr/>
        </p:nvSpPr>
        <p:spPr>
          <a:xfrm>
            <a:off x="5212080" y="1554480"/>
            <a:ext cx="640080" cy="640080"/>
          </a:xfrm>
          <a:prstGeom prst="ellipse">
            <a:avLst/>
          </a:prstGeom>
          <a:solidFill>
            <a:schemeClr val="accent1"/>
          </a:solidFill>
          <a:ln w="12700">
            <a:solidFill>
              <a:schemeClr val="accent1"/>
            </a:solidFill>
            <a:prstDash val="solid"/>
          </a:ln>
        </p:spPr>
      </p:sp>
      <p:pic>
        <p:nvPicPr>
          <p:cNvPr id="9" name="a2_app_icon" descr="preencoded.png">    </p:cNvPr>
          <p:cNvPicPr>
            <a:picLocks noChangeAspect="1"/>
          </p:cNvPicPr>
          <p:nvPr/>
        </p:nvPicPr>
        <p:blipFill>
          <a:blip r:embed="rId1"/>
          <a:stretch>
            <a:fillRect/>
          </a:stretch>
        </p:blipFill>
        <p:spPr>
          <a:xfrm>
            <a:off x="5365699" y="1708099"/>
            <a:ext cx="332842" cy="332842"/>
          </a:xfrm>
          <a:prstGeom prst="rect">
            <a:avLst/>
          </a:prstGeom>
        </p:spPr>
      </p:pic>
      <p:sp>
        <p:nvSpPr>
          <p:cNvPr id="10" name="a2_app_name"/>
          <p:cNvSpPr txBox="1"/>
          <p:nvPr/>
        </p:nvSpPr>
        <p:spPr>
          <a:xfrm>
            <a:off x="6035040" y="1572768"/>
            <a:ext cx="5394960" cy="685800"/>
          </a:xfrm>
          <a:prstGeom prst="rect">
            <a:avLst/>
          </a:prstGeom>
          <a:noFill/>
          <a:ln/>
        </p:spPr>
        <p:txBody>
          <a:bodyPr wrap="square" lIns="0" tIns="0" rIns="0" bIns="0" rtlCol="0" anchor="t"/>
          <a:lstStyle/>
          <a:p>
            <a:pPr indent="0" marL="0">
              <a:buNone/>
            </a:pPr>
            <a:r>
              <a:rPr lang="en-US" sz="1700" b="1" dirty="0">
                <a:solidFill>
                  <a:schemeClr val="tx2"/>
                </a:solidFill>
              </a:rPr>
              <a:t>APP-1234-P-ORDERS-orders-api</a:t>
            </a:r>
            <a:endParaRPr lang="en-US" sz="1700" dirty="0"/>
          </a:p>
          <a:p>
            <a:pPr indent="0" marL="0">
              <a:buNone/>
            </a:pPr>
            <a:r>
              <a:rPr lang="en-US" sz="1200" dirty="0">
                <a:solidFill>
                  <a:schemeClr val="accent6"/>
                </a:solidFill>
              </a:rPr>
              <a:t>App registration and enterprise app carry the same tags</a:t>
            </a:r>
            <a:endParaRPr lang="en-US" sz="1700" dirty="0"/>
          </a:p>
        </p:txBody>
      </p:sp>
      <p:sp>
        <p:nvSpPr>
          <p:cNvPr id="11" name="a3_chip0"/>
          <p:cNvSpPr/>
          <p:nvPr/>
        </p:nvSpPr>
        <p:spPr>
          <a:xfrm>
            <a:off x="5212080" y="2468880"/>
            <a:ext cx="2971800" cy="384048"/>
          </a:xfrm>
          <a:prstGeom prst="roundRect">
            <a:avLst>
              <a:gd name="adj" fmla="val 47619"/>
            </a:avLst>
          </a:prstGeom>
          <a:solidFill>
            <a:schemeClr val="accent1"/>
          </a:solidFill>
          <a:ln w="12700">
            <a:solidFill>
              <a:schemeClr val="accent1"/>
            </a:solidFill>
            <a:prstDash val="solid"/>
          </a:ln>
        </p:spPr>
      </p:sp>
      <p:sp>
        <p:nvSpPr>
          <p:cNvPr id="12" name="a3_chip0_t"/>
          <p:cNvSpPr txBox="1"/>
          <p:nvPr/>
        </p:nvSpPr>
        <p:spPr>
          <a:xfrm>
            <a:off x="5349240" y="2468880"/>
            <a:ext cx="2697480" cy="384048"/>
          </a:xfrm>
          <a:prstGeom prst="rect">
            <a:avLst/>
          </a:prstGeom>
          <a:noFill/>
          <a:ln/>
        </p:spPr>
        <p:txBody>
          <a:bodyPr wrap="square" lIns="0" tIns="0" rIns="0" bIns="0" rtlCol="0" anchor="ctr"/>
          <a:lstStyle/>
          <a:p>
            <a:pPr indent="0" marL="0">
              <a:buNone/>
            </a:pPr>
            <a:r>
              <a:rPr lang="en-US" sz="1300" b="1" dirty="0">
                <a:solidFill>
                  <a:schemeClr val="bg1"/>
                </a:solidFill>
              </a:rPr>
              <a:t>appCatID:APP-1234</a:t>
            </a:r>
            <a:endParaRPr lang="en-US" sz="1300" dirty="0"/>
          </a:p>
        </p:txBody>
      </p:sp>
      <p:sp>
        <p:nvSpPr>
          <p:cNvPr id="13" name="a3_chip0_d"/>
          <p:cNvSpPr txBox="1"/>
          <p:nvPr/>
        </p:nvSpPr>
        <p:spPr>
          <a:xfrm>
            <a:off x="5349240" y="2889504"/>
            <a:ext cx="2697480" cy="320040"/>
          </a:xfrm>
          <a:prstGeom prst="rect">
            <a:avLst/>
          </a:prstGeom>
          <a:noFill/>
          <a:ln/>
        </p:spPr>
        <p:txBody>
          <a:bodyPr wrap="square" lIns="0" tIns="0" rIns="0" bIns="0" rtlCol="0" anchor="t"/>
          <a:lstStyle/>
          <a:p>
            <a:pPr indent="0" marL="0">
              <a:buNone/>
            </a:pPr>
            <a:r>
              <a:rPr lang="en-US" sz="1100" dirty="0">
                <a:solidFill>
                  <a:schemeClr val="accent6"/>
                </a:solidFill>
              </a:rPr>
              <a:t>business application</a:t>
            </a:r>
            <a:endParaRPr lang="en-US" sz="1100" dirty="0"/>
          </a:p>
        </p:txBody>
      </p:sp>
      <p:sp>
        <p:nvSpPr>
          <p:cNvPr id="14" name="a3_chip1"/>
          <p:cNvSpPr/>
          <p:nvPr/>
        </p:nvSpPr>
        <p:spPr>
          <a:xfrm>
            <a:off x="8412480" y="2468880"/>
            <a:ext cx="2971800" cy="384048"/>
          </a:xfrm>
          <a:prstGeom prst="roundRect">
            <a:avLst>
              <a:gd name="adj" fmla="val 47619"/>
            </a:avLst>
          </a:prstGeom>
          <a:solidFill>
            <a:schemeClr val="accent1"/>
          </a:solidFill>
          <a:ln w="12700">
            <a:solidFill>
              <a:schemeClr val="accent1"/>
            </a:solidFill>
            <a:prstDash val="solid"/>
          </a:ln>
        </p:spPr>
      </p:sp>
      <p:sp>
        <p:nvSpPr>
          <p:cNvPr id="15" name="a3_chip1_t"/>
          <p:cNvSpPr txBox="1"/>
          <p:nvPr/>
        </p:nvSpPr>
        <p:spPr>
          <a:xfrm>
            <a:off x="8549640" y="2468880"/>
            <a:ext cx="2697480" cy="384048"/>
          </a:xfrm>
          <a:prstGeom prst="rect">
            <a:avLst/>
          </a:prstGeom>
          <a:noFill/>
          <a:ln/>
        </p:spPr>
        <p:txBody>
          <a:bodyPr wrap="square" lIns="0" tIns="0" rIns="0" bIns="0" rtlCol="0" anchor="ctr"/>
          <a:lstStyle/>
          <a:p>
            <a:pPr indent="0" marL="0">
              <a:buNone/>
            </a:pPr>
            <a:r>
              <a:rPr lang="en-US" sz="1300" b="1" dirty="0">
                <a:solidFill>
                  <a:schemeClr val="bg1"/>
                </a:solidFill>
              </a:rPr>
              <a:t>team:group\&lt;group id&gt;</a:t>
            </a:r>
            <a:endParaRPr lang="en-US" sz="1300" dirty="0"/>
          </a:p>
        </p:txBody>
      </p:sp>
      <p:sp>
        <p:nvSpPr>
          <p:cNvPr id="16" name="a3_chip1_d"/>
          <p:cNvSpPr txBox="1"/>
          <p:nvPr/>
        </p:nvSpPr>
        <p:spPr>
          <a:xfrm>
            <a:off x="8549640" y="2889504"/>
            <a:ext cx="2697480" cy="320040"/>
          </a:xfrm>
          <a:prstGeom prst="rect">
            <a:avLst/>
          </a:prstGeom>
          <a:noFill/>
          <a:ln/>
        </p:spPr>
        <p:txBody>
          <a:bodyPr wrap="square" lIns="0" tIns="0" rIns="0" bIns="0" rtlCol="0" anchor="t"/>
          <a:lstStyle/>
          <a:p>
            <a:pPr indent="0" marL="0">
              <a:buNone/>
            </a:pPr>
            <a:r>
              <a:rPr lang="en-US" sz="1100" dirty="0">
                <a:solidFill>
                  <a:schemeClr val="accent6"/>
                </a:solidFill>
              </a:rPr>
              <a:t>who may change it</a:t>
            </a:r>
            <a:endParaRPr lang="en-US" sz="1100" dirty="0"/>
          </a:p>
        </p:txBody>
      </p:sp>
      <p:sp>
        <p:nvSpPr>
          <p:cNvPr id="17" name="a3_chip2"/>
          <p:cNvSpPr/>
          <p:nvPr/>
        </p:nvSpPr>
        <p:spPr>
          <a:xfrm>
            <a:off x="5212080" y="3383280"/>
            <a:ext cx="2971800" cy="384048"/>
          </a:xfrm>
          <a:prstGeom prst="roundRect">
            <a:avLst>
              <a:gd name="adj" fmla="val 47619"/>
            </a:avLst>
          </a:prstGeom>
          <a:solidFill>
            <a:schemeClr val="accent1"/>
          </a:solidFill>
          <a:ln w="12700">
            <a:solidFill>
              <a:schemeClr val="accent1"/>
            </a:solidFill>
            <a:prstDash val="solid"/>
          </a:ln>
        </p:spPr>
      </p:sp>
      <p:sp>
        <p:nvSpPr>
          <p:cNvPr id="18" name="a3_chip2_t"/>
          <p:cNvSpPr txBox="1"/>
          <p:nvPr/>
        </p:nvSpPr>
        <p:spPr>
          <a:xfrm>
            <a:off x="5349240" y="3383280"/>
            <a:ext cx="2697480" cy="384048"/>
          </a:xfrm>
          <a:prstGeom prst="rect">
            <a:avLst/>
          </a:prstGeom>
          <a:noFill/>
          <a:ln/>
        </p:spPr>
        <p:txBody>
          <a:bodyPr wrap="square" lIns="0" tIns="0" rIns="0" bIns="0" rtlCol="0" anchor="ctr"/>
          <a:lstStyle/>
          <a:p>
            <a:pPr indent="0" marL="0">
              <a:buNone/>
            </a:pPr>
            <a:r>
              <a:rPr lang="en-US" sz="1300" b="1" dirty="0">
                <a:solidFill>
                  <a:schemeClr val="bg1"/>
                </a:solidFill>
              </a:rPr>
              <a:t>appEnv:P</a:t>
            </a:r>
            <a:endParaRPr lang="en-US" sz="1300" dirty="0"/>
          </a:p>
        </p:txBody>
      </p:sp>
      <p:sp>
        <p:nvSpPr>
          <p:cNvPr id="19" name="a3_chip2_d"/>
          <p:cNvSpPr txBox="1"/>
          <p:nvPr/>
        </p:nvSpPr>
        <p:spPr>
          <a:xfrm>
            <a:off x="5349240" y="3803904"/>
            <a:ext cx="2697480" cy="320040"/>
          </a:xfrm>
          <a:prstGeom prst="rect">
            <a:avLst/>
          </a:prstGeom>
          <a:noFill/>
          <a:ln/>
        </p:spPr>
        <p:txBody>
          <a:bodyPr wrap="square" lIns="0" tIns="0" rIns="0" bIns="0" rtlCol="0" anchor="t"/>
          <a:lstStyle/>
          <a:p>
            <a:pPr indent="0" marL="0">
              <a:buNone/>
            </a:pPr>
            <a:r>
              <a:rPr lang="en-US" sz="1100" dirty="0">
                <a:solidFill>
                  <a:schemeClr val="accent6"/>
                </a:solidFill>
              </a:rPr>
              <a:t>environment</a:t>
            </a:r>
            <a:endParaRPr lang="en-US" sz="1100" dirty="0"/>
          </a:p>
        </p:txBody>
      </p:sp>
      <p:sp>
        <p:nvSpPr>
          <p:cNvPr id="20" name="a3_chip3"/>
          <p:cNvSpPr/>
          <p:nvPr/>
        </p:nvSpPr>
        <p:spPr>
          <a:xfrm>
            <a:off x="8412480" y="3383280"/>
            <a:ext cx="2971800" cy="384048"/>
          </a:xfrm>
          <a:prstGeom prst="roundRect">
            <a:avLst>
              <a:gd name="adj" fmla="val 47619"/>
            </a:avLst>
          </a:prstGeom>
          <a:solidFill>
            <a:schemeClr val="accent1"/>
          </a:solidFill>
          <a:ln w="12700">
            <a:solidFill>
              <a:schemeClr val="accent1"/>
            </a:solidFill>
            <a:prstDash val="solid"/>
          </a:ln>
        </p:spPr>
      </p:sp>
      <p:sp>
        <p:nvSpPr>
          <p:cNvPr id="21" name="a3_chip3_t"/>
          <p:cNvSpPr txBox="1"/>
          <p:nvPr/>
        </p:nvSpPr>
        <p:spPr>
          <a:xfrm>
            <a:off x="8549640" y="3383280"/>
            <a:ext cx="2697480" cy="384048"/>
          </a:xfrm>
          <a:prstGeom prst="rect">
            <a:avLst/>
          </a:prstGeom>
          <a:noFill/>
          <a:ln/>
        </p:spPr>
        <p:txBody>
          <a:bodyPr wrap="square" lIns="0" tIns="0" rIns="0" bIns="0" rtlCol="0" anchor="ctr"/>
          <a:lstStyle/>
          <a:p>
            <a:pPr indent="0" marL="0">
              <a:buNone/>
            </a:pPr>
            <a:r>
              <a:rPr lang="en-US" sz="1300" b="1" dirty="0">
                <a:solidFill>
                  <a:schemeClr val="bg1"/>
                </a:solidFill>
              </a:rPr>
              <a:t>managedBy:entra-pp</a:t>
            </a:r>
            <a:endParaRPr lang="en-US" sz="1300" dirty="0"/>
          </a:p>
        </p:txBody>
      </p:sp>
      <p:sp>
        <p:nvSpPr>
          <p:cNvPr id="22" name="a3_chip3_d"/>
          <p:cNvSpPr txBox="1"/>
          <p:nvPr/>
        </p:nvSpPr>
        <p:spPr>
          <a:xfrm>
            <a:off x="8549640" y="3803904"/>
            <a:ext cx="2697480" cy="320040"/>
          </a:xfrm>
          <a:prstGeom prst="rect">
            <a:avLst/>
          </a:prstGeom>
          <a:noFill/>
          <a:ln/>
        </p:spPr>
        <p:txBody>
          <a:bodyPr wrap="square" lIns="0" tIns="0" rIns="0" bIns="0" rtlCol="0" anchor="t"/>
          <a:lstStyle/>
          <a:p>
            <a:pPr indent="0" marL="0">
              <a:buNone/>
            </a:pPr>
            <a:r>
              <a:rPr lang="en-US" sz="1100" dirty="0">
                <a:solidFill>
                  <a:schemeClr val="accent6"/>
                </a:solidFill>
              </a:rPr>
              <a:t>managed by the platform</a:t>
            </a:r>
            <a:endParaRPr lang="en-US" sz="1100" dirty="0"/>
          </a:p>
        </p:txBody>
      </p:sp>
      <p:sp>
        <p:nvSpPr>
          <p:cNvPr id="23" name="a3_chip4"/>
          <p:cNvSpPr/>
          <p:nvPr/>
        </p:nvSpPr>
        <p:spPr>
          <a:xfrm>
            <a:off x="5212080" y="4297680"/>
            <a:ext cx="2971800" cy="384048"/>
          </a:xfrm>
          <a:prstGeom prst="roundRect">
            <a:avLst>
              <a:gd name="adj" fmla="val 47619"/>
            </a:avLst>
          </a:prstGeom>
          <a:solidFill>
            <a:schemeClr val="accent1"/>
          </a:solidFill>
          <a:ln w="12700">
            <a:solidFill>
              <a:schemeClr val="accent1"/>
            </a:solidFill>
            <a:prstDash val="solid"/>
          </a:ln>
        </p:spPr>
      </p:sp>
      <p:sp>
        <p:nvSpPr>
          <p:cNvPr id="24" name="a3_chip4_t"/>
          <p:cNvSpPr txBox="1"/>
          <p:nvPr/>
        </p:nvSpPr>
        <p:spPr>
          <a:xfrm>
            <a:off x="5349240" y="4297680"/>
            <a:ext cx="2697480" cy="384048"/>
          </a:xfrm>
          <a:prstGeom prst="rect">
            <a:avLst/>
          </a:prstGeom>
          <a:noFill/>
          <a:ln/>
        </p:spPr>
        <p:txBody>
          <a:bodyPr wrap="square" lIns="0" tIns="0" rIns="0" bIns="0" rtlCol="0" anchor="ctr"/>
          <a:lstStyle/>
          <a:p>
            <a:pPr indent="0" marL="0">
              <a:buNone/>
            </a:pPr>
            <a:r>
              <a:rPr lang="en-US" sz="1300" b="1" dirty="0">
                <a:solidFill>
                  <a:schemeClr val="bg1"/>
                </a:solidFill>
              </a:rPr>
              <a:t>requestId:REQ-2610-…</a:t>
            </a:r>
            <a:endParaRPr lang="en-US" sz="1300" dirty="0"/>
          </a:p>
        </p:txBody>
      </p:sp>
      <p:sp>
        <p:nvSpPr>
          <p:cNvPr id="25" name="a3_chip4_d"/>
          <p:cNvSpPr txBox="1"/>
          <p:nvPr/>
        </p:nvSpPr>
        <p:spPr>
          <a:xfrm>
            <a:off x="5349240" y="4718304"/>
            <a:ext cx="2697480" cy="320040"/>
          </a:xfrm>
          <a:prstGeom prst="rect">
            <a:avLst/>
          </a:prstGeom>
          <a:noFill/>
          <a:ln/>
        </p:spPr>
        <p:txBody>
          <a:bodyPr wrap="square" lIns="0" tIns="0" rIns="0" bIns="0" rtlCol="0" anchor="t"/>
          <a:lstStyle/>
          <a:p>
            <a:pPr indent="0" marL="0">
              <a:buNone/>
            </a:pPr>
            <a:r>
              <a:rPr lang="en-US" sz="1100" dirty="0">
                <a:solidFill>
                  <a:schemeClr val="accent6"/>
                </a:solidFill>
              </a:rPr>
              <a:t>which request built it</a:t>
            </a:r>
            <a:endParaRPr lang="en-US" sz="1100" dirty="0"/>
          </a:p>
        </p:txBody>
      </p:sp>
      <p:sp>
        <p:nvSpPr>
          <p:cNvPr id="26" name="a3_chip5"/>
          <p:cNvSpPr/>
          <p:nvPr/>
        </p:nvSpPr>
        <p:spPr>
          <a:xfrm>
            <a:off x="8412480" y="4297680"/>
            <a:ext cx="2971800" cy="384048"/>
          </a:xfrm>
          <a:prstGeom prst="roundRect">
            <a:avLst>
              <a:gd name="adj" fmla="val 47619"/>
            </a:avLst>
          </a:prstGeom>
          <a:solidFill>
            <a:schemeClr val="accent1"/>
          </a:solidFill>
          <a:ln w="12700">
            <a:solidFill>
              <a:schemeClr val="accent1"/>
            </a:solidFill>
            <a:prstDash val="solid"/>
          </a:ln>
        </p:spPr>
      </p:sp>
      <p:sp>
        <p:nvSpPr>
          <p:cNvPr id="27" name="a3_chip5_t"/>
          <p:cNvSpPr txBox="1"/>
          <p:nvPr/>
        </p:nvSpPr>
        <p:spPr>
          <a:xfrm>
            <a:off x="8549640" y="4297680"/>
            <a:ext cx="2697480" cy="384048"/>
          </a:xfrm>
          <a:prstGeom prst="rect">
            <a:avLst/>
          </a:prstGeom>
          <a:noFill/>
          <a:ln/>
        </p:spPr>
        <p:txBody>
          <a:bodyPr wrap="square" lIns="0" tIns="0" rIns="0" bIns="0" rtlCol="0" anchor="ctr"/>
          <a:lstStyle/>
          <a:p>
            <a:pPr indent="0" marL="0">
              <a:buNone/>
            </a:pPr>
            <a:r>
              <a:rPr lang="en-US" sz="1300" b="1" dirty="0">
                <a:solidFill>
                  <a:schemeClr val="bg1"/>
                </a:solidFill>
              </a:rPr>
              <a:t>createdBy:alex@…</a:t>
            </a:r>
            <a:endParaRPr lang="en-US" sz="1300" dirty="0"/>
          </a:p>
        </p:txBody>
      </p:sp>
      <p:sp>
        <p:nvSpPr>
          <p:cNvPr id="28" name="a3_chip5_d"/>
          <p:cNvSpPr txBox="1"/>
          <p:nvPr/>
        </p:nvSpPr>
        <p:spPr>
          <a:xfrm>
            <a:off x="8549640" y="4718304"/>
            <a:ext cx="2697480" cy="320040"/>
          </a:xfrm>
          <a:prstGeom prst="rect">
            <a:avLst/>
          </a:prstGeom>
          <a:noFill/>
          <a:ln/>
        </p:spPr>
        <p:txBody>
          <a:bodyPr wrap="square" lIns="0" tIns="0" rIns="0" bIns="0" rtlCol="0" anchor="t"/>
          <a:lstStyle/>
          <a:p>
            <a:pPr indent="0" marL="0">
              <a:buNone/>
            </a:pPr>
            <a:r>
              <a:rPr lang="en-US" sz="1100" dirty="0">
                <a:solidFill>
                  <a:schemeClr val="accent6"/>
                </a:solidFill>
              </a:rPr>
              <a:t>who asked, and when</a:t>
            </a:r>
            <a:endParaRPr lang="en-US" sz="1100" dirty="0"/>
          </a:p>
        </p:txBody>
      </p:sp>
      <p:pic>
        <p:nvPicPr>
          <p:cNvPr id="29" name="a4_win0_i" descr="preencoded.png">    </p:cNvPr>
          <p:cNvPicPr>
            <a:picLocks noChangeAspect="1"/>
          </p:cNvPicPr>
          <p:nvPr/>
        </p:nvPicPr>
        <p:blipFill>
          <a:blip r:embed="rId2"/>
          <a:stretch>
            <a:fillRect/>
          </a:stretch>
        </p:blipFill>
        <p:spPr>
          <a:xfrm>
            <a:off x="548640" y="5733288"/>
            <a:ext cx="320040" cy="320040"/>
          </a:xfrm>
          <a:prstGeom prst="rect">
            <a:avLst/>
          </a:prstGeom>
        </p:spPr>
      </p:pic>
      <p:sp>
        <p:nvSpPr>
          <p:cNvPr id="30" name="a4_win0_t"/>
          <p:cNvSpPr txBox="1"/>
          <p:nvPr/>
        </p:nvSpPr>
        <p:spPr>
          <a:xfrm>
            <a:off x="1005840" y="5715000"/>
            <a:ext cx="2286000" cy="365760"/>
          </a:xfrm>
          <a:prstGeom prst="rect">
            <a:avLst/>
          </a:prstGeom>
          <a:noFill/>
          <a:ln/>
        </p:spPr>
        <p:txBody>
          <a:bodyPr wrap="square" lIns="0" tIns="0" rIns="0" bIns="0" rtlCol="0" anchor="ctr"/>
          <a:lstStyle/>
          <a:p>
            <a:pPr indent="0" marL="0">
              <a:buNone/>
            </a:pPr>
            <a:r>
              <a:rPr lang="en-US" sz="1500" b="1" dirty="0">
                <a:solidFill>
                  <a:schemeClr val="tx2"/>
                </a:solidFill>
              </a:rPr>
              <a:t>Ownership enforced</a:t>
            </a:r>
            <a:endParaRPr lang="en-US" sz="1500" dirty="0"/>
          </a:p>
        </p:txBody>
      </p:sp>
      <p:pic>
        <p:nvPicPr>
          <p:cNvPr id="31" name="a4_win1_i" descr="preencoded.png">    </p:cNvPr>
          <p:cNvPicPr>
            <a:picLocks noChangeAspect="1"/>
          </p:cNvPicPr>
          <p:nvPr/>
        </p:nvPicPr>
        <p:blipFill>
          <a:blip r:embed="rId3"/>
          <a:stretch>
            <a:fillRect/>
          </a:stretch>
        </p:blipFill>
        <p:spPr>
          <a:xfrm>
            <a:off x="3355848" y="5733288"/>
            <a:ext cx="320040" cy="320040"/>
          </a:xfrm>
          <a:prstGeom prst="rect">
            <a:avLst/>
          </a:prstGeom>
        </p:spPr>
      </p:pic>
      <p:sp>
        <p:nvSpPr>
          <p:cNvPr id="32" name="a4_win1_t"/>
          <p:cNvSpPr txBox="1"/>
          <p:nvPr/>
        </p:nvSpPr>
        <p:spPr>
          <a:xfrm>
            <a:off x="3813048" y="5715000"/>
            <a:ext cx="2286000" cy="365760"/>
          </a:xfrm>
          <a:prstGeom prst="rect">
            <a:avLst/>
          </a:prstGeom>
          <a:noFill/>
          <a:ln/>
        </p:spPr>
        <p:txBody>
          <a:bodyPr wrap="square" lIns="0" tIns="0" rIns="0" bIns="0" rtlCol="0" anchor="ctr"/>
          <a:lstStyle/>
          <a:p>
            <a:pPr indent="0" marL="0">
              <a:buNone/>
            </a:pPr>
            <a:r>
              <a:rPr lang="en-US" sz="1500" b="1" dirty="0">
                <a:solidFill>
                  <a:schemeClr val="tx2"/>
                </a:solidFill>
              </a:rPr>
              <a:t>Full audit trail</a:t>
            </a:r>
            <a:endParaRPr lang="en-US" sz="1500" dirty="0"/>
          </a:p>
        </p:txBody>
      </p:sp>
      <p:pic>
        <p:nvPicPr>
          <p:cNvPr id="33" name="a4_win2_i" descr="preencoded.png">    </p:cNvPr>
          <p:cNvPicPr>
            <a:picLocks noChangeAspect="1"/>
          </p:cNvPicPr>
          <p:nvPr/>
        </p:nvPicPr>
        <p:blipFill>
          <a:blip r:embed="rId4"/>
          <a:stretch>
            <a:fillRect/>
          </a:stretch>
        </p:blipFill>
        <p:spPr>
          <a:xfrm>
            <a:off x="6163056" y="5733288"/>
            <a:ext cx="320040" cy="320040"/>
          </a:xfrm>
          <a:prstGeom prst="rect">
            <a:avLst/>
          </a:prstGeom>
        </p:spPr>
      </p:pic>
      <p:sp>
        <p:nvSpPr>
          <p:cNvPr id="34" name="a4_win2_t"/>
          <p:cNvSpPr txBox="1"/>
          <p:nvPr/>
        </p:nvSpPr>
        <p:spPr>
          <a:xfrm>
            <a:off x="6620256" y="5715000"/>
            <a:ext cx="2286000" cy="365760"/>
          </a:xfrm>
          <a:prstGeom prst="rect">
            <a:avLst/>
          </a:prstGeom>
          <a:noFill/>
          <a:ln/>
        </p:spPr>
        <p:txBody>
          <a:bodyPr wrap="square" lIns="0" tIns="0" rIns="0" bIns="0" rtlCol="0" anchor="ctr"/>
          <a:lstStyle/>
          <a:p>
            <a:pPr indent="0" marL="0">
              <a:buNone/>
            </a:pPr>
            <a:r>
              <a:rPr lang="en-US" sz="1500" b="1" dirty="0">
                <a:solidFill>
                  <a:schemeClr val="tx2"/>
                </a:solidFill>
              </a:rPr>
              <a:t>Find and report</a:t>
            </a:r>
            <a:endParaRPr lang="en-US" sz="1500" dirty="0"/>
          </a:p>
        </p:txBody>
      </p:sp>
      <p:pic>
        <p:nvPicPr>
          <p:cNvPr id="35" name="a4_win3_i" descr="preencoded.png">    </p:cNvPr>
          <p:cNvPicPr>
            <a:picLocks noChangeAspect="1"/>
          </p:cNvPicPr>
          <p:nvPr/>
        </p:nvPicPr>
        <p:blipFill>
          <a:blip r:embed="rId5"/>
          <a:stretch>
            <a:fillRect/>
          </a:stretch>
        </p:blipFill>
        <p:spPr>
          <a:xfrm>
            <a:off x="8970264" y="5733288"/>
            <a:ext cx="320040" cy="320040"/>
          </a:xfrm>
          <a:prstGeom prst="rect">
            <a:avLst/>
          </a:prstGeom>
        </p:spPr>
      </p:pic>
      <p:sp>
        <p:nvSpPr>
          <p:cNvPr id="36" name="a4_win3_t"/>
          <p:cNvSpPr txBox="1"/>
          <p:nvPr/>
        </p:nvSpPr>
        <p:spPr>
          <a:xfrm>
            <a:off x="9427464" y="5715000"/>
            <a:ext cx="2286000" cy="365760"/>
          </a:xfrm>
          <a:prstGeom prst="rect">
            <a:avLst/>
          </a:prstGeom>
          <a:noFill/>
          <a:ln/>
        </p:spPr>
        <p:txBody>
          <a:bodyPr wrap="square" lIns="0" tIns="0" rIns="0" bIns="0" rtlCol="0" anchor="ctr"/>
          <a:lstStyle/>
          <a:p>
            <a:pPr indent="0" marL="0">
              <a:buNone/>
            </a:pPr>
            <a:r>
              <a:rPr lang="en-US" sz="1500" b="1" dirty="0">
                <a:solidFill>
                  <a:schemeClr val="tx2"/>
                </a:solidFill>
              </a:rPr>
              <a:t>Chargeback-ready</a:t>
            </a:r>
            <a:endParaRPr lang="en-US" sz="15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400"/>
                                        <p:tgtEl>
                                          <p:spTgt spid="3"/>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400"/>
                                        <p:tgtEl>
                                          <p:spTgt spid="4"/>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400"/>
                                        <p:tgtEl>
                                          <p:spTgt spid="5"/>
                                        </p:tgtEl>
                                      </p:cBhvr>
                                    </p:animEffect>
                                  </p:childTnLst>
                                </p:cTn>
                              </p:par>
                            </p:childTnLst>
                          </p:cTn>
                        </p:par>
                      </p:childTnLst>
                    </p:cTn>
                  </p:par>
                  <p:par>
                    <p:cTn id="29" fill="hold">
                      <p:stCondLst>
                        <p:cond delay="indefinite"/>
                      </p:stCondLst>
                      <p:childTnLst>
                        <p:par>
                          <p:cTn id="30"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400"/>
                                        <p:tgtEl>
                                          <p:spTgt spid="6"/>
                                        </p:tgtEl>
                                      </p:cBhvr>
                                    </p:animEffect>
                                  </p:childTnLst>
                                </p:cTn>
                              </p:par>
                              <p:par>
                                <p:cTn id="17" presetID="10" presetClass="entr" presetSubtype="0" fill="hold"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400"/>
                                        <p:tgtEl>
                                          <p:spTgt spid="7"/>
                                        </p:tgtEl>
                                      </p:cBhvr>
                                    </p:animEffect>
                                  </p:childTnLst>
                                </p:cTn>
                              </p:par>
                              <p:par>
                                <p:cTn id="20" presetID="10" presetClass="entr" presetSubtype="0" fill="hold"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400"/>
                                        <p:tgtEl>
                                          <p:spTgt spid="8"/>
                                        </p:tgtEl>
                                      </p:cBhvr>
                                    </p:animEffect>
                                  </p:childTnLst>
                                </p:cTn>
                              </p:par>
                              <p:par>
                                <p:cTn id="23" presetID="10" presetClass="entr" presetSubtype="0" fill="hold"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400"/>
                                        <p:tgtEl>
                                          <p:spTgt spid="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400"/>
                                        <p:tgtEl>
                                          <p:spTgt spid="10"/>
                                        </p:tgtEl>
                                      </p:cBhvr>
                                    </p:animEffect>
                                  </p:childTnLst>
                                </p:cTn>
                              </p:par>
                            </p:childTnLst>
                          </p:cTn>
                        </p:par>
                      </p:childTnLst>
                    </p:cTn>
                  </p:par>
                  <p:par>
                    <p:cTn id="85" fill="hold">
                      <p:stCondLst>
                        <p:cond delay="indefinite"/>
                      </p:stCondLst>
                      <p:childTnLst>
                        <p:par>
                          <p:cTn id="86"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400"/>
                                        <p:tgtEl>
                                          <p:spTgt spid="11"/>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400"/>
                                        <p:tgtEl>
                                          <p:spTgt spid="12"/>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400"/>
                                        <p:tgtEl>
                                          <p:spTgt spid="13"/>
                                        </p:tgtEl>
                                      </p:cBhvr>
                                    </p:animEffect>
                                  </p:childTnLst>
                                </p:cTn>
                              </p:par>
                              <p:par>
                                <p:cTn id="40" presetID="10" presetClass="entr" presetSubtype="0" fill="hold" nodeType="with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400"/>
                                        <p:tgtEl>
                                          <p:spTgt spid="14"/>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5"/>
                                        </p:tgtEl>
                                        <p:attrNameLst>
                                          <p:attrName>style.visibility</p:attrName>
                                        </p:attrNameLst>
                                      </p:cBhvr>
                                      <p:to>
                                        <p:strVal val="visible"/>
                                      </p:to>
                                    </p:set>
                                    <p:animEffect transition="in" filter="fade">
                                      <p:cBhvr>
                                        <p:cTn id="45" dur="400"/>
                                        <p:tgtEl>
                                          <p:spTgt spid="15"/>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6"/>
                                        </p:tgtEl>
                                        <p:attrNameLst>
                                          <p:attrName>style.visibility</p:attrName>
                                        </p:attrNameLst>
                                      </p:cBhvr>
                                      <p:to>
                                        <p:strVal val="visible"/>
                                      </p:to>
                                    </p:set>
                                    <p:animEffect transition="in" filter="fade">
                                      <p:cBhvr>
                                        <p:cTn id="48" dur="400"/>
                                        <p:tgtEl>
                                          <p:spTgt spid="16"/>
                                        </p:tgtEl>
                                      </p:cBhvr>
                                    </p:animEffect>
                                  </p:childTnLst>
                                </p:cTn>
                              </p:par>
                              <p:par>
                                <p:cTn id="49" presetID="10" presetClass="entr" presetSubtype="0" fill="hold" nodeType="withEffect">
                                  <p:stCondLst>
                                    <p:cond delay="0"/>
                                  </p:stCondLst>
                                  <p:childTnLst>
                                    <p:set>
                                      <p:cBhvr>
                                        <p:cTn id="50" dur="1" fill="hold">
                                          <p:stCondLst>
                                            <p:cond delay="0"/>
                                          </p:stCondLst>
                                        </p:cTn>
                                        <p:tgtEl>
                                          <p:spTgt spid="17"/>
                                        </p:tgtEl>
                                        <p:attrNameLst>
                                          <p:attrName>style.visibility</p:attrName>
                                        </p:attrNameLst>
                                      </p:cBhvr>
                                      <p:to>
                                        <p:strVal val="visible"/>
                                      </p:to>
                                    </p:set>
                                    <p:animEffect transition="in" filter="fade">
                                      <p:cBhvr>
                                        <p:cTn id="51" dur="400"/>
                                        <p:tgtEl>
                                          <p:spTgt spid="17"/>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8"/>
                                        </p:tgtEl>
                                        <p:attrNameLst>
                                          <p:attrName>style.visibility</p:attrName>
                                        </p:attrNameLst>
                                      </p:cBhvr>
                                      <p:to>
                                        <p:strVal val="visible"/>
                                      </p:to>
                                    </p:set>
                                    <p:animEffect transition="in" filter="fade">
                                      <p:cBhvr>
                                        <p:cTn id="54" dur="400"/>
                                        <p:tgtEl>
                                          <p:spTgt spid="18"/>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fade">
                                      <p:cBhvr>
                                        <p:cTn id="57" dur="400"/>
                                        <p:tgtEl>
                                          <p:spTgt spid="19"/>
                                        </p:tgtEl>
                                      </p:cBhvr>
                                    </p:animEffect>
                                  </p:childTnLst>
                                </p:cTn>
                              </p:par>
                              <p:par>
                                <p:cTn id="58" presetID="10" presetClass="entr" presetSubtype="0" fill="hold" nodeType="withEffect">
                                  <p:stCondLst>
                                    <p:cond delay="0"/>
                                  </p:stCondLst>
                                  <p:childTnLst>
                                    <p:set>
                                      <p:cBhvr>
                                        <p:cTn id="59" dur="1" fill="hold">
                                          <p:stCondLst>
                                            <p:cond delay="0"/>
                                          </p:stCondLst>
                                        </p:cTn>
                                        <p:tgtEl>
                                          <p:spTgt spid="20"/>
                                        </p:tgtEl>
                                        <p:attrNameLst>
                                          <p:attrName>style.visibility</p:attrName>
                                        </p:attrNameLst>
                                      </p:cBhvr>
                                      <p:to>
                                        <p:strVal val="visible"/>
                                      </p:to>
                                    </p:set>
                                    <p:animEffect transition="in" filter="fade">
                                      <p:cBhvr>
                                        <p:cTn id="60" dur="400"/>
                                        <p:tgtEl>
                                          <p:spTgt spid="20"/>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400"/>
                                        <p:tgtEl>
                                          <p:spTgt spid="21"/>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2"/>
                                        </p:tgtEl>
                                        <p:attrNameLst>
                                          <p:attrName>style.visibility</p:attrName>
                                        </p:attrNameLst>
                                      </p:cBhvr>
                                      <p:to>
                                        <p:strVal val="visible"/>
                                      </p:to>
                                    </p:set>
                                    <p:animEffect transition="in" filter="fade">
                                      <p:cBhvr>
                                        <p:cTn id="66" dur="400"/>
                                        <p:tgtEl>
                                          <p:spTgt spid="22"/>
                                        </p:tgtEl>
                                      </p:cBhvr>
                                    </p:animEffect>
                                  </p:childTnLst>
                                </p:cTn>
                              </p:par>
                              <p:par>
                                <p:cTn id="67" presetID="10" presetClass="entr" presetSubtype="0" fill="hold" nodeType="withEffect">
                                  <p:stCondLst>
                                    <p:cond delay="0"/>
                                  </p:stCondLst>
                                  <p:childTnLst>
                                    <p:set>
                                      <p:cBhvr>
                                        <p:cTn id="68" dur="1" fill="hold">
                                          <p:stCondLst>
                                            <p:cond delay="0"/>
                                          </p:stCondLst>
                                        </p:cTn>
                                        <p:tgtEl>
                                          <p:spTgt spid="23"/>
                                        </p:tgtEl>
                                        <p:attrNameLst>
                                          <p:attrName>style.visibility</p:attrName>
                                        </p:attrNameLst>
                                      </p:cBhvr>
                                      <p:to>
                                        <p:strVal val="visible"/>
                                      </p:to>
                                    </p:set>
                                    <p:animEffect transition="in" filter="fade">
                                      <p:cBhvr>
                                        <p:cTn id="69" dur="400"/>
                                        <p:tgtEl>
                                          <p:spTgt spid="23"/>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4"/>
                                        </p:tgtEl>
                                        <p:attrNameLst>
                                          <p:attrName>style.visibility</p:attrName>
                                        </p:attrNameLst>
                                      </p:cBhvr>
                                      <p:to>
                                        <p:strVal val="visible"/>
                                      </p:to>
                                    </p:set>
                                    <p:animEffect transition="in" filter="fade">
                                      <p:cBhvr>
                                        <p:cTn id="72" dur="400"/>
                                        <p:tgtEl>
                                          <p:spTgt spid="24"/>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5"/>
                                        </p:tgtEl>
                                        <p:attrNameLst>
                                          <p:attrName>style.visibility</p:attrName>
                                        </p:attrNameLst>
                                      </p:cBhvr>
                                      <p:to>
                                        <p:strVal val="visible"/>
                                      </p:to>
                                    </p:set>
                                    <p:animEffect transition="in" filter="fade">
                                      <p:cBhvr>
                                        <p:cTn id="75" dur="400"/>
                                        <p:tgtEl>
                                          <p:spTgt spid="25"/>
                                        </p:tgtEl>
                                      </p:cBhvr>
                                    </p:animEffect>
                                  </p:childTnLst>
                                </p:cTn>
                              </p:par>
                              <p:par>
                                <p:cTn id="76" presetID="10" presetClass="entr" presetSubtype="0" fill="hold" nodeType="withEffect">
                                  <p:stCondLst>
                                    <p:cond delay="0"/>
                                  </p:stCondLst>
                                  <p:childTnLst>
                                    <p:set>
                                      <p:cBhvr>
                                        <p:cTn id="77" dur="1" fill="hold">
                                          <p:stCondLst>
                                            <p:cond delay="0"/>
                                          </p:stCondLst>
                                        </p:cTn>
                                        <p:tgtEl>
                                          <p:spTgt spid="26"/>
                                        </p:tgtEl>
                                        <p:attrNameLst>
                                          <p:attrName>style.visibility</p:attrName>
                                        </p:attrNameLst>
                                      </p:cBhvr>
                                      <p:to>
                                        <p:strVal val="visible"/>
                                      </p:to>
                                    </p:set>
                                    <p:animEffect transition="in" filter="fade">
                                      <p:cBhvr>
                                        <p:cTn id="78" dur="400"/>
                                        <p:tgtEl>
                                          <p:spTgt spid="26"/>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7"/>
                                        </p:tgtEl>
                                        <p:attrNameLst>
                                          <p:attrName>style.visibility</p:attrName>
                                        </p:attrNameLst>
                                      </p:cBhvr>
                                      <p:to>
                                        <p:strVal val="visible"/>
                                      </p:to>
                                    </p:set>
                                    <p:animEffect transition="in" filter="fade">
                                      <p:cBhvr>
                                        <p:cTn id="81" dur="400"/>
                                        <p:tgtEl>
                                          <p:spTgt spid="27"/>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28"/>
                                        </p:tgtEl>
                                        <p:attrNameLst>
                                          <p:attrName>style.visibility</p:attrName>
                                        </p:attrNameLst>
                                      </p:cBhvr>
                                      <p:to>
                                        <p:strVal val="visible"/>
                                      </p:to>
                                    </p:set>
                                    <p:animEffect transition="in" filter="fade">
                                      <p:cBhvr>
                                        <p:cTn id="84" dur="400"/>
                                        <p:tgtEl>
                                          <p:spTgt spid="28"/>
                                        </p:tgtEl>
                                      </p:cBhvr>
                                    </p:animEffect>
                                  </p:childTnLst>
                                </p:cTn>
                              </p:par>
                            </p:childTnLst>
                          </p:cTn>
                        </p:par>
                      </p:childTnLst>
                    </p:cTn>
                  </p:par>
                  <p:par>
                    <p:cTn id="111" fill="hold">
                      <p:stCondLst>
                        <p:cond delay="indefinite"/>
                      </p:stCondLst>
                      <p:childTnLst>
                        <p:par>
                          <p:cTn id="112" fill="hold">
                            <p:stCondLst>
                              <p:cond delay="0"/>
                            </p:stCondLst>
                            <p:childTnLst>
                              <p:par>
                                <p:cTn id="87" presetID="10" presetClass="entr" presetSubtype="0" fill="hold" nodeType="clickEffect">
                                  <p:stCondLst>
                                    <p:cond delay="0"/>
                                  </p:stCondLst>
                                  <p:childTnLst>
                                    <p:set>
                                      <p:cBhvr>
                                        <p:cTn id="88" dur="1" fill="hold">
                                          <p:stCondLst>
                                            <p:cond delay="0"/>
                                          </p:stCondLst>
                                        </p:cTn>
                                        <p:tgtEl>
                                          <p:spTgt spid="29"/>
                                        </p:tgtEl>
                                        <p:attrNameLst>
                                          <p:attrName>style.visibility</p:attrName>
                                        </p:attrNameLst>
                                      </p:cBhvr>
                                      <p:to>
                                        <p:strVal val="visible"/>
                                      </p:to>
                                    </p:set>
                                    <p:animEffect transition="in" filter="fade">
                                      <p:cBhvr>
                                        <p:cTn id="89" dur="400"/>
                                        <p:tgtEl>
                                          <p:spTgt spid="29"/>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30"/>
                                        </p:tgtEl>
                                        <p:attrNameLst>
                                          <p:attrName>style.visibility</p:attrName>
                                        </p:attrNameLst>
                                      </p:cBhvr>
                                      <p:to>
                                        <p:strVal val="visible"/>
                                      </p:to>
                                    </p:set>
                                    <p:animEffect transition="in" filter="fade">
                                      <p:cBhvr>
                                        <p:cTn id="92" dur="400"/>
                                        <p:tgtEl>
                                          <p:spTgt spid="30"/>
                                        </p:tgtEl>
                                      </p:cBhvr>
                                    </p:animEffect>
                                  </p:childTnLst>
                                </p:cTn>
                              </p:par>
                              <p:par>
                                <p:cTn id="93" presetID="10" presetClass="entr" presetSubtype="0" fill="hold" nodeType="withEffect">
                                  <p:stCondLst>
                                    <p:cond delay="0"/>
                                  </p:stCondLst>
                                  <p:childTnLst>
                                    <p:set>
                                      <p:cBhvr>
                                        <p:cTn id="94" dur="1" fill="hold">
                                          <p:stCondLst>
                                            <p:cond delay="0"/>
                                          </p:stCondLst>
                                        </p:cTn>
                                        <p:tgtEl>
                                          <p:spTgt spid="31"/>
                                        </p:tgtEl>
                                        <p:attrNameLst>
                                          <p:attrName>style.visibility</p:attrName>
                                        </p:attrNameLst>
                                      </p:cBhvr>
                                      <p:to>
                                        <p:strVal val="visible"/>
                                      </p:to>
                                    </p:set>
                                    <p:animEffect transition="in" filter="fade">
                                      <p:cBhvr>
                                        <p:cTn id="95" dur="400"/>
                                        <p:tgtEl>
                                          <p:spTgt spid="31"/>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32"/>
                                        </p:tgtEl>
                                        <p:attrNameLst>
                                          <p:attrName>style.visibility</p:attrName>
                                        </p:attrNameLst>
                                      </p:cBhvr>
                                      <p:to>
                                        <p:strVal val="visible"/>
                                      </p:to>
                                    </p:set>
                                    <p:animEffect transition="in" filter="fade">
                                      <p:cBhvr>
                                        <p:cTn id="98" dur="400"/>
                                        <p:tgtEl>
                                          <p:spTgt spid="32"/>
                                        </p:tgtEl>
                                      </p:cBhvr>
                                    </p:animEffect>
                                  </p:childTnLst>
                                </p:cTn>
                              </p:par>
                              <p:par>
                                <p:cTn id="99" presetID="10" presetClass="entr" presetSubtype="0" fill="hold" nodeType="withEffect">
                                  <p:stCondLst>
                                    <p:cond delay="0"/>
                                  </p:stCondLst>
                                  <p:childTnLst>
                                    <p:set>
                                      <p:cBhvr>
                                        <p:cTn id="100" dur="1" fill="hold">
                                          <p:stCondLst>
                                            <p:cond delay="0"/>
                                          </p:stCondLst>
                                        </p:cTn>
                                        <p:tgtEl>
                                          <p:spTgt spid="33"/>
                                        </p:tgtEl>
                                        <p:attrNameLst>
                                          <p:attrName>style.visibility</p:attrName>
                                        </p:attrNameLst>
                                      </p:cBhvr>
                                      <p:to>
                                        <p:strVal val="visible"/>
                                      </p:to>
                                    </p:set>
                                    <p:animEffect transition="in" filter="fade">
                                      <p:cBhvr>
                                        <p:cTn id="101" dur="400"/>
                                        <p:tgtEl>
                                          <p:spTgt spid="33"/>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34"/>
                                        </p:tgtEl>
                                        <p:attrNameLst>
                                          <p:attrName>style.visibility</p:attrName>
                                        </p:attrNameLst>
                                      </p:cBhvr>
                                      <p:to>
                                        <p:strVal val="visible"/>
                                      </p:to>
                                    </p:set>
                                    <p:animEffect transition="in" filter="fade">
                                      <p:cBhvr>
                                        <p:cTn id="104" dur="400"/>
                                        <p:tgtEl>
                                          <p:spTgt spid="34"/>
                                        </p:tgtEl>
                                      </p:cBhvr>
                                    </p:animEffect>
                                  </p:childTnLst>
                                </p:cTn>
                              </p:par>
                              <p:par>
                                <p:cTn id="105" presetID="10" presetClass="entr" presetSubtype="0" fill="hold" nodeType="withEffect">
                                  <p:stCondLst>
                                    <p:cond delay="0"/>
                                  </p:stCondLst>
                                  <p:childTnLst>
                                    <p:set>
                                      <p:cBhvr>
                                        <p:cTn id="106" dur="1" fill="hold">
                                          <p:stCondLst>
                                            <p:cond delay="0"/>
                                          </p:stCondLst>
                                        </p:cTn>
                                        <p:tgtEl>
                                          <p:spTgt spid="35"/>
                                        </p:tgtEl>
                                        <p:attrNameLst>
                                          <p:attrName>style.visibility</p:attrName>
                                        </p:attrNameLst>
                                      </p:cBhvr>
                                      <p:to>
                                        <p:strVal val="visible"/>
                                      </p:to>
                                    </p:set>
                                    <p:animEffect transition="in" filter="fade">
                                      <p:cBhvr>
                                        <p:cTn id="107" dur="400"/>
                                        <p:tgtEl>
                                          <p:spTgt spid="35"/>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36"/>
                                        </p:tgtEl>
                                        <p:attrNameLst>
                                          <p:attrName>style.visibility</p:attrName>
                                        </p:attrNameLst>
                                      </p:cBhvr>
                                      <p:to>
                                        <p:strVal val="visible"/>
                                      </p:to>
                                    </p:set>
                                    <p:animEffect transition="in" filter="fade">
                                      <p:cBhvr>
                                        <p:cTn id="110" dur="4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10" grpId="0"/>
      <p:bldP spid="12" grpId="0"/>
      <p:bldP spid="13" grpId="0"/>
      <p:bldP spid="15" grpId="0"/>
      <p:bldP spid="16" grpId="0"/>
      <p:bldP spid="18" grpId="0"/>
      <p:bldP spid="19" grpId="0"/>
      <p:bldP spid="21" grpId="0"/>
      <p:bldP spid="22" grpId="0"/>
      <p:bldP spid="24" grpId="0"/>
      <p:bldP spid="25" grpId="0"/>
      <p:bldP spid="27" grpId="0"/>
      <p:bldP spid="28" grpId="0"/>
      <p:bldP spid="30" grpId="0"/>
      <p:bldP spid="32" grpId="0"/>
      <p:bldP spid="34" grpId="0"/>
      <p:bldP spid="36" grpId="0"/>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2"/>
                </a:solidFill>
              </a:rPr>
              <a:t>Future path</a:t>
            </a:r>
            <a:endParaRPr lang="en-US" sz="3000" dirty="0"/>
          </a:p>
        </p:txBody>
      </p:sp>
      <p:sp>
        <p:nvSpPr>
          <p:cNvPr id="3" name="a1_road0_chev"/>
          <p:cNvSpPr/>
          <p:nvPr/>
        </p:nvSpPr>
        <p:spPr>
          <a:xfrm>
            <a:off x="548640" y="1463040"/>
            <a:ext cx="2697480" cy="685800"/>
          </a:xfrm>
          <a:prstGeom prst="chevron">
            <a:avLst/>
          </a:prstGeom>
          <a:solidFill>
            <a:schemeClr val="accent1"/>
          </a:solidFill>
          <a:ln w="12700">
            <a:solidFill>
              <a:schemeClr val="accent1"/>
            </a:solidFill>
            <a:prstDash val="solid"/>
          </a:ln>
        </p:spPr>
      </p:sp>
      <p:sp>
        <p:nvSpPr>
          <p:cNvPr id="4" name="a1_road0_phase"/>
          <p:cNvSpPr txBox="1"/>
          <p:nvPr/>
        </p:nvSpPr>
        <p:spPr>
          <a:xfrm>
            <a:off x="960120" y="1463040"/>
            <a:ext cx="1920240" cy="685800"/>
          </a:xfrm>
          <a:prstGeom prst="rect">
            <a:avLst/>
          </a:prstGeom>
          <a:noFill/>
          <a:ln/>
        </p:spPr>
        <p:txBody>
          <a:bodyPr wrap="square" lIns="0" tIns="0" rIns="0" bIns="0" rtlCol="0" anchor="ctr"/>
          <a:lstStyle/>
          <a:p>
            <a:pPr indent="0" marL="0">
              <a:buNone/>
            </a:pPr>
            <a:r>
              <a:rPr lang="en-US" sz="1500" b="1" dirty="0">
                <a:solidFill>
                  <a:schemeClr val="bg1"/>
                </a:solidFill>
              </a:rPr>
              <a:t>Phase 1</a:t>
            </a:r>
            <a:endParaRPr lang="en-US" sz="1500" dirty="0"/>
          </a:p>
        </p:txBody>
      </p:sp>
      <p:sp>
        <p:nvSpPr>
          <p:cNvPr id="5" name="a1_road0_card"/>
          <p:cNvSpPr/>
          <p:nvPr/>
        </p:nvSpPr>
        <p:spPr>
          <a:xfrm>
            <a:off x="548640" y="2423160"/>
            <a:ext cx="2606040" cy="3017520"/>
          </a:xfrm>
          <a:prstGeom prst="roundRect">
            <a:avLst>
              <a:gd name="adj" fmla="val 4211"/>
            </a:avLst>
          </a:prstGeom>
          <a:solidFill>
            <a:schemeClr val="bg2"/>
          </a:solidFill>
          <a:ln w="12700">
            <a:solidFill>
              <a:schemeClr val="bg2"/>
            </a:solidFill>
            <a:prstDash val="solid"/>
          </a:ln>
          <a:effectLst>
            <a:outerShdw sx="100000" sy="100000" kx="0" ky="0" algn="bl" rotWithShape="0" blurRad="76200" dist="25400" dir="5400000">
              <a:srgbClr val="7F9DB9">
                <a:alpha val="25000"/>
              </a:srgbClr>
            </a:outerShdw>
          </a:effectLst>
        </p:spPr>
      </p:sp>
      <p:sp>
        <p:nvSpPr>
          <p:cNvPr id="6" name="a1_road0_circle"/>
          <p:cNvSpPr/>
          <p:nvPr/>
        </p:nvSpPr>
        <p:spPr>
          <a:xfrm>
            <a:off x="822960" y="2697480"/>
            <a:ext cx="685800" cy="685800"/>
          </a:xfrm>
          <a:prstGeom prst="ellipse">
            <a:avLst/>
          </a:prstGeom>
          <a:solidFill>
            <a:schemeClr val="accent1"/>
          </a:solidFill>
          <a:ln w="12700">
            <a:solidFill>
              <a:schemeClr val="accent1"/>
            </a:solidFill>
            <a:prstDash val="solid"/>
          </a:ln>
        </p:spPr>
      </p:sp>
      <p:pic>
        <p:nvPicPr>
          <p:cNvPr id="7" name="a1_road0_icon" descr="preencoded.png">    </p:cNvPr>
          <p:cNvPicPr>
            <a:picLocks noChangeAspect="1"/>
          </p:cNvPicPr>
          <p:nvPr/>
        </p:nvPicPr>
        <p:blipFill>
          <a:blip r:embed="rId1"/>
          <a:stretch>
            <a:fillRect/>
          </a:stretch>
        </p:blipFill>
        <p:spPr>
          <a:xfrm>
            <a:off x="987552" y="2862072"/>
            <a:ext cx="356616" cy="356616"/>
          </a:xfrm>
          <a:prstGeom prst="rect">
            <a:avLst/>
          </a:prstGeom>
        </p:spPr>
      </p:pic>
      <p:sp>
        <p:nvSpPr>
          <p:cNvPr id="8" name="a1_road0_title"/>
          <p:cNvSpPr txBox="1"/>
          <p:nvPr/>
        </p:nvSpPr>
        <p:spPr>
          <a:xfrm>
            <a:off x="822960" y="3520440"/>
            <a:ext cx="2148840" cy="731520"/>
          </a:xfrm>
          <a:prstGeom prst="rect">
            <a:avLst/>
          </a:prstGeom>
          <a:noFill/>
          <a:ln/>
        </p:spPr>
        <p:txBody>
          <a:bodyPr wrap="square" lIns="0" tIns="0" rIns="0" bIns="0" rtlCol="0" anchor="t"/>
          <a:lstStyle/>
          <a:p>
            <a:pPr indent="0" marL="0">
              <a:buNone/>
            </a:pPr>
            <a:r>
              <a:rPr lang="en-US" sz="1600" b="1" dirty="0">
                <a:solidFill>
                  <a:schemeClr val="tx2"/>
                </a:solidFill>
              </a:rPr>
              <a:t>Complete the remaining flows</a:t>
            </a:r>
            <a:endParaRPr lang="en-US" sz="1600" dirty="0"/>
          </a:p>
        </p:txBody>
      </p:sp>
      <p:sp>
        <p:nvSpPr>
          <p:cNvPr id="9" name="a1_road0_text"/>
          <p:cNvSpPr txBox="1"/>
          <p:nvPr/>
        </p:nvSpPr>
        <p:spPr>
          <a:xfrm>
            <a:off x="822960" y="4297680"/>
            <a:ext cx="2148840" cy="1051560"/>
          </a:xfrm>
          <a:prstGeom prst="rect">
            <a:avLst/>
          </a:prstGeom>
          <a:noFill/>
          <a:ln/>
        </p:spPr>
        <p:txBody>
          <a:bodyPr wrap="square" lIns="0" tIns="0" rIns="0" bIns="0" rtlCol="0" anchor="t"/>
          <a:lstStyle/>
          <a:p>
            <a:pPr indent="0" marL="0">
              <a:buNone/>
            </a:pPr>
            <a:r>
              <a:rPr lang="en-US" sz="1300" dirty="0">
                <a:solidFill>
                  <a:schemeClr val="tx1"/>
                </a:solidFill>
              </a:rPr>
              <a:t>Credentials (certificates, federated), decommission, periodic review</a:t>
            </a:r>
            <a:endParaRPr lang="en-US" sz="1300" dirty="0"/>
          </a:p>
        </p:txBody>
      </p:sp>
      <p:sp>
        <p:nvSpPr>
          <p:cNvPr id="10" name="a2_road1_chev"/>
          <p:cNvSpPr/>
          <p:nvPr/>
        </p:nvSpPr>
        <p:spPr>
          <a:xfrm>
            <a:off x="3355848" y="1463040"/>
            <a:ext cx="2697480" cy="685800"/>
          </a:xfrm>
          <a:prstGeom prst="chevron">
            <a:avLst/>
          </a:prstGeom>
          <a:solidFill>
            <a:schemeClr val="accent2"/>
          </a:solidFill>
          <a:ln w="12700">
            <a:solidFill>
              <a:schemeClr val="accent2"/>
            </a:solidFill>
            <a:prstDash val="solid"/>
          </a:ln>
        </p:spPr>
      </p:sp>
      <p:sp>
        <p:nvSpPr>
          <p:cNvPr id="11" name="a2_road1_phase"/>
          <p:cNvSpPr txBox="1"/>
          <p:nvPr/>
        </p:nvSpPr>
        <p:spPr>
          <a:xfrm>
            <a:off x="3767328" y="1463040"/>
            <a:ext cx="1920240" cy="685800"/>
          </a:xfrm>
          <a:prstGeom prst="rect">
            <a:avLst/>
          </a:prstGeom>
          <a:noFill/>
          <a:ln/>
        </p:spPr>
        <p:txBody>
          <a:bodyPr wrap="square" lIns="0" tIns="0" rIns="0" bIns="0" rtlCol="0" anchor="ctr"/>
          <a:lstStyle/>
          <a:p>
            <a:pPr indent="0" marL="0">
              <a:buNone/>
            </a:pPr>
            <a:r>
              <a:rPr lang="en-US" sz="1500" b="1" dirty="0">
                <a:solidFill>
                  <a:schemeClr val="bg1"/>
                </a:solidFill>
              </a:rPr>
              <a:t>Phase 2</a:t>
            </a:r>
            <a:endParaRPr lang="en-US" sz="1500" dirty="0"/>
          </a:p>
        </p:txBody>
      </p:sp>
      <p:sp>
        <p:nvSpPr>
          <p:cNvPr id="12" name="a2_road1_card"/>
          <p:cNvSpPr/>
          <p:nvPr/>
        </p:nvSpPr>
        <p:spPr>
          <a:xfrm>
            <a:off x="3355848" y="2423160"/>
            <a:ext cx="2606040" cy="3017520"/>
          </a:xfrm>
          <a:prstGeom prst="roundRect">
            <a:avLst>
              <a:gd name="adj" fmla="val 4211"/>
            </a:avLst>
          </a:prstGeom>
          <a:solidFill>
            <a:schemeClr val="bg2"/>
          </a:solidFill>
          <a:ln w="12700">
            <a:solidFill>
              <a:schemeClr val="bg2"/>
            </a:solidFill>
            <a:prstDash val="solid"/>
          </a:ln>
          <a:effectLst>
            <a:outerShdw sx="100000" sy="100000" kx="0" ky="0" algn="bl" rotWithShape="0" blurRad="76200" dist="25400" dir="5400000">
              <a:srgbClr val="7F9DB9">
                <a:alpha val="25000"/>
              </a:srgbClr>
            </a:outerShdw>
          </a:effectLst>
        </p:spPr>
      </p:sp>
      <p:sp>
        <p:nvSpPr>
          <p:cNvPr id="13" name="a2_road1_circle"/>
          <p:cNvSpPr/>
          <p:nvPr/>
        </p:nvSpPr>
        <p:spPr>
          <a:xfrm>
            <a:off x="3630168" y="2697480"/>
            <a:ext cx="685800" cy="685800"/>
          </a:xfrm>
          <a:prstGeom prst="ellipse">
            <a:avLst/>
          </a:prstGeom>
          <a:solidFill>
            <a:schemeClr val="accent1"/>
          </a:solidFill>
          <a:ln w="12700">
            <a:solidFill>
              <a:schemeClr val="accent1"/>
            </a:solidFill>
            <a:prstDash val="solid"/>
          </a:ln>
        </p:spPr>
      </p:sp>
      <p:pic>
        <p:nvPicPr>
          <p:cNvPr id="14" name="a2_road1_icon" descr="preencoded.png">    </p:cNvPr>
          <p:cNvPicPr>
            <a:picLocks noChangeAspect="1"/>
          </p:cNvPicPr>
          <p:nvPr/>
        </p:nvPicPr>
        <p:blipFill>
          <a:blip r:embed="rId2"/>
          <a:stretch>
            <a:fillRect/>
          </a:stretch>
        </p:blipFill>
        <p:spPr>
          <a:xfrm>
            <a:off x="3794760" y="2862072"/>
            <a:ext cx="356616" cy="356616"/>
          </a:xfrm>
          <a:prstGeom prst="rect">
            <a:avLst/>
          </a:prstGeom>
        </p:spPr>
      </p:pic>
      <p:sp>
        <p:nvSpPr>
          <p:cNvPr id="15" name="a2_road1_title"/>
          <p:cNvSpPr txBox="1"/>
          <p:nvPr/>
        </p:nvSpPr>
        <p:spPr>
          <a:xfrm>
            <a:off x="3630168" y="3520440"/>
            <a:ext cx="2148840" cy="731520"/>
          </a:xfrm>
          <a:prstGeom prst="rect">
            <a:avLst/>
          </a:prstGeom>
          <a:noFill/>
          <a:ln/>
        </p:spPr>
        <p:txBody>
          <a:bodyPr wrap="square" lIns="0" tIns="0" rIns="0" bIns="0" rtlCol="0" anchor="t"/>
          <a:lstStyle/>
          <a:p>
            <a:pPr indent="0" marL="0">
              <a:buNone/>
            </a:pPr>
            <a:r>
              <a:rPr lang="en-US" sz="1600" b="1" dirty="0">
                <a:solidFill>
                  <a:schemeClr val="tx2"/>
                </a:solidFill>
              </a:rPr>
              <a:t>AppCatID on every identity</a:t>
            </a:r>
            <a:endParaRPr lang="en-US" sz="1600" dirty="0"/>
          </a:p>
        </p:txBody>
      </p:sp>
      <p:sp>
        <p:nvSpPr>
          <p:cNvPr id="16" name="a2_road1_text"/>
          <p:cNvSpPr txBox="1"/>
          <p:nvPr/>
        </p:nvSpPr>
        <p:spPr>
          <a:xfrm>
            <a:off x="3630168" y="4297680"/>
            <a:ext cx="2148840" cy="1051560"/>
          </a:xfrm>
          <a:prstGeom prst="rect">
            <a:avLst/>
          </a:prstGeom>
          <a:noFill/>
          <a:ln/>
        </p:spPr>
        <p:txBody>
          <a:bodyPr wrap="square" lIns="0" tIns="0" rIns="0" bIns="0" rtlCol="0" anchor="t"/>
          <a:lstStyle/>
          <a:p>
            <a:pPr indent="0" marL="0">
              <a:buNone/>
            </a:pPr>
            <a:r>
              <a:rPr lang="en-US" sz="1300" dirty="0">
                <a:solidFill>
                  <a:schemeClr val="tx1"/>
                </a:solidFill>
              </a:rPr>
              <a:t>Every identity the automation manages carries its business owner</a:t>
            </a:r>
            <a:endParaRPr lang="en-US" sz="1300" dirty="0"/>
          </a:p>
        </p:txBody>
      </p:sp>
      <p:sp>
        <p:nvSpPr>
          <p:cNvPr id="17" name="a3_road2_chev"/>
          <p:cNvSpPr/>
          <p:nvPr/>
        </p:nvSpPr>
        <p:spPr>
          <a:xfrm>
            <a:off x="6163056" y="1463040"/>
            <a:ext cx="2697480" cy="685800"/>
          </a:xfrm>
          <a:prstGeom prst="chevron">
            <a:avLst/>
          </a:prstGeom>
          <a:solidFill>
            <a:schemeClr val="accent2"/>
          </a:solidFill>
          <a:ln w="12700">
            <a:solidFill>
              <a:schemeClr val="accent2"/>
            </a:solidFill>
            <a:prstDash val="solid"/>
          </a:ln>
        </p:spPr>
      </p:sp>
      <p:sp>
        <p:nvSpPr>
          <p:cNvPr id="18" name="a3_road2_phase"/>
          <p:cNvSpPr txBox="1"/>
          <p:nvPr/>
        </p:nvSpPr>
        <p:spPr>
          <a:xfrm>
            <a:off x="6574536" y="1463040"/>
            <a:ext cx="1920240" cy="685800"/>
          </a:xfrm>
          <a:prstGeom prst="rect">
            <a:avLst/>
          </a:prstGeom>
          <a:noFill/>
          <a:ln/>
        </p:spPr>
        <p:txBody>
          <a:bodyPr wrap="square" lIns="0" tIns="0" rIns="0" bIns="0" rtlCol="0" anchor="ctr"/>
          <a:lstStyle/>
          <a:p>
            <a:pPr indent="0" marL="0">
              <a:buNone/>
            </a:pPr>
            <a:r>
              <a:rPr lang="en-US" sz="1500" b="1" dirty="0">
                <a:solidFill>
                  <a:schemeClr val="bg1"/>
                </a:solidFill>
              </a:rPr>
              <a:t>Phase 3</a:t>
            </a:r>
            <a:endParaRPr lang="en-US" sz="1500" dirty="0"/>
          </a:p>
        </p:txBody>
      </p:sp>
      <p:sp>
        <p:nvSpPr>
          <p:cNvPr id="19" name="a3_road2_card"/>
          <p:cNvSpPr/>
          <p:nvPr/>
        </p:nvSpPr>
        <p:spPr>
          <a:xfrm>
            <a:off x="6163056" y="2423160"/>
            <a:ext cx="2606040" cy="3017520"/>
          </a:xfrm>
          <a:prstGeom prst="roundRect">
            <a:avLst>
              <a:gd name="adj" fmla="val 4211"/>
            </a:avLst>
          </a:prstGeom>
          <a:solidFill>
            <a:schemeClr val="bg2"/>
          </a:solidFill>
          <a:ln w="12700">
            <a:solidFill>
              <a:schemeClr val="bg2"/>
            </a:solidFill>
            <a:prstDash val="solid"/>
          </a:ln>
          <a:effectLst>
            <a:outerShdw sx="100000" sy="100000" kx="0" ky="0" algn="bl" rotWithShape="0" blurRad="76200" dist="25400" dir="5400000">
              <a:srgbClr val="7F9DB9">
                <a:alpha val="25000"/>
              </a:srgbClr>
            </a:outerShdw>
          </a:effectLst>
        </p:spPr>
      </p:sp>
      <p:sp>
        <p:nvSpPr>
          <p:cNvPr id="20" name="a3_road2_circle"/>
          <p:cNvSpPr/>
          <p:nvPr/>
        </p:nvSpPr>
        <p:spPr>
          <a:xfrm>
            <a:off x="6437376" y="2697480"/>
            <a:ext cx="685800" cy="685800"/>
          </a:xfrm>
          <a:prstGeom prst="ellipse">
            <a:avLst/>
          </a:prstGeom>
          <a:solidFill>
            <a:schemeClr val="accent1"/>
          </a:solidFill>
          <a:ln w="12700">
            <a:solidFill>
              <a:schemeClr val="accent1"/>
            </a:solidFill>
            <a:prstDash val="solid"/>
          </a:ln>
        </p:spPr>
      </p:sp>
      <p:pic>
        <p:nvPicPr>
          <p:cNvPr id="21" name="a3_road2_icon" descr="preencoded.png">    </p:cNvPr>
          <p:cNvPicPr>
            <a:picLocks noChangeAspect="1"/>
          </p:cNvPicPr>
          <p:nvPr/>
        </p:nvPicPr>
        <p:blipFill>
          <a:blip r:embed="rId3"/>
          <a:stretch>
            <a:fillRect/>
          </a:stretch>
        </p:blipFill>
        <p:spPr>
          <a:xfrm>
            <a:off x="6601968" y="2862072"/>
            <a:ext cx="356616" cy="356616"/>
          </a:xfrm>
          <a:prstGeom prst="rect">
            <a:avLst/>
          </a:prstGeom>
        </p:spPr>
      </p:pic>
      <p:sp>
        <p:nvSpPr>
          <p:cNvPr id="22" name="a3_road2_title"/>
          <p:cNvSpPr txBox="1"/>
          <p:nvPr/>
        </p:nvSpPr>
        <p:spPr>
          <a:xfrm>
            <a:off x="6437376" y="3520440"/>
            <a:ext cx="2148840" cy="731520"/>
          </a:xfrm>
          <a:prstGeom prst="rect">
            <a:avLst/>
          </a:prstGeom>
          <a:noFill/>
          <a:ln/>
        </p:spPr>
        <p:txBody>
          <a:bodyPr wrap="square" lIns="0" tIns="0" rIns="0" bIns="0" rtlCol="0" anchor="t"/>
          <a:lstStyle/>
          <a:p>
            <a:pPr indent="0" marL="0">
              <a:buNone/>
            </a:pPr>
            <a:r>
              <a:rPr lang="en-US" sz="1600" b="1" dirty="0">
                <a:solidFill>
                  <a:schemeClr val="tx2"/>
                </a:solidFill>
              </a:rPr>
              <a:t>ServiceNow change, automatically</a:t>
            </a:r>
            <a:endParaRPr lang="en-US" sz="1600" dirty="0"/>
          </a:p>
        </p:txBody>
      </p:sp>
      <p:sp>
        <p:nvSpPr>
          <p:cNvPr id="23" name="a3_road2_text"/>
          <p:cNvSpPr txBox="1"/>
          <p:nvPr/>
        </p:nvSpPr>
        <p:spPr>
          <a:xfrm>
            <a:off x="6437376" y="4297680"/>
            <a:ext cx="2148840" cy="1051560"/>
          </a:xfrm>
          <a:prstGeom prst="rect">
            <a:avLst/>
          </a:prstGeom>
          <a:noFill/>
          <a:ln/>
        </p:spPr>
        <p:txBody>
          <a:bodyPr wrap="square" lIns="0" tIns="0" rIns="0" bIns="0" rtlCol="0" anchor="t"/>
          <a:lstStyle/>
          <a:p>
            <a:pPr indent="0" marL="0">
              <a:buNone/>
            </a:pPr>
            <a:r>
              <a:rPr lang="en-US" sz="1300" dirty="0">
                <a:solidFill>
                  <a:schemeClr val="tx1"/>
                </a:solidFill>
              </a:rPr>
              <a:t>A normal change is raised after manager approval</a:t>
            </a:r>
            <a:endParaRPr lang="en-US" sz="1300" dirty="0"/>
          </a:p>
        </p:txBody>
      </p:sp>
      <p:sp>
        <p:nvSpPr>
          <p:cNvPr id="24" name="a4_road3_chev"/>
          <p:cNvSpPr/>
          <p:nvPr/>
        </p:nvSpPr>
        <p:spPr>
          <a:xfrm>
            <a:off x="8970264" y="1463040"/>
            <a:ext cx="2697480" cy="685800"/>
          </a:xfrm>
          <a:prstGeom prst="chevron">
            <a:avLst/>
          </a:prstGeom>
          <a:solidFill>
            <a:schemeClr val="accent2"/>
          </a:solidFill>
          <a:ln w="12700">
            <a:solidFill>
              <a:schemeClr val="accent2"/>
            </a:solidFill>
            <a:prstDash val="solid"/>
          </a:ln>
        </p:spPr>
      </p:sp>
      <p:sp>
        <p:nvSpPr>
          <p:cNvPr id="25" name="a4_road3_phase"/>
          <p:cNvSpPr txBox="1"/>
          <p:nvPr/>
        </p:nvSpPr>
        <p:spPr>
          <a:xfrm>
            <a:off x="9381744" y="1463040"/>
            <a:ext cx="1920240" cy="685800"/>
          </a:xfrm>
          <a:prstGeom prst="rect">
            <a:avLst/>
          </a:prstGeom>
          <a:noFill/>
          <a:ln/>
        </p:spPr>
        <p:txBody>
          <a:bodyPr wrap="square" lIns="0" tIns="0" rIns="0" bIns="0" rtlCol="0" anchor="ctr"/>
          <a:lstStyle/>
          <a:p>
            <a:pPr indent="0" marL="0">
              <a:buNone/>
            </a:pPr>
            <a:r>
              <a:rPr lang="en-US" sz="1500" b="1" dirty="0">
                <a:solidFill>
                  <a:schemeClr val="bg1"/>
                </a:solidFill>
              </a:rPr>
              <a:t>Phase 4</a:t>
            </a:r>
            <a:endParaRPr lang="en-US" sz="1500" dirty="0"/>
          </a:p>
        </p:txBody>
      </p:sp>
      <p:sp>
        <p:nvSpPr>
          <p:cNvPr id="26" name="a4_road3_card"/>
          <p:cNvSpPr/>
          <p:nvPr/>
        </p:nvSpPr>
        <p:spPr>
          <a:xfrm>
            <a:off x="8970264" y="2423160"/>
            <a:ext cx="2606040" cy="3017520"/>
          </a:xfrm>
          <a:prstGeom prst="roundRect">
            <a:avLst>
              <a:gd name="adj" fmla="val 4211"/>
            </a:avLst>
          </a:prstGeom>
          <a:solidFill>
            <a:schemeClr val="bg2"/>
          </a:solidFill>
          <a:ln w="12700">
            <a:solidFill>
              <a:schemeClr val="bg2"/>
            </a:solidFill>
            <a:prstDash val="solid"/>
          </a:ln>
          <a:effectLst>
            <a:outerShdw sx="100000" sy="100000" kx="0" ky="0" algn="bl" rotWithShape="0" blurRad="76200" dist="25400" dir="5400000">
              <a:srgbClr val="7F9DB9">
                <a:alpha val="25000"/>
              </a:srgbClr>
            </a:outerShdw>
          </a:effectLst>
        </p:spPr>
      </p:sp>
      <p:sp>
        <p:nvSpPr>
          <p:cNvPr id="27" name="a4_road3_circle"/>
          <p:cNvSpPr/>
          <p:nvPr/>
        </p:nvSpPr>
        <p:spPr>
          <a:xfrm>
            <a:off x="9244584" y="2697480"/>
            <a:ext cx="685800" cy="685800"/>
          </a:xfrm>
          <a:prstGeom prst="ellipse">
            <a:avLst/>
          </a:prstGeom>
          <a:solidFill>
            <a:schemeClr val="accent1"/>
          </a:solidFill>
          <a:ln w="12700">
            <a:solidFill>
              <a:schemeClr val="accent1"/>
            </a:solidFill>
            <a:prstDash val="solid"/>
          </a:ln>
        </p:spPr>
      </p:sp>
      <p:pic>
        <p:nvPicPr>
          <p:cNvPr id="28" name="a4_road3_icon" descr="preencoded.png">    </p:cNvPr>
          <p:cNvPicPr>
            <a:picLocks noChangeAspect="1"/>
          </p:cNvPicPr>
          <p:nvPr/>
        </p:nvPicPr>
        <p:blipFill>
          <a:blip r:embed="rId4"/>
          <a:stretch>
            <a:fillRect/>
          </a:stretch>
        </p:blipFill>
        <p:spPr>
          <a:xfrm>
            <a:off x="9409176" y="2862072"/>
            <a:ext cx="356616" cy="356616"/>
          </a:xfrm>
          <a:prstGeom prst="rect">
            <a:avLst/>
          </a:prstGeom>
        </p:spPr>
      </p:pic>
      <p:sp>
        <p:nvSpPr>
          <p:cNvPr id="29" name="a4_road3_title"/>
          <p:cNvSpPr txBox="1"/>
          <p:nvPr/>
        </p:nvSpPr>
        <p:spPr>
          <a:xfrm>
            <a:off x="9244584" y="3520440"/>
            <a:ext cx="2148840" cy="731520"/>
          </a:xfrm>
          <a:prstGeom prst="rect">
            <a:avLst/>
          </a:prstGeom>
          <a:noFill/>
          <a:ln/>
        </p:spPr>
        <p:txBody>
          <a:bodyPr wrap="square" lIns="0" tIns="0" rIns="0" bIns="0" rtlCol="0" anchor="t"/>
          <a:lstStyle/>
          <a:p>
            <a:pPr indent="0" marL="0">
              <a:buNone/>
            </a:pPr>
            <a:r>
              <a:rPr lang="en-US" sz="1600" b="1" dirty="0">
                <a:solidFill>
                  <a:schemeClr val="tx2"/>
                </a:solidFill>
              </a:rPr>
              <a:t>Easier approvals in Teams</a:t>
            </a:r>
            <a:endParaRPr lang="en-US" sz="1600" dirty="0"/>
          </a:p>
        </p:txBody>
      </p:sp>
      <p:sp>
        <p:nvSpPr>
          <p:cNvPr id="30" name="a4_road3_text"/>
          <p:cNvSpPr txBox="1"/>
          <p:nvPr/>
        </p:nvSpPr>
        <p:spPr>
          <a:xfrm>
            <a:off x="9244584" y="4297680"/>
            <a:ext cx="2148840" cy="1051560"/>
          </a:xfrm>
          <a:prstGeom prst="rect">
            <a:avLst/>
          </a:prstGeom>
          <a:noFill/>
          <a:ln/>
        </p:spPr>
        <p:txBody>
          <a:bodyPr wrap="square" lIns="0" tIns="0" rIns="0" bIns="0" rtlCol="0" anchor="t"/>
          <a:lstStyle/>
          <a:p>
            <a:pPr indent="0" marL="0">
              <a:buNone/>
            </a:pPr>
            <a:r>
              <a:rPr lang="en-US" sz="1300" dirty="0">
                <a:solidFill>
                  <a:schemeClr val="tx1"/>
                </a:solidFill>
              </a:rPr>
              <a:t>Non-prod approvals posted to a Teams channel or chat</a:t>
            </a:r>
            <a:endParaRPr lang="en-US" sz="1300" dirty="0"/>
          </a:p>
        </p:txBody>
      </p:sp>
      <p:sp>
        <p:nvSpPr>
          <p:cNvPr id="31" name="road_note"/>
          <p:cNvSpPr txBox="1"/>
          <p:nvPr/>
        </p:nvSpPr>
        <p:spPr>
          <a:xfrm>
            <a:off x="548640" y="5715000"/>
            <a:ext cx="8229600" cy="320040"/>
          </a:xfrm>
          <a:prstGeom prst="rect">
            <a:avLst/>
          </a:prstGeom>
          <a:noFill/>
          <a:ln/>
        </p:spPr>
        <p:txBody>
          <a:bodyPr wrap="square" lIns="0" tIns="0" rIns="0" bIns="0" rtlCol="0" anchor="t"/>
          <a:lstStyle/>
          <a:p>
            <a:pPr indent="0" marL="0">
              <a:buNone/>
            </a:pPr>
            <a:r>
              <a:rPr lang="en-US" sz="1100" dirty="0">
                <a:solidFill>
                  <a:schemeClr val="accent6"/>
                </a:solidFill>
              </a:rPr>
              <a:t>Order and timing to agree together; phase 3 design on the next slide.</a:t>
            </a:r>
            <a:endParaRPr lang="en-US" sz="11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timing>
    <p:tnLst>
      <p:par>
        <p:cTn id="1" dur="indefinite" restart="never" nodeType="tmRoot">
          <p:childTnLst>
            <p:seq concurrent="1" nextAc="seek">
              <p:cTn id="2" dur="indefinite" nodeType="mainSeq">
                <p:childTnLst>
                  <p:par>
                    <p:cTn id="24" fill="hold">
                      <p:stCondLst>
                        <p:cond delay="indefinite"/>
                      </p:stCondLst>
                      <p:childTnLst>
                        <p:par>
                          <p:cTn id="25"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400"/>
                                        <p:tgtEl>
                                          <p:spTgt spid="3"/>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400"/>
                                        <p:tgtEl>
                                          <p:spTgt spid="4"/>
                                        </p:tgtEl>
                                      </p:cBhvr>
                                    </p:animEffect>
                                  </p:childTnLst>
                                </p:cTn>
                              </p:par>
                              <p:par>
                                <p:cTn id="9" presetID="10" presetClass="entr" presetSubtype="0" fill="hold" nodeType="with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400"/>
                                        <p:tgtEl>
                                          <p:spTgt spid="5"/>
                                        </p:tgtEl>
                                      </p:cBhvr>
                                    </p:animEffect>
                                  </p:childTnLst>
                                </p:cTn>
                              </p:par>
                              <p:par>
                                <p:cTn id="12" presetID="10" presetClass="entr" presetSubtype="0" fill="hold"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400"/>
                                        <p:tgtEl>
                                          <p:spTgt spid="6"/>
                                        </p:tgtEl>
                                      </p:cBhvr>
                                    </p:animEffect>
                                  </p:childTnLst>
                                </p:cTn>
                              </p:par>
                              <p:par>
                                <p:cTn id="15" presetID="10"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400"/>
                                        <p:tgtEl>
                                          <p:spTgt spid="7"/>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400"/>
                                        <p:tgtEl>
                                          <p:spTgt spid="8"/>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400"/>
                                        <p:tgtEl>
                                          <p:spTgt spid="9"/>
                                        </p:tgtEl>
                                      </p:cBhvr>
                                    </p:animEffect>
                                  </p:childTnLst>
                                </p:cTn>
                              </p:par>
                            </p:childTnLst>
                          </p:cTn>
                        </p:par>
                      </p:childTnLst>
                    </p:cTn>
                  </p:par>
                  <p:par>
                    <p:cTn id="47" fill="hold">
                      <p:stCondLst>
                        <p:cond delay="indefinite"/>
                      </p:stCondLst>
                      <p:childTnLst>
                        <p:par>
                          <p:cTn id="48"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400"/>
                                        <p:tgtEl>
                                          <p:spTgt spid="1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400"/>
                                        <p:tgtEl>
                                          <p:spTgt spid="11"/>
                                        </p:tgtEl>
                                      </p:cBhvr>
                                    </p:animEffect>
                                  </p:childTnLst>
                                </p:cTn>
                              </p:par>
                              <p:par>
                                <p:cTn id="32" presetID="10" presetClass="entr" presetSubtype="0" fill="hold"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400"/>
                                        <p:tgtEl>
                                          <p:spTgt spid="12"/>
                                        </p:tgtEl>
                                      </p:cBhvr>
                                    </p:animEffect>
                                  </p:childTnLst>
                                </p:cTn>
                              </p:par>
                              <p:par>
                                <p:cTn id="35" presetID="10" presetClass="entr" presetSubtype="0" fill="hold" nodeType="with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400"/>
                                        <p:tgtEl>
                                          <p:spTgt spid="13"/>
                                        </p:tgtEl>
                                      </p:cBhvr>
                                    </p:animEffect>
                                  </p:childTnLst>
                                </p:cTn>
                              </p:par>
                              <p:par>
                                <p:cTn id="38" presetID="10" presetClass="entr" presetSubtype="0" fill="hold" nodeType="with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400"/>
                                        <p:tgtEl>
                                          <p:spTgt spid="14"/>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400"/>
                                        <p:tgtEl>
                                          <p:spTgt spid="15"/>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400"/>
                                        <p:tgtEl>
                                          <p:spTgt spid="16"/>
                                        </p:tgtEl>
                                      </p:cBhvr>
                                    </p:animEffect>
                                  </p:childTnLst>
                                </p:cTn>
                              </p:par>
                            </p:childTnLst>
                          </p:cTn>
                        </p:par>
                      </p:childTnLst>
                    </p:cTn>
                  </p:par>
                  <p:par>
                    <p:cTn id="70" fill="hold">
                      <p:stCondLst>
                        <p:cond delay="indefinite"/>
                      </p:stCondLst>
                      <p:childTnLst>
                        <p:par>
                          <p:cTn id="71"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17"/>
                                        </p:tgtEl>
                                        <p:attrNameLst>
                                          <p:attrName>style.visibility</p:attrName>
                                        </p:attrNameLst>
                                      </p:cBhvr>
                                      <p:to>
                                        <p:strVal val="visible"/>
                                      </p:to>
                                    </p:set>
                                    <p:animEffect transition="in" filter="fade">
                                      <p:cBhvr>
                                        <p:cTn id="51" dur="400"/>
                                        <p:tgtEl>
                                          <p:spTgt spid="17"/>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8"/>
                                        </p:tgtEl>
                                        <p:attrNameLst>
                                          <p:attrName>style.visibility</p:attrName>
                                        </p:attrNameLst>
                                      </p:cBhvr>
                                      <p:to>
                                        <p:strVal val="visible"/>
                                      </p:to>
                                    </p:set>
                                    <p:animEffect transition="in" filter="fade">
                                      <p:cBhvr>
                                        <p:cTn id="54" dur="400"/>
                                        <p:tgtEl>
                                          <p:spTgt spid="18"/>
                                        </p:tgtEl>
                                      </p:cBhvr>
                                    </p:animEffect>
                                  </p:childTnLst>
                                </p:cTn>
                              </p:par>
                              <p:par>
                                <p:cTn id="55" presetID="10" presetClass="entr" presetSubtype="0" fill="hold" nodeType="with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fade">
                                      <p:cBhvr>
                                        <p:cTn id="57" dur="400"/>
                                        <p:tgtEl>
                                          <p:spTgt spid="19"/>
                                        </p:tgtEl>
                                      </p:cBhvr>
                                    </p:animEffect>
                                  </p:childTnLst>
                                </p:cTn>
                              </p:par>
                              <p:par>
                                <p:cTn id="58" presetID="10" presetClass="entr" presetSubtype="0" fill="hold" nodeType="withEffect">
                                  <p:stCondLst>
                                    <p:cond delay="0"/>
                                  </p:stCondLst>
                                  <p:childTnLst>
                                    <p:set>
                                      <p:cBhvr>
                                        <p:cTn id="59" dur="1" fill="hold">
                                          <p:stCondLst>
                                            <p:cond delay="0"/>
                                          </p:stCondLst>
                                        </p:cTn>
                                        <p:tgtEl>
                                          <p:spTgt spid="20"/>
                                        </p:tgtEl>
                                        <p:attrNameLst>
                                          <p:attrName>style.visibility</p:attrName>
                                        </p:attrNameLst>
                                      </p:cBhvr>
                                      <p:to>
                                        <p:strVal val="visible"/>
                                      </p:to>
                                    </p:set>
                                    <p:animEffect transition="in" filter="fade">
                                      <p:cBhvr>
                                        <p:cTn id="60" dur="400"/>
                                        <p:tgtEl>
                                          <p:spTgt spid="20"/>
                                        </p:tgtEl>
                                      </p:cBhvr>
                                    </p:animEffect>
                                  </p:childTnLst>
                                </p:cTn>
                              </p:par>
                              <p:par>
                                <p:cTn id="61" presetID="10" presetClass="entr" presetSubtype="0" fill="hold" nodeType="with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400"/>
                                        <p:tgtEl>
                                          <p:spTgt spid="21"/>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2"/>
                                        </p:tgtEl>
                                        <p:attrNameLst>
                                          <p:attrName>style.visibility</p:attrName>
                                        </p:attrNameLst>
                                      </p:cBhvr>
                                      <p:to>
                                        <p:strVal val="visible"/>
                                      </p:to>
                                    </p:set>
                                    <p:animEffect transition="in" filter="fade">
                                      <p:cBhvr>
                                        <p:cTn id="66" dur="400"/>
                                        <p:tgtEl>
                                          <p:spTgt spid="22"/>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3"/>
                                        </p:tgtEl>
                                        <p:attrNameLst>
                                          <p:attrName>style.visibility</p:attrName>
                                        </p:attrNameLst>
                                      </p:cBhvr>
                                      <p:to>
                                        <p:strVal val="visible"/>
                                      </p:to>
                                    </p:set>
                                    <p:animEffect transition="in" filter="fade">
                                      <p:cBhvr>
                                        <p:cTn id="69" dur="400"/>
                                        <p:tgtEl>
                                          <p:spTgt spid="23"/>
                                        </p:tgtEl>
                                      </p:cBhvr>
                                    </p:animEffect>
                                  </p:childTnLst>
                                </p:cTn>
                              </p:par>
                            </p:childTnLst>
                          </p:cTn>
                        </p:par>
                      </p:childTnLst>
                    </p:cTn>
                  </p:par>
                  <p:par>
                    <p:cTn id="93" fill="hold">
                      <p:stCondLst>
                        <p:cond delay="indefinite"/>
                      </p:stCondLst>
                      <p:childTnLst>
                        <p:par>
                          <p:cTn id="94" fill="hold">
                            <p:stCondLst>
                              <p:cond delay="0"/>
                            </p:stCondLst>
                            <p:childTnLst>
                              <p:par>
                                <p:cTn id="72" presetID="10" presetClass="entr" presetSubtype="0" fill="hold" nodeType="clickEffect">
                                  <p:stCondLst>
                                    <p:cond delay="0"/>
                                  </p:stCondLst>
                                  <p:childTnLst>
                                    <p:set>
                                      <p:cBhvr>
                                        <p:cTn id="73" dur="1" fill="hold">
                                          <p:stCondLst>
                                            <p:cond delay="0"/>
                                          </p:stCondLst>
                                        </p:cTn>
                                        <p:tgtEl>
                                          <p:spTgt spid="24"/>
                                        </p:tgtEl>
                                        <p:attrNameLst>
                                          <p:attrName>style.visibility</p:attrName>
                                        </p:attrNameLst>
                                      </p:cBhvr>
                                      <p:to>
                                        <p:strVal val="visible"/>
                                      </p:to>
                                    </p:set>
                                    <p:animEffect transition="in" filter="fade">
                                      <p:cBhvr>
                                        <p:cTn id="74" dur="400"/>
                                        <p:tgtEl>
                                          <p:spTgt spid="24"/>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5"/>
                                        </p:tgtEl>
                                        <p:attrNameLst>
                                          <p:attrName>style.visibility</p:attrName>
                                        </p:attrNameLst>
                                      </p:cBhvr>
                                      <p:to>
                                        <p:strVal val="visible"/>
                                      </p:to>
                                    </p:set>
                                    <p:animEffect transition="in" filter="fade">
                                      <p:cBhvr>
                                        <p:cTn id="77" dur="400"/>
                                        <p:tgtEl>
                                          <p:spTgt spid="25"/>
                                        </p:tgtEl>
                                      </p:cBhvr>
                                    </p:animEffect>
                                  </p:childTnLst>
                                </p:cTn>
                              </p:par>
                              <p:par>
                                <p:cTn id="78" presetID="10" presetClass="entr" presetSubtype="0" fill="hold" nodeType="withEffect">
                                  <p:stCondLst>
                                    <p:cond delay="0"/>
                                  </p:stCondLst>
                                  <p:childTnLst>
                                    <p:set>
                                      <p:cBhvr>
                                        <p:cTn id="79" dur="1" fill="hold">
                                          <p:stCondLst>
                                            <p:cond delay="0"/>
                                          </p:stCondLst>
                                        </p:cTn>
                                        <p:tgtEl>
                                          <p:spTgt spid="26"/>
                                        </p:tgtEl>
                                        <p:attrNameLst>
                                          <p:attrName>style.visibility</p:attrName>
                                        </p:attrNameLst>
                                      </p:cBhvr>
                                      <p:to>
                                        <p:strVal val="visible"/>
                                      </p:to>
                                    </p:set>
                                    <p:animEffect transition="in" filter="fade">
                                      <p:cBhvr>
                                        <p:cTn id="80" dur="400"/>
                                        <p:tgtEl>
                                          <p:spTgt spid="26"/>
                                        </p:tgtEl>
                                      </p:cBhvr>
                                    </p:animEffect>
                                  </p:childTnLst>
                                </p:cTn>
                              </p:par>
                              <p:par>
                                <p:cTn id="81" presetID="10" presetClass="entr" presetSubtype="0" fill="hold" nodeType="withEffect">
                                  <p:stCondLst>
                                    <p:cond delay="0"/>
                                  </p:stCondLst>
                                  <p:childTnLst>
                                    <p:set>
                                      <p:cBhvr>
                                        <p:cTn id="82" dur="1" fill="hold">
                                          <p:stCondLst>
                                            <p:cond delay="0"/>
                                          </p:stCondLst>
                                        </p:cTn>
                                        <p:tgtEl>
                                          <p:spTgt spid="27"/>
                                        </p:tgtEl>
                                        <p:attrNameLst>
                                          <p:attrName>style.visibility</p:attrName>
                                        </p:attrNameLst>
                                      </p:cBhvr>
                                      <p:to>
                                        <p:strVal val="visible"/>
                                      </p:to>
                                    </p:set>
                                    <p:animEffect transition="in" filter="fade">
                                      <p:cBhvr>
                                        <p:cTn id="83" dur="400"/>
                                        <p:tgtEl>
                                          <p:spTgt spid="27"/>
                                        </p:tgtEl>
                                      </p:cBhvr>
                                    </p:animEffect>
                                  </p:childTnLst>
                                </p:cTn>
                              </p:par>
                              <p:par>
                                <p:cTn id="84" presetID="10" presetClass="entr" presetSubtype="0" fill="hold" nodeType="withEffect">
                                  <p:stCondLst>
                                    <p:cond delay="0"/>
                                  </p:stCondLst>
                                  <p:childTnLst>
                                    <p:set>
                                      <p:cBhvr>
                                        <p:cTn id="85" dur="1" fill="hold">
                                          <p:stCondLst>
                                            <p:cond delay="0"/>
                                          </p:stCondLst>
                                        </p:cTn>
                                        <p:tgtEl>
                                          <p:spTgt spid="28"/>
                                        </p:tgtEl>
                                        <p:attrNameLst>
                                          <p:attrName>style.visibility</p:attrName>
                                        </p:attrNameLst>
                                      </p:cBhvr>
                                      <p:to>
                                        <p:strVal val="visible"/>
                                      </p:to>
                                    </p:set>
                                    <p:animEffect transition="in" filter="fade">
                                      <p:cBhvr>
                                        <p:cTn id="86" dur="400"/>
                                        <p:tgtEl>
                                          <p:spTgt spid="28"/>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29"/>
                                        </p:tgtEl>
                                        <p:attrNameLst>
                                          <p:attrName>style.visibility</p:attrName>
                                        </p:attrNameLst>
                                      </p:cBhvr>
                                      <p:to>
                                        <p:strVal val="visible"/>
                                      </p:to>
                                    </p:set>
                                    <p:animEffect transition="in" filter="fade">
                                      <p:cBhvr>
                                        <p:cTn id="89" dur="400"/>
                                        <p:tgtEl>
                                          <p:spTgt spid="29"/>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30"/>
                                        </p:tgtEl>
                                        <p:attrNameLst>
                                          <p:attrName>style.visibility</p:attrName>
                                        </p:attrNameLst>
                                      </p:cBhvr>
                                      <p:to>
                                        <p:strVal val="visible"/>
                                      </p:to>
                                    </p:set>
                                    <p:animEffect transition="in" filter="fade">
                                      <p:cBhvr>
                                        <p:cTn id="92"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P spid="9" grpId="0"/>
      <p:bldP spid="11" grpId="0"/>
      <p:bldP spid="15" grpId="0"/>
      <p:bldP spid="16" grpId="0"/>
      <p:bldP spid="18" grpId="0"/>
      <p:bldP spid="22" grpId="0"/>
      <p:bldP spid="23" grpId="0"/>
      <p:bldP spid="25" grpId="0"/>
      <p:bldP spid="29" grpId="0"/>
      <p:bldP spid="30" grpId="0"/>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2"/>
                </a:solidFill>
              </a:rPr>
              <a:t>Phase 3 design: ServiceNow normal change after approval</a:t>
            </a:r>
            <a:endParaRPr lang="en-US" sz="3000" dirty="0"/>
          </a:p>
        </p:txBody>
      </p:sp>
      <p:pic>
        <p:nvPicPr>
          <p:cNvPr id="3" name="sn_diagram" descr="Future ServiceNow integration: raise a normal change, run when the change reaches Implement, then close it">    </p:cNvPr>
          <p:cNvPicPr>
            <a:picLocks noChangeAspect="1"/>
          </p:cNvPicPr>
          <p:nvPr/>
        </p:nvPicPr>
        <p:blipFill>
          <a:blip r:embed="rId1"/>
          <a:stretch>
            <a:fillRect/>
          </a:stretch>
        </p:blipFill>
        <p:spPr>
          <a:xfrm>
            <a:off x="1667758" y="1188720"/>
            <a:ext cx="8856180" cy="5074920"/>
          </a:xfrm>
          <a:prstGeom prst="rect">
            <a:avLst/>
          </a:prstGeom>
        </p:spPr>
      </p:pic>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2"/>
                </a:solidFill>
              </a:rPr>
              <a:t>What helps us deliver quickly</a:t>
            </a:r>
            <a:endParaRPr lang="en-US" sz="3000" dirty="0"/>
          </a:p>
        </p:txBody>
      </p:sp>
      <p:sp>
        <p:nvSpPr>
          <p:cNvPr id="3" name="a1_pillar0_card"/>
          <p:cNvSpPr/>
          <p:nvPr/>
        </p:nvSpPr>
        <p:spPr>
          <a:xfrm>
            <a:off x="548640" y="1554480"/>
            <a:ext cx="5394960" cy="3566160"/>
          </a:xfrm>
          <a:prstGeom prst="roundRect">
            <a:avLst>
              <a:gd name="adj" fmla="val 3077"/>
            </a:avLst>
          </a:prstGeom>
          <a:solidFill>
            <a:schemeClr val="bg2"/>
          </a:solidFill>
          <a:ln w="12700">
            <a:solidFill>
              <a:schemeClr val="bg2"/>
            </a:solidFill>
            <a:prstDash val="solid"/>
          </a:ln>
          <a:effectLst>
            <a:outerShdw sx="100000" sy="100000" kx="0" ky="0" algn="bl" rotWithShape="0" blurRad="76200" dist="25400" dir="5400000">
              <a:srgbClr val="7F9DB9">
                <a:alpha val="25000"/>
              </a:srgbClr>
            </a:outerShdw>
          </a:effectLst>
        </p:spPr>
      </p:sp>
      <p:sp>
        <p:nvSpPr>
          <p:cNvPr id="4" name="a1_pillar0_circle"/>
          <p:cNvSpPr/>
          <p:nvPr/>
        </p:nvSpPr>
        <p:spPr>
          <a:xfrm>
            <a:off x="868680" y="1874520"/>
            <a:ext cx="914400" cy="914400"/>
          </a:xfrm>
          <a:prstGeom prst="ellipse">
            <a:avLst/>
          </a:prstGeom>
          <a:solidFill>
            <a:schemeClr val="accent1"/>
          </a:solidFill>
          <a:ln w="12700">
            <a:solidFill>
              <a:schemeClr val="accent1"/>
            </a:solidFill>
            <a:prstDash val="solid"/>
          </a:ln>
        </p:spPr>
      </p:sp>
      <p:pic>
        <p:nvPicPr>
          <p:cNvPr id="5" name="a1_pillar0_icon" descr="preencoded.png">    </p:cNvPr>
          <p:cNvPicPr>
            <a:picLocks noChangeAspect="1"/>
          </p:cNvPicPr>
          <p:nvPr/>
        </p:nvPicPr>
        <p:blipFill>
          <a:blip r:embed="rId1"/>
          <a:stretch>
            <a:fillRect/>
          </a:stretch>
        </p:blipFill>
        <p:spPr>
          <a:xfrm>
            <a:off x="1088136" y="2093976"/>
            <a:ext cx="475488" cy="475488"/>
          </a:xfrm>
          <a:prstGeom prst="rect">
            <a:avLst/>
          </a:prstGeom>
        </p:spPr>
      </p:pic>
      <p:sp>
        <p:nvSpPr>
          <p:cNvPr id="6" name="a1_pillar0_head"/>
          <p:cNvSpPr txBox="1"/>
          <p:nvPr/>
        </p:nvSpPr>
        <p:spPr>
          <a:xfrm>
            <a:off x="2011680" y="1965960"/>
            <a:ext cx="3657600" cy="731520"/>
          </a:xfrm>
          <a:prstGeom prst="rect">
            <a:avLst/>
          </a:prstGeom>
          <a:noFill/>
          <a:ln/>
        </p:spPr>
        <p:txBody>
          <a:bodyPr wrap="square" lIns="0" tIns="0" rIns="0" bIns="0" rtlCol="0" anchor="ctr"/>
          <a:lstStyle/>
          <a:p>
            <a:pPr indent="0" marL="0">
              <a:buNone/>
            </a:pPr>
            <a:r>
              <a:rPr lang="en-US" sz="2200" b="1" dirty="0">
                <a:solidFill>
                  <a:schemeClr val="tx2"/>
                </a:solidFill>
              </a:rPr>
              <a:t>Knowledge</a:t>
            </a:r>
            <a:endParaRPr lang="en-US" sz="2200" dirty="0"/>
          </a:p>
        </p:txBody>
      </p:sp>
      <p:sp>
        <p:nvSpPr>
          <p:cNvPr id="7" name="a1_pillar0_list"/>
          <p:cNvSpPr txBox="1"/>
          <p:nvPr/>
        </p:nvSpPr>
        <p:spPr>
          <a:xfrm>
            <a:off x="914400" y="3108960"/>
            <a:ext cx="4754880" cy="182880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chemeClr val="tx1"/>
                </a:solidFill>
              </a:rPr>
              <a:t>Your platform standards and naming conventions</a:t>
            </a:r>
            <a:endParaRPr lang="en-US" sz="1600" dirty="0"/>
          </a:p>
          <a:p>
            <a:pPr marL="342900" indent="-342900">
              <a:spcAft>
                <a:spcPts val="1200"/>
              </a:spcAft>
              <a:buSzPct val="100000"/>
              <a:buChar char="•"/>
            </a:pPr>
            <a:r>
              <a:rPr lang="en-US" sz="1600" dirty="0">
                <a:solidFill>
                  <a:schemeClr val="tx1"/>
                </a:solidFill>
              </a:rPr>
              <a:t>How environments, DLP and licensing are set up</a:t>
            </a:r>
            <a:endParaRPr lang="en-US" sz="1600" dirty="0"/>
          </a:p>
          <a:p>
            <a:pPr marL="342900" indent="-342900">
              <a:spcAft>
                <a:spcPts val="1200"/>
              </a:spcAft>
              <a:buSzPct val="100000"/>
              <a:buChar char="•"/>
            </a:pPr>
            <a:r>
              <a:rPr lang="en-US" sz="1600" dirty="0">
                <a:solidFill>
                  <a:schemeClr val="tx1"/>
                </a:solidFill>
              </a:rPr>
              <a:t>Who to ask when something is blocked</a:t>
            </a:r>
            <a:endParaRPr lang="en-US" sz="1600" dirty="0"/>
          </a:p>
        </p:txBody>
      </p:sp>
      <p:sp>
        <p:nvSpPr>
          <p:cNvPr id="8" name="a2_pillar1_card"/>
          <p:cNvSpPr/>
          <p:nvPr/>
        </p:nvSpPr>
        <p:spPr>
          <a:xfrm>
            <a:off x="6172200" y="1554480"/>
            <a:ext cx="5394960" cy="3566160"/>
          </a:xfrm>
          <a:prstGeom prst="roundRect">
            <a:avLst>
              <a:gd name="adj" fmla="val 3077"/>
            </a:avLst>
          </a:prstGeom>
          <a:solidFill>
            <a:schemeClr val="bg2"/>
          </a:solidFill>
          <a:ln w="12700">
            <a:solidFill>
              <a:schemeClr val="bg2"/>
            </a:solidFill>
            <a:prstDash val="solid"/>
          </a:ln>
          <a:effectLst>
            <a:outerShdw sx="100000" sy="100000" kx="0" ky="0" algn="bl" rotWithShape="0" blurRad="76200" dist="25400" dir="5400000">
              <a:srgbClr val="7F9DB9">
                <a:alpha val="25000"/>
              </a:srgbClr>
            </a:outerShdw>
          </a:effectLst>
        </p:spPr>
      </p:sp>
      <p:sp>
        <p:nvSpPr>
          <p:cNvPr id="9" name="a2_pillar1_circle"/>
          <p:cNvSpPr/>
          <p:nvPr/>
        </p:nvSpPr>
        <p:spPr>
          <a:xfrm>
            <a:off x="6492240" y="1874520"/>
            <a:ext cx="914400" cy="914400"/>
          </a:xfrm>
          <a:prstGeom prst="ellipse">
            <a:avLst/>
          </a:prstGeom>
          <a:solidFill>
            <a:schemeClr val="accent1"/>
          </a:solidFill>
          <a:ln w="12700">
            <a:solidFill>
              <a:schemeClr val="accent1"/>
            </a:solidFill>
            <a:prstDash val="solid"/>
          </a:ln>
        </p:spPr>
      </p:sp>
      <p:pic>
        <p:nvPicPr>
          <p:cNvPr id="10" name="a2_pillar1_icon" descr="preencoded.png">    </p:cNvPr>
          <p:cNvPicPr>
            <a:picLocks noChangeAspect="1"/>
          </p:cNvPicPr>
          <p:nvPr/>
        </p:nvPicPr>
        <p:blipFill>
          <a:blip r:embed="rId2"/>
          <a:stretch>
            <a:fillRect/>
          </a:stretch>
        </p:blipFill>
        <p:spPr>
          <a:xfrm>
            <a:off x="6711696" y="2093976"/>
            <a:ext cx="475488" cy="475488"/>
          </a:xfrm>
          <a:prstGeom prst="rect">
            <a:avLst/>
          </a:prstGeom>
        </p:spPr>
      </p:pic>
      <p:sp>
        <p:nvSpPr>
          <p:cNvPr id="11" name="a2_pillar1_head"/>
          <p:cNvSpPr txBox="1"/>
          <p:nvPr/>
        </p:nvSpPr>
        <p:spPr>
          <a:xfrm>
            <a:off x="7635240" y="1965960"/>
            <a:ext cx="3657600" cy="731520"/>
          </a:xfrm>
          <a:prstGeom prst="rect">
            <a:avLst/>
          </a:prstGeom>
          <a:noFill/>
          <a:ln/>
        </p:spPr>
        <p:txBody>
          <a:bodyPr wrap="square" lIns="0" tIns="0" rIns="0" bIns="0" rtlCol="0" anchor="ctr"/>
          <a:lstStyle/>
          <a:p>
            <a:pPr indent="0" marL="0">
              <a:buNone/>
            </a:pPr>
            <a:r>
              <a:rPr lang="en-US" sz="2200" b="1" dirty="0">
                <a:solidFill>
                  <a:schemeClr val="tx2"/>
                </a:solidFill>
              </a:rPr>
              <a:t>Willingness to help and collaborate</a:t>
            </a:r>
            <a:endParaRPr lang="en-US" sz="2200" dirty="0"/>
          </a:p>
        </p:txBody>
      </p:sp>
      <p:sp>
        <p:nvSpPr>
          <p:cNvPr id="12" name="a2_pillar1_list"/>
          <p:cNvSpPr txBox="1"/>
          <p:nvPr/>
        </p:nvSpPr>
        <p:spPr>
          <a:xfrm>
            <a:off x="6537960" y="3108960"/>
            <a:ext cx="4754880" cy="182880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chemeClr val="tx1"/>
                </a:solidFill>
              </a:rPr>
              <a:t>Quick answers on environment questions</a:t>
            </a:r>
            <a:endParaRPr lang="en-US" sz="1600" dirty="0"/>
          </a:p>
          <a:p>
            <a:pPr marL="342900" indent="-342900">
              <a:spcAft>
                <a:spcPts val="1200"/>
              </a:spcAft>
              <a:buSzPct val="100000"/>
              <a:buChar char="•"/>
            </a:pPr>
            <a:r>
              <a:rPr lang="en-US" sz="1600" dirty="0">
                <a:solidFill>
                  <a:schemeClr val="tx1"/>
                </a:solidFill>
              </a:rPr>
              <a:t>Joint testing in QA before production</a:t>
            </a:r>
            <a:endParaRPr lang="en-US" sz="1600" dirty="0"/>
          </a:p>
          <a:p>
            <a:pPr marL="342900" indent="-342900">
              <a:spcAft>
                <a:spcPts val="1200"/>
              </a:spcAft>
              <a:buSzPct val="100000"/>
              <a:buChar char="•"/>
            </a:pPr>
            <a:r>
              <a:rPr lang="en-US" sz="1600" dirty="0">
                <a:solidFill>
                  <a:schemeClr val="tx1"/>
                </a:solidFill>
              </a:rPr>
              <a:t>Shared ownership of the outcome</a:t>
            </a:r>
            <a:endParaRPr lang="en-US" sz="16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17</a:t>
            </a:fld>
            <a:endParaRPr lang="en-US"/>
          </a:p>
        </p:txBody>
      </p:sp>
    </p:spTree>
  </p:cSld>
  <p:clrMapOvr>
    <a:masterClrMapping/>
  </p:clrMapOvr>
  <p:timing>
    <p:tnLst>
      <p:par>
        <p:cTn id="1" dur="indefinite" restart="never" nodeType="tmRoot">
          <p:childTnLst>
            <p:seq concurrent="1" nextAc="seek">
              <p:cTn id="2" dur="indefinite" nodeType="mainSeq">
                <p:childTnLst>
                  <p:par>
                    <p:cTn id="18" fill="hold">
                      <p:stCondLst>
                        <p:cond delay="indefinite"/>
                      </p:stCondLst>
                      <p:childTnLst>
                        <p:par>
                          <p:cTn id="19"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400"/>
                                        <p:tgtEl>
                                          <p:spTgt spid="3"/>
                                        </p:tgtEl>
                                      </p:cBhvr>
                                    </p:animEffect>
                                  </p:childTnLst>
                                </p:cTn>
                              </p:par>
                              <p:par>
                                <p:cTn id="6" presetID="10" presetClass="entr" presetSubtype="0" fill="hold" nodeType="withEffect">
                                  <p:stCondLst>
                                    <p:cond delay="0"/>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400"/>
                                        <p:tgtEl>
                                          <p:spTgt spid="4"/>
                                        </p:tgtEl>
                                      </p:cBhvr>
                                    </p:animEffect>
                                  </p:childTnLst>
                                </p:cTn>
                              </p:par>
                              <p:par>
                                <p:cTn id="9" presetID="10" presetClass="entr" presetSubtype="0" fill="hold" nodeType="with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400"/>
                                        <p:tgtEl>
                                          <p:spTgt spid="5"/>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400"/>
                                        <p:tgtEl>
                                          <p:spTgt spid="6"/>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400"/>
                                        <p:tgtEl>
                                          <p:spTgt spid="7"/>
                                        </p:tgtEl>
                                      </p:cBhvr>
                                    </p:animEffect>
                                  </p:childTnLst>
                                </p:cTn>
                              </p:par>
                            </p:childTnLst>
                          </p:cTn>
                        </p:par>
                      </p:childTnLst>
                    </p:cTn>
                  </p:par>
                  <p:par>
                    <p:cTn id="35" fill="hold">
                      <p:stCondLst>
                        <p:cond delay="indefinite"/>
                      </p:stCondLst>
                      <p:childTnLst>
                        <p:par>
                          <p:cTn id="36"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400"/>
                                        <p:tgtEl>
                                          <p:spTgt spid="8"/>
                                        </p:tgtEl>
                                      </p:cBhvr>
                                    </p:animEffect>
                                  </p:childTnLst>
                                </p:cTn>
                              </p:par>
                              <p:par>
                                <p:cTn id="23" presetID="10" presetClass="entr" presetSubtype="0" fill="hold"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4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400"/>
                                        <p:tgtEl>
                                          <p:spTgt spid="1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400"/>
                                        <p:tgtEl>
                                          <p:spTgt spid="1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11" grpId="0"/>
      <p:bldP spid="12" grpId="0"/>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2"/>
                </a:solidFill>
              </a:rPr>
              <a:t>Our working model: 51 : 49</a:t>
            </a:r>
            <a:endParaRPr lang="en-US" sz="3000" dirty="0"/>
          </a:p>
        </p:txBody>
      </p:sp>
      <p:graphicFrame>
        <p:nvGraphicFramePr>
          <p:cNvPr id="3" name="model_chart" descr=""/>
          <p:cNvGraphicFramePr/>
          <p:nvPr/>
        </p:nvGraphicFramePr>
        <p:xfrm>
          <a:off x="548640" y="1280160"/>
          <a:ext cx="4572000" cy="4480560"/>
        </p:xfrm>
        <a:graphic xmlns:a="http://schemas.openxmlformats.org/drawingml/2006/main">
          <a:graphicData uri="http://schemas.openxmlformats.org/drawingml/2006/chart">
            <c:chart xmlns:c="http://schemas.openxmlformats.org/drawingml/2006/chart" r:id="rId1"/>
          </a:graphicData>
        </a:graphic>
      </p:graphicFrame>
      <p:sp>
        <p:nvSpPr>
          <p:cNvPr id="4" name="model_center"/>
          <p:cNvSpPr txBox="1"/>
          <p:nvPr/>
        </p:nvSpPr>
        <p:spPr>
          <a:xfrm>
            <a:off x="1783080" y="2743200"/>
            <a:ext cx="2103120" cy="1463040"/>
          </a:xfrm>
          <a:prstGeom prst="rect">
            <a:avLst/>
          </a:prstGeom>
          <a:noFill/>
          <a:ln/>
        </p:spPr>
        <p:txBody>
          <a:bodyPr wrap="square" lIns="0" tIns="0" rIns="0" bIns="0" rtlCol="0" anchor="ctr"/>
          <a:lstStyle/>
          <a:p>
            <a:pPr algn="ctr" indent="0" marL="0">
              <a:buNone/>
            </a:pPr>
            <a:r>
              <a:rPr lang="en-US" sz="4400" b="1" dirty="0">
                <a:solidFill>
                  <a:schemeClr val="accent1"/>
                </a:solidFill>
              </a:rPr>
              <a:t>51%</a:t>
            </a:r>
            <a:endParaRPr lang="en-US" sz="1400" dirty="0"/>
          </a:p>
          <a:p>
            <a:pPr algn="ctr" indent="0" marL="0">
              <a:buNone/>
            </a:pPr>
            <a:r>
              <a:rPr lang="en-US" sz="1300" dirty="0">
                <a:solidFill>
                  <a:schemeClr val="accent6"/>
                </a:solidFill>
              </a:rPr>
              <a:t>of the credit to the team we work with</a:t>
            </a:r>
            <a:endParaRPr lang="en-US" sz="1400" dirty="0"/>
          </a:p>
        </p:txBody>
      </p:sp>
      <p:sp>
        <p:nvSpPr>
          <p:cNvPr id="5" name="a1_model0_circle"/>
          <p:cNvSpPr/>
          <p:nvPr/>
        </p:nvSpPr>
        <p:spPr>
          <a:xfrm>
            <a:off x="5577840" y="1417320"/>
            <a:ext cx="685800" cy="685800"/>
          </a:xfrm>
          <a:prstGeom prst="ellipse">
            <a:avLst/>
          </a:prstGeom>
          <a:solidFill>
            <a:schemeClr val="accent1"/>
          </a:solidFill>
          <a:ln w="12700">
            <a:solidFill>
              <a:schemeClr val="accent1"/>
            </a:solidFill>
            <a:prstDash val="solid"/>
          </a:ln>
        </p:spPr>
      </p:sp>
      <p:pic>
        <p:nvPicPr>
          <p:cNvPr id="6" name="a1_model0_icon" descr="preencoded.png">    </p:cNvPr>
          <p:cNvPicPr>
            <a:picLocks noChangeAspect="1"/>
          </p:cNvPicPr>
          <p:nvPr/>
        </p:nvPicPr>
        <p:blipFill>
          <a:blip r:embed="rId2"/>
          <a:stretch>
            <a:fillRect/>
          </a:stretch>
        </p:blipFill>
        <p:spPr>
          <a:xfrm>
            <a:off x="5742432" y="1581912"/>
            <a:ext cx="356616" cy="356616"/>
          </a:xfrm>
          <a:prstGeom prst="rect">
            <a:avLst/>
          </a:prstGeom>
        </p:spPr>
      </p:pic>
      <p:sp>
        <p:nvSpPr>
          <p:cNvPr id="7" name="a1_model0_head"/>
          <p:cNvSpPr txBox="1"/>
          <p:nvPr/>
        </p:nvSpPr>
        <p:spPr>
          <a:xfrm>
            <a:off x="6446520" y="1325880"/>
            <a:ext cx="5212080" cy="411480"/>
          </a:xfrm>
          <a:prstGeom prst="rect">
            <a:avLst/>
          </a:prstGeom>
          <a:noFill/>
          <a:ln/>
        </p:spPr>
        <p:txBody>
          <a:bodyPr wrap="square" lIns="0" tIns="0" rIns="0" bIns="0" rtlCol="0" anchor="t"/>
          <a:lstStyle/>
          <a:p>
            <a:pPr indent="0" marL="0">
              <a:buNone/>
            </a:pPr>
            <a:r>
              <a:rPr lang="en-US" sz="1800" b="1" dirty="0">
                <a:solidFill>
                  <a:schemeClr val="tx2"/>
                </a:solidFill>
              </a:rPr>
              <a:t>We respect your knowledge</a:t>
            </a:r>
            <a:endParaRPr lang="en-US" sz="1800" dirty="0"/>
          </a:p>
        </p:txBody>
      </p:sp>
      <p:sp>
        <p:nvSpPr>
          <p:cNvPr id="8" name="a1_model0_text"/>
          <p:cNvSpPr txBox="1"/>
          <p:nvPr/>
        </p:nvSpPr>
        <p:spPr>
          <a:xfrm>
            <a:off x="6446520" y="1737360"/>
            <a:ext cx="5212080" cy="457200"/>
          </a:xfrm>
          <a:prstGeom prst="rect">
            <a:avLst/>
          </a:prstGeom>
          <a:noFill/>
          <a:ln/>
        </p:spPr>
        <p:txBody>
          <a:bodyPr wrap="square" lIns="0" tIns="0" rIns="0" bIns="0" rtlCol="0" anchor="t"/>
          <a:lstStyle/>
          <a:p>
            <a:pPr indent="0" marL="0">
              <a:buNone/>
            </a:pPr>
            <a:r>
              <a:rPr lang="en-US" sz="1400" dirty="0">
                <a:solidFill>
                  <a:schemeClr val="tx1"/>
                </a:solidFill>
              </a:rPr>
              <a:t>You know the platform best; we build on it, not around it.</a:t>
            </a:r>
            <a:endParaRPr lang="en-US" sz="1400" dirty="0"/>
          </a:p>
        </p:txBody>
      </p:sp>
      <p:sp>
        <p:nvSpPr>
          <p:cNvPr id="9" name="a2_model1_circle"/>
          <p:cNvSpPr/>
          <p:nvPr/>
        </p:nvSpPr>
        <p:spPr>
          <a:xfrm>
            <a:off x="5577840" y="2496312"/>
            <a:ext cx="685800" cy="685800"/>
          </a:xfrm>
          <a:prstGeom prst="ellipse">
            <a:avLst/>
          </a:prstGeom>
          <a:solidFill>
            <a:schemeClr val="accent1"/>
          </a:solidFill>
          <a:ln w="12700">
            <a:solidFill>
              <a:schemeClr val="accent1"/>
            </a:solidFill>
            <a:prstDash val="solid"/>
          </a:ln>
        </p:spPr>
      </p:sp>
      <p:pic>
        <p:nvPicPr>
          <p:cNvPr id="10" name="a2_model1_icon" descr="preencoded.png">    </p:cNvPr>
          <p:cNvPicPr>
            <a:picLocks noChangeAspect="1"/>
          </p:cNvPicPr>
          <p:nvPr/>
        </p:nvPicPr>
        <p:blipFill>
          <a:blip r:embed="rId3"/>
          <a:stretch>
            <a:fillRect/>
          </a:stretch>
        </p:blipFill>
        <p:spPr>
          <a:xfrm>
            <a:off x="5742432" y="2660904"/>
            <a:ext cx="356616" cy="356616"/>
          </a:xfrm>
          <a:prstGeom prst="rect">
            <a:avLst/>
          </a:prstGeom>
        </p:spPr>
      </p:pic>
      <p:sp>
        <p:nvSpPr>
          <p:cNvPr id="11" name="a2_model1_head"/>
          <p:cNvSpPr txBox="1"/>
          <p:nvPr/>
        </p:nvSpPr>
        <p:spPr>
          <a:xfrm>
            <a:off x="6446520" y="2404872"/>
            <a:ext cx="5212080" cy="411480"/>
          </a:xfrm>
          <a:prstGeom prst="rect">
            <a:avLst/>
          </a:prstGeom>
          <a:noFill/>
          <a:ln/>
        </p:spPr>
        <p:txBody>
          <a:bodyPr wrap="square" lIns="0" tIns="0" rIns="0" bIns="0" rtlCol="0" anchor="t"/>
          <a:lstStyle/>
          <a:p>
            <a:pPr indent="0" marL="0">
              <a:buNone/>
            </a:pPr>
            <a:r>
              <a:rPr lang="en-US" sz="1800" b="1" dirty="0">
                <a:solidFill>
                  <a:schemeClr val="tx2"/>
                </a:solidFill>
              </a:rPr>
              <a:t>We work the way your team works</a:t>
            </a:r>
            <a:endParaRPr lang="en-US" sz="1800" dirty="0"/>
          </a:p>
        </p:txBody>
      </p:sp>
      <p:sp>
        <p:nvSpPr>
          <p:cNvPr id="12" name="a2_model1_text"/>
          <p:cNvSpPr txBox="1"/>
          <p:nvPr/>
        </p:nvSpPr>
        <p:spPr>
          <a:xfrm>
            <a:off x="6446520" y="2816352"/>
            <a:ext cx="5212080" cy="457200"/>
          </a:xfrm>
          <a:prstGeom prst="rect">
            <a:avLst/>
          </a:prstGeom>
          <a:noFill/>
          <a:ln/>
        </p:spPr>
        <p:txBody>
          <a:bodyPr wrap="square" lIns="0" tIns="0" rIns="0" bIns="0" rtlCol="0" anchor="t"/>
          <a:lstStyle/>
          <a:p>
            <a:pPr indent="0" marL="0">
              <a:buNone/>
            </a:pPr>
            <a:r>
              <a:rPr lang="en-US" sz="1400" dirty="0">
                <a:solidFill>
                  <a:schemeClr val="tx1"/>
                </a:solidFill>
              </a:rPr>
              <a:t>Your processes, tools and change rules come first.</a:t>
            </a:r>
            <a:endParaRPr lang="en-US" sz="1400" dirty="0"/>
          </a:p>
        </p:txBody>
      </p:sp>
      <p:sp>
        <p:nvSpPr>
          <p:cNvPr id="13" name="a3_model2_circle"/>
          <p:cNvSpPr/>
          <p:nvPr/>
        </p:nvSpPr>
        <p:spPr>
          <a:xfrm>
            <a:off x="5577840" y="3575304"/>
            <a:ext cx="685800" cy="685800"/>
          </a:xfrm>
          <a:prstGeom prst="ellipse">
            <a:avLst/>
          </a:prstGeom>
          <a:solidFill>
            <a:schemeClr val="accent1"/>
          </a:solidFill>
          <a:ln w="12700">
            <a:solidFill>
              <a:schemeClr val="accent1"/>
            </a:solidFill>
            <a:prstDash val="solid"/>
          </a:ln>
        </p:spPr>
      </p:sp>
      <p:pic>
        <p:nvPicPr>
          <p:cNvPr id="14" name="a3_model2_icon" descr="preencoded.png">    </p:cNvPr>
          <p:cNvPicPr>
            <a:picLocks noChangeAspect="1"/>
          </p:cNvPicPr>
          <p:nvPr/>
        </p:nvPicPr>
        <p:blipFill>
          <a:blip r:embed="rId4"/>
          <a:stretch>
            <a:fillRect/>
          </a:stretch>
        </p:blipFill>
        <p:spPr>
          <a:xfrm>
            <a:off x="5742432" y="3739896"/>
            <a:ext cx="356616" cy="356616"/>
          </a:xfrm>
          <a:prstGeom prst="rect">
            <a:avLst/>
          </a:prstGeom>
        </p:spPr>
      </p:pic>
      <p:sp>
        <p:nvSpPr>
          <p:cNvPr id="15" name="a3_model2_head"/>
          <p:cNvSpPr txBox="1"/>
          <p:nvPr/>
        </p:nvSpPr>
        <p:spPr>
          <a:xfrm>
            <a:off x="6446520" y="3483864"/>
            <a:ext cx="5212080" cy="411480"/>
          </a:xfrm>
          <a:prstGeom prst="rect">
            <a:avLst/>
          </a:prstGeom>
          <a:noFill/>
          <a:ln/>
        </p:spPr>
        <p:txBody>
          <a:bodyPr wrap="square" lIns="0" tIns="0" rIns="0" bIns="0" rtlCol="0" anchor="t"/>
          <a:lstStyle/>
          <a:p>
            <a:pPr indent="0" marL="0">
              <a:buNone/>
            </a:pPr>
            <a:r>
              <a:rPr lang="en-US" sz="1800" b="1" dirty="0">
                <a:solidFill>
                  <a:schemeClr val="tx2"/>
                </a:solidFill>
              </a:rPr>
              <a:t>You unblock environment issues quickly</a:t>
            </a:r>
            <a:endParaRPr lang="en-US" sz="1800" dirty="0"/>
          </a:p>
        </p:txBody>
      </p:sp>
      <p:sp>
        <p:nvSpPr>
          <p:cNvPr id="16" name="a3_model2_text"/>
          <p:cNvSpPr txBox="1"/>
          <p:nvPr/>
        </p:nvSpPr>
        <p:spPr>
          <a:xfrm>
            <a:off x="6446520" y="3895344"/>
            <a:ext cx="5212080" cy="457200"/>
          </a:xfrm>
          <a:prstGeom prst="rect">
            <a:avLst/>
          </a:prstGeom>
          <a:noFill/>
          <a:ln/>
        </p:spPr>
        <p:txBody>
          <a:bodyPr wrap="square" lIns="0" tIns="0" rIns="0" bIns="0" rtlCol="0" anchor="t"/>
          <a:lstStyle/>
          <a:p>
            <a:pPr indent="0" marL="0">
              <a:buNone/>
            </a:pPr>
            <a:r>
              <a:rPr lang="en-US" sz="1400" dirty="0">
                <a:solidFill>
                  <a:schemeClr val="tx1"/>
                </a:solidFill>
              </a:rPr>
              <a:t>Fast help when we hit a licence, DLP or access blocker.</a:t>
            </a:r>
            <a:endParaRPr lang="en-US" sz="1400" dirty="0"/>
          </a:p>
        </p:txBody>
      </p:sp>
      <p:sp>
        <p:nvSpPr>
          <p:cNvPr id="17" name="a4_model3_circle"/>
          <p:cNvSpPr/>
          <p:nvPr/>
        </p:nvSpPr>
        <p:spPr>
          <a:xfrm>
            <a:off x="5577840" y="4654296"/>
            <a:ext cx="685800" cy="685800"/>
          </a:xfrm>
          <a:prstGeom prst="ellipse">
            <a:avLst/>
          </a:prstGeom>
          <a:solidFill>
            <a:schemeClr val="accent4"/>
          </a:solidFill>
          <a:ln w="12700">
            <a:solidFill>
              <a:schemeClr val="accent4"/>
            </a:solidFill>
            <a:prstDash val="solid"/>
          </a:ln>
        </p:spPr>
      </p:sp>
      <p:pic>
        <p:nvPicPr>
          <p:cNvPr id="18" name="a4_model3_icon" descr="preencoded.png">    </p:cNvPr>
          <p:cNvPicPr>
            <a:picLocks noChangeAspect="1"/>
          </p:cNvPicPr>
          <p:nvPr/>
        </p:nvPicPr>
        <p:blipFill>
          <a:blip r:embed="rId5"/>
          <a:stretch>
            <a:fillRect/>
          </a:stretch>
        </p:blipFill>
        <p:spPr>
          <a:xfrm>
            <a:off x="5742432" y="4818888"/>
            <a:ext cx="356616" cy="356616"/>
          </a:xfrm>
          <a:prstGeom prst="rect">
            <a:avLst/>
          </a:prstGeom>
        </p:spPr>
      </p:pic>
      <p:sp>
        <p:nvSpPr>
          <p:cNvPr id="19" name="a4_model3_head"/>
          <p:cNvSpPr txBox="1"/>
          <p:nvPr/>
        </p:nvSpPr>
        <p:spPr>
          <a:xfrm>
            <a:off x="6446520" y="4562856"/>
            <a:ext cx="5212080" cy="411480"/>
          </a:xfrm>
          <a:prstGeom prst="rect">
            <a:avLst/>
          </a:prstGeom>
          <a:noFill/>
          <a:ln/>
        </p:spPr>
        <p:txBody>
          <a:bodyPr wrap="square" lIns="0" tIns="0" rIns="0" bIns="0" rtlCol="0" anchor="t"/>
          <a:lstStyle/>
          <a:p>
            <a:pPr indent="0" marL="0">
              <a:buNone/>
            </a:pPr>
            <a:r>
              <a:rPr lang="en-US" sz="1800" b="1" dirty="0">
                <a:solidFill>
                  <a:schemeClr val="tx2"/>
                </a:solidFill>
              </a:rPr>
              <a:t>You get 51% of the credit</a:t>
            </a:r>
            <a:endParaRPr lang="en-US" sz="1800" dirty="0"/>
          </a:p>
        </p:txBody>
      </p:sp>
      <p:sp>
        <p:nvSpPr>
          <p:cNvPr id="20" name="a4_model3_text"/>
          <p:cNvSpPr txBox="1"/>
          <p:nvPr/>
        </p:nvSpPr>
        <p:spPr>
          <a:xfrm>
            <a:off x="6446520" y="4974336"/>
            <a:ext cx="5212080" cy="457200"/>
          </a:xfrm>
          <a:prstGeom prst="rect">
            <a:avLst/>
          </a:prstGeom>
          <a:noFill/>
          <a:ln/>
        </p:spPr>
        <p:txBody>
          <a:bodyPr wrap="square" lIns="0" tIns="0" rIns="0" bIns="0" rtlCol="0" anchor="t"/>
          <a:lstStyle/>
          <a:p>
            <a:pPr indent="0" marL="0">
              <a:buNone/>
            </a:pPr>
            <a:r>
              <a:rPr lang="en-US" sz="1400" dirty="0">
                <a:solidFill>
                  <a:schemeClr val="tx1"/>
                </a:solidFill>
              </a:rPr>
              <a:t>The delivery is presented as your team's success.</a:t>
            </a:r>
            <a:endParaRPr lang="en-US" sz="14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18</a:t>
            </a:fld>
            <a:endParaRPr lang="en-US"/>
          </a:p>
        </p:txBody>
      </p:sp>
    </p:spTree>
  </p:cSld>
  <p:clrMapOvr>
    <a:masterClrMapping/>
  </p:clrMapOvr>
  <p:timing>
    <p:tnLst>
      <p:par>
        <p:cTn id="1" dur="indefinite" restart="never" nodeType="tmRoot">
          <p:childTnLst>
            <p:seq concurrent="1" nextAc="seek">
              <p:cTn id="2" dur="indefinite" nodeType="mainSeq">
                <p:childTnLst>
                  <p:par>
                    <p:cTn id="15" fill="hold">
                      <p:stCondLst>
                        <p:cond delay="indefinite"/>
                      </p:stCondLst>
                      <p:childTnLst>
                        <p:par>
                          <p:cTn id="16"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400"/>
                                        <p:tgtEl>
                                          <p:spTgt spid="5"/>
                                        </p:tgtEl>
                                      </p:cBhvr>
                                    </p:animEffect>
                                  </p:childTnLst>
                                </p:cTn>
                              </p:par>
                              <p:par>
                                <p:cTn id="6" presetID="10" presetClass="entr" presetSubtype="0" fill="hold" nodeType="withEffect">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400"/>
                                        <p:tgtEl>
                                          <p:spTgt spid="6"/>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400"/>
                                        <p:tgtEl>
                                          <p:spTgt spid="7"/>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400"/>
                                        <p:tgtEl>
                                          <p:spTgt spid="8"/>
                                        </p:tgtEl>
                                      </p:cBhvr>
                                    </p:animEffect>
                                  </p:childTnLst>
                                </p:cTn>
                              </p:par>
                            </p:childTnLst>
                          </p:cTn>
                        </p:par>
                      </p:childTnLst>
                    </p:cTn>
                  </p:par>
                  <p:par>
                    <p:cTn id="29" fill="hold">
                      <p:stCondLst>
                        <p:cond delay="indefinite"/>
                      </p:stCondLst>
                      <p:childTnLst>
                        <p:par>
                          <p:cTn id="30"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par>
                                <p:cTn id="20" presetID="10" presetClass="entr" presetSubtype="0" fill="hold"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400"/>
                                        <p:tgtEl>
                                          <p:spTgt spid="1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400"/>
                                        <p:tgtEl>
                                          <p:spTgt spid="1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400"/>
                                        <p:tgtEl>
                                          <p:spTgt spid="12"/>
                                        </p:tgtEl>
                                      </p:cBhvr>
                                    </p:animEffect>
                                  </p:childTnLst>
                                </p:cTn>
                              </p:par>
                            </p:childTnLst>
                          </p:cTn>
                        </p:par>
                      </p:childTnLst>
                    </p:cTn>
                  </p:par>
                  <p:par>
                    <p:cTn id="43" fill="hold">
                      <p:stCondLst>
                        <p:cond delay="indefinite"/>
                      </p:stCondLst>
                      <p:childTnLst>
                        <p:par>
                          <p:cTn id="44"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400"/>
                                        <p:tgtEl>
                                          <p:spTgt spid="15"/>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400"/>
                                        <p:tgtEl>
                                          <p:spTgt spid="16"/>
                                        </p:tgtEl>
                                      </p:cBhvr>
                                    </p:animEffect>
                                  </p:childTnLst>
                                </p:cTn>
                              </p:par>
                            </p:childTnLst>
                          </p:cTn>
                        </p:par>
                      </p:childTnLst>
                    </p:cTn>
                  </p:par>
                  <p:par>
                    <p:cTn id="57" fill="hold">
                      <p:stCondLst>
                        <p:cond delay="indefinite"/>
                      </p:stCondLst>
                      <p:childTnLst>
                        <p:par>
                          <p:cTn id="58"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0"/>
                                        </p:tgtEl>
                                        <p:attrNameLst>
                                          <p:attrName>style.visibility</p:attrName>
                                        </p:attrNameLst>
                                      </p:cBhvr>
                                      <p:to>
                                        <p:strVal val="visible"/>
                                      </p:to>
                                    </p:set>
                                    <p:animEffect transition="in" filter="fade">
                                      <p:cBhvr>
                                        <p:cTn id="56"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1" grpId="0"/>
      <p:bldP spid="12" grpId="0"/>
      <p:bldP spid="15" grpId="0"/>
      <p:bldP spid="16" grpId="0"/>
      <p:bldP spid="19" grpId="0"/>
      <p:bldP spid="20" grpId="0"/>
    </p:bldLst>
  </p:timing>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2377440"/>
            <a:ext cx="11094415" cy="1188720"/>
          </a:xfrm>
          <a:prstGeom prst="rect">
            <a:avLst/>
          </a:prstGeom>
          <a:noFill/>
          <a:ln/>
        </p:spPr>
        <p:txBody>
          <a:bodyPr wrap="square" lIns="0" tIns="0" rIns="0" bIns="0" rtlCol="0" anchor="ctr"/>
          <a:lstStyle/>
          <a:p>
            <a:pPr algn="ctr" indent="0" marL="0">
              <a:buNone/>
            </a:pPr>
            <a:r>
              <a:rPr lang="en-US" sz="4800" b="1" dirty="0">
                <a:solidFill>
                  <a:schemeClr val="tx2"/>
                </a:solidFill>
              </a:rPr>
              <a:t>Questions</a:t>
            </a:r>
            <a:endParaRPr lang="en-US" sz="4800" dirty="0"/>
          </a:p>
        </p:txBody>
      </p:sp>
      <p:sp>
        <p:nvSpPr>
          <p:cNvPr id="3" name="Text 0"/>
          <p:cNvSpPr/>
          <p:nvPr>
            <p:ph idx="101" type="body" hasCustomPrompt="1"/>
          </p:nvPr>
        </p:nvSpPr>
        <p:spPr>
          <a:xfrm>
            <a:off x="548640" y="3611880"/>
            <a:ext cx="11094415" cy="731520"/>
          </a:xfrm>
          <a:prstGeom prst="rect">
            <a:avLst/>
          </a:prstGeom>
          <a:noFill/>
          <a:ln/>
        </p:spPr>
        <p:txBody>
          <a:bodyPr wrap="square" lIns="0" tIns="0" rIns="0" bIns="0" rtlCol="0" anchor="t"/>
          <a:lstStyle/>
          <a:p>
            <a:pPr algn="ctr" indent="0" marL="0">
              <a:buNone/>
            </a:pPr>
            <a:r>
              <a:rPr lang="en-US" sz="1800" dirty="0">
                <a:solidFill>
                  <a:schemeClr val="accent6"/>
                </a:solidFill>
              </a:rPr>
              <a:t>Thank you</a:t>
            </a:r>
            <a:endParaRPr lang="en-US" sz="1800" dirty="0"/>
          </a:p>
        </p:txBody>
      </p:sp>
      <p:sp>
        <p:nvSpPr>
          <p:cNvPr id="4" name="q_circle"/>
          <p:cNvSpPr/>
          <p:nvPr/>
        </p:nvSpPr>
        <p:spPr>
          <a:xfrm>
            <a:off x="5547208" y="1097280"/>
            <a:ext cx="1097280" cy="1097280"/>
          </a:xfrm>
          <a:prstGeom prst="ellipse">
            <a:avLst/>
          </a:prstGeom>
          <a:solidFill>
            <a:schemeClr val="accent1"/>
          </a:solidFill>
          <a:ln w="12700">
            <a:solidFill>
              <a:schemeClr val="accent1"/>
            </a:solidFill>
            <a:prstDash val="solid"/>
          </a:ln>
        </p:spPr>
      </p:sp>
      <p:pic>
        <p:nvPicPr>
          <p:cNvPr id="5" name="q_icon" descr="preencoded.png">    </p:cNvPr>
          <p:cNvPicPr>
            <a:picLocks noChangeAspect="1"/>
          </p:cNvPicPr>
          <p:nvPr/>
        </p:nvPicPr>
        <p:blipFill>
          <a:blip r:embed="rId1"/>
          <a:stretch>
            <a:fillRect/>
          </a:stretch>
        </p:blipFill>
        <p:spPr>
          <a:xfrm>
            <a:off x="5810555" y="1360627"/>
            <a:ext cx="570586" cy="570586"/>
          </a:xfrm>
          <a:prstGeom prst="rect">
            <a:avLst/>
          </a:prstGeom>
        </p:spPr>
      </p:pic>
      <p:sp>
        <p:nvSpPr>
          <p:cNvPr id="6" name="Text 3"/>
          <p:cNvSpPr txBox="1"/>
          <p:nvPr/>
        </p:nvSpPr>
        <p:spPr>
          <a:xfrm>
            <a:off x="548640" y="5669280"/>
            <a:ext cx="11094415" cy="365760"/>
          </a:xfrm>
          <a:prstGeom prst="rect">
            <a:avLst/>
          </a:prstGeom>
          <a:noFill/>
          <a:ln/>
        </p:spPr>
        <p:txBody>
          <a:bodyPr wrap="square" lIns="0" tIns="0" rIns="0" bIns="0" rtlCol="0" anchor="t"/>
          <a:lstStyle/>
          <a:p>
            <a:pPr algn="ctr" indent="0" marL="0">
              <a:buNone/>
            </a:pPr>
            <a:r>
              <a:rPr lang="en-US" sz="1200" dirty="0">
                <a:solidFill>
                  <a:schemeClr val="accent6"/>
                </a:solidFill>
              </a:rPr>
              <a:t>Docs, diagrams and the importable solution: entra-powerplatform repository (docs/00-OVERVIEW.md)</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2"/>
                </a:solidFill>
              </a:rPr>
              <a:t>Appendix: submit and approve (ER-01)</a:t>
            </a:r>
            <a:endParaRPr lang="en-US" sz="3000" dirty="0"/>
          </a:p>
        </p:txBody>
      </p:sp>
      <p:pic>
        <p:nvPicPr>
          <p:cNvPr id="3" name="sequence-approvals_diagram" descr="submit and approve (ER-01)">    </p:cNvPr>
          <p:cNvPicPr>
            <a:picLocks noChangeAspect="1"/>
          </p:cNvPicPr>
          <p:nvPr/>
        </p:nvPicPr>
        <p:blipFill>
          <a:blip r:embed="rId1"/>
          <a:stretch>
            <a:fillRect/>
          </a:stretch>
        </p:blipFill>
        <p:spPr>
          <a:xfrm>
            <a:off x="2626791" y="1188720"/>
            <a:ext cx="6938113" cy="5074920"/>
          </a:xfrm>
          <a:prstGeom prst="rect">
            <a:avLst/>
          </a:prstGeom>
        </p:spPr>
      </p:pic>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2"/>
                </a:solidFill>
              </a:rPr>
              <a:t>Appendix: creating an app registration (ER-02)</a:t>
            </a:r>
            <a:endParaRPr lang="en-US" sz="3000" dirty="0"/>
          </a:p>
        </p:txBody>
      </p:sp>
      <p:pic>
        <p:nvPicPr>
          <p:cNvPr id="3" name="sequence-create-app_diagram" descr="creating an app registration (ER-02)">    </p:cNvPr>
          <p:cNvPicPr>
            <a:picLocks noChangeAspect="1"/>
          </p:cNvPicPr>
          <p:nvPr/>
        </p:nvPicPr>
        <p:blipFill>
          <a:blip r:embed="rId1"/>
          <a:stretch>
            <a:fillRect/>
          </a:stretch>
        </p:blipFill>
        <p:spPr>
          <a:xfrm>
            <a:off x="2759537" y="1188720"/>
            <a:ext cx="6672622" cy="5074920"/>
          </a:xfrm>
          <a:prstGeom prst="rect">
            <a:avLst/>
          </a:prstGeom>
        </p:spPr>
      </p:pic>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2"/>
                </a:solidFill>
              </a:rPr>
              <a:t>Appendix: ER-02 Execute flowchart</a:t>
            </a:r>
            <a:endParaRPr lang="en-US" sz="3000" dirty="0"/>
          </a:p>
        </p:txBody>
      </p:sp>
      <p:pic>
        <p:nvPicPr>
          <p:cNvPr id="3" name="flow-er02_diagram" descr="ER-02 Execute flowchart">    </p:cNvPr>
          <p:cNvPicPr>
            <a:picLocks noChangeAspect="1"/>
          </p:cNvPicPr>
          <p:nvPr/>
        </p:nvPicPr>
        <p:blipFill>
          <a:blip r:embed="rId1"/>
          <a:stretch>
            <a:fillRect/>
          </a:stretch>
        </p:blipFill>
        <p:spPr>
          <a:xfrm>
            <a:off x="3067713" y="1188720"/>
            <a:ext cx="6056270" cy="5074920"/>
          </a:xfrm>
          <a:prstGeom prst="rect">
            <a:avLst/>
          </a:prstGeom>
        </p:spPr>
      </p:pic>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2"/>
                </a:solidFill>
              </a:rPr>
              <a:t>Appendix: request lifecycle</a:t>
            </a:r>
            <a:endParaRPr lang="en-US" sz="3000" dirty="0"/>
          </a:p>
        </p:txBody>
      </p:sp>
      <p:pic>
        <p:nvPicPr>
          <p:cNvPr id="3" name="lifecycle_diagram" descr="request lifecycle">    </p:cNvPr>
          <p:cNvPicPr>
            <a:picLocks noChangeAspect="1"/>
          </p:cNvPicPr>
          <p:nvPr/>
        </p:nvPicPr>
        <p:blipFill>
          <a:blip r:embed="rId1"/>
          <a:stretch>
            <a:fillRect/>
          </a:stretch>
        </p:blipFill>
        <p:spPr>
          <a:xfrm>
            <a:off x="1217320" y="1188720"/>
            <a:ext cx="9757055" cy="5074920"/>
          </a:xfrm>
          <a:prstGeom prst="rect">
            <a:avLst/>
          </a:prstGeom>
        </p:spPr>
      </p:pic>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2"/>
                </a:solidFill>
              </a:rPr>
              <a:t>Appendix: security and permissions</a:t>
            </a:r>
            <a:endParaRPr lang="en-US" sz="3000" dirty="0"/>
          </a:p>
        </p:txBody>
      </p:sp>
      <p:pic>
        <p:nvPicPr>
          <p:cNvPr id="3" name="security_diagram" descr="security and permissions">    </p:cNvPr>
          <p:cNvPicPr>
            <a:picLocks noChangeAspect="1"/>
          </p:cNvPicPr>
          <p:nvPr/>
        </p:nvPicPr>
        <p:blipFill>
          <a:blip r:embed="rId1"/>
          <a:stretch>
            <a:fillRect/>
          </a:stretch>
        </p:blipFill>
        <p:spPr>
          <a:xfrm>
            <a:off x="1315467" y="1188720"/>
            <a:ext cx="9560760" cy="5074920"/>
          </a:xfrm>
          <a:prstGeom prst="rect">
            <a:avLst/>
          </a:prstGeom>
        </p:spPr>
      </p:pic>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24</a:t>
            </a:fld>
            <a:endParaRPr lang="en-US"/>
          </a:p>
        </p:txBody>
      </p:sp>
    </p:spTree>
  </p:cSld>
  <p:clrMapOvr>
    <a:masterClrMapping/>
  </p:clrMapOvr>
</p:sld>
</file>

<file path=ppt/theme/theme1.xml><?xml version="1.0" encoding="utf-8"?>
<a:theme xmlns:a="http://schemas.openxmlformats.org/drawingml/2006/main" name="Entra Self-Service Blue">
  <a:themeElements>
    <a:clrScheme name="Entra Self-Service Blue">
      <a:dk1>
        <a:srgbClr val="1F2933"/>
      </a:dk1>
      <a:lt1>
        <a:srgbClr val="FFFFFF"/>
      </a:lt1>
      <a:dk2>
        <a:srgbClr val="003A70"/>
      </a:dk2>
      <a:lt2>
        <a:srgbClr val="E8F3FB"/>
      </a:lt2>
      <a:accent1>
        <a:srgbClr val="0079C1"/>
      </a:accent1>
      <a:accent2>
        <a:srgbClr val="5FA8DC"/>
      </a:accent2>
      <a:accent3>
        <a:srgbClr val="D7282F"/>
      </a:accent3>
      <a:accent4>
        <a:srgbClr val="2E8540"/>
      </a:accent4>
      <a:accent5>
        <a:srgbClr val="C98300"/>
      </a:accent5>
      <a:accent6>
        <a:srgbClr val="5B6770"/>
      </a:accent6>
      <a:hlink>
        <a:srgbClr val="0079C1"/>
      </a:hlink>
      <a:folHlink>
        <a:srgbClr val="003A70"/>
      </a:folHlink>
    </a:clrScheme>
    <a:fontScheme name="Entra Self-Service Blu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Entra ID app registrations in minutes</dc:title>
  <dc:subject>Self-service Entra ID app registrations on Power Apps, Power Automate and SharePoint</dc:subject>
  <dc:creator>PptxGenJS</dc:creator>
  <cp:lastModifiedBy>PptxGenJS</cp:lastModifiedBy>
  <cp:revision>1</cp:revision>
  <dcterms:created xsi:type="dcterms:W3CDTF">2026-10-16T15:31:51Z</dcterms:created>
  <dcterms:modified xsi:type="dcterms:W3CDTF">2026-10-16T15:31:51Z</dcterms:modified>
</cp:coreProperties>
</file>